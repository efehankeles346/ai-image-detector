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5c4acc358d4157" /><Relationship Type="http://schemas.openxmlformats.org/officeDocument/2006/relationships/extended-properties" Target="/docProps/app.xml" Id="Re5d6a0f3606946dc" /><Relationship Type="http://schemas.openxmlformats.org/officeDocument/2006/relationships/officeDocument" Target="/ppt/presentation.xml" Id="Rc397ddac5ee74ff2" /></Relationships>
</file>

<file path=ppt/presentation.xml><?xml version="1.0" encoding="utf-8"?>
<p:presentation xmlns:p="http://schemas.openxmlformats.org/presentationml/2006/main">
  <p:sldMasterIdLst>
    <p:sldMasterId xmlns:r="http://schemas.openxmlformats.org/officeDocument/2006/relationships" id="2147483648" r:id="Rd9a378349f624efe"/>
  </p:sldMasterIdLst>
  <p:notesMasterIdLst>
    <p:notesMasterId xmlns:r="http://schemas.openxmlformats.org/officeDocument/2006/relationships" r:id="R9a46026be8854819"/>
  </p:notesMasterIdLst>
  <p:sldIdLst>
    <p:sldId xmlns:r="http://schemas.openxmlformats.org/officeDocument/2006/relationships" id="256" r:id="Rb47bc494d51e42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ed44cb40ae49a8" /><Relationship Type="http://schemas.openxmlformats.org/officeDocument/2006/relationships/slideMaster" Target="/ppt/slideMasters/slideMaster1.xml" Id="Rd9a378349f624efe" /><Relationship Type="http://schemas.openxmlformats.org/officeDocument/2006/relationships/notesMaster" Target="/ppt/notesMasters/notesMaster1.xml" Id="R9a46026be8854819" /><Relationship Type="http://schemas.openxmlformats.org/officeDocument/2006/relationships/presProps" Target="/ppt/presProps.xml" Id="R9b67dee7501843a1" /><Relationship Type="http://schemas.openxmlformats.org/officeDocument/2006/relationships/tableStyles" Target="/ppt/tableStyles.xml" Id="R000d2479e6704ec8" /><Relationship Type="http://schemas.openxmlformats.org/officeDocument/2006/relationships/slide" Target="/ppt/slides/slide1.xml" Id="Rb47bc494d51e42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59eeb440014e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2bf31cffa44c14" /><Relationship Type="http://schemas.openxmlformats.org/officeDocument/2006/relationships/notesMaster" Target="/ppt/notesMasters/notesMaster1.xml" Id="R2e7787bbc24143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Submission date: 29 September 2026. Supervisor: Önder Çelebi, Director of the Planning and Development Directorate. E92 used 12,269 training parents, four views each (49,076 views). The separate but reused development set contains 160 real and 160 AI parents. Processed condition means long-side cap 1080 then JPEG75. Twenty numerical development checks passed, but E92 newly missed one original AI image detected by E43. No independent final-test success or production deployment is claimed. Model2 remains experimental. Sources: Keleş (2026), https://github.com/EfeHanKeles346/ai-image-detector/tree/497d45c, E92 evidence and E135 localization result. Student-confirmed internship information. Full sources in report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c6b1c9b1af646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555e6129f148d1" /><Relationship Type="http://schemas.openxmlformats.org/officeDocument/2006/relationships/slideLayout" Target="/ppt/slideLayouts/slideLayout1.xml" Id="R36faeff15c994b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faeff15c994b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3ae1dda4c1346f2" /><Relationship Type="http://schemas.openxmlformats.org/officeDocument/2006/relationships/notesSlide" Target="/ppt/notesSlides/notesSlide1.xml" Id="R8fb9829daff544e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DA77BB-3D21-4000-8E63-763EDDBFD404}"/>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 PixelProof AI image detection</a:t>
            </a:r>
          </a:p>
        </p:txBody>
      </p:sp>
      <p:sp>
        <p:nvSpPr>
          <p:cNvPr id="2" name="">
            <a:extLst xmlns:a="http://schemas.openxmlformats.org/drawingml/2006/main">
              <a:ext uri="{FF2B5EF4-FFF2-40B4-BE49-F238E27FC236}">
                <a16:creationId xmlns:a16="http://schemas.microsoft.com/office/drawing/2014/main" id="{6E73853E-46D6-492D-B195-4D6048CC3D70}"/>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4067DBA7-4C54-44EB-B800-D36C66035E12}"/>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a:t>
            </a:r>
          </a:p>
        </p:txBody>
      </p:sp>
      <p:sp>
        <p:nvSpPr>
          <p:cNvPr id="4" name="">
            <a:extLst xmlns:a="http://schemas.openxmlformats.org/drawingml/2006/main">
              <a:ext uri="{FF2B5EF4-FFF2-40B4-BE49-F238E27FC236}">
                <a16:creationId xmlns:a16="http://schemas.microsoft.com/office/drawing/2014/main" id="{190E9C00-1048-4936-B939-F5D1A0961794}"/>
              </a:ext>
            </a:extLst>
          </p:cNvPr>
          <p:cNvSpPr>
            <a:spLocks xmlns:a="http://schemas.openxmlformats.org/drawingml/2006/main" noGrp="1"/>
          </p:cNvSpPr>
          <p:nvPr/>
        </p:nvSpPr>
        <p:spPr>
          <a:xfrm xmlns:a="http://schemas.openxmlformats.org/drawingml/2006/main">
            <a:off x="685800" y="1362075"/>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Türk Telekom</a:t>
            </a:r>
          </a:p>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Efe Han Keleş, Computer Science and Engineering</a:t>
            </a:r>
          </a:p>
        </p:txBody>
      </p:sp>
      <p:sp>
        <p:nvSpPr>
          <p:cNvPr id="5" name="">
            <a:extLst xmlns:a="http://schemas.openxmlformats.org/drawingml/2006/main">
              <a:ext uri="{FF2B5EF4-FFF2-40B4-BE49-F238E27FC236}">
                <a16:creationId xmlns:a16="http://schemas.microsoft.com/office/drawing/2014/main" id="{9ECE6016-8E40-4E36-A7B8-69941C44B28C}"/>
              </a:ext>
            </a:extLst>
          </p:cNvPr>
          <p:cNvSpPr>
            <a:spLocks xmlns:a="http://schemas.openxmlformats.org/drawingml/2006/main" noGrp="1"/>
          </p:cNvSpPr>
          <p:nvPr/>
        </p:nvSpPr>
        <p:spPr>
          <a:xfrm xmlns:a="http://schemas.openxmlformats.org/drawingml/2006/main">
            <a:off x="685800" y="22383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20 July–18 September 2026, 40 approved internship days</a:t>
            </a:r>
          </a:p>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Fatih Sultan Mehmet Mah., Balkan Cad. No:49, 34771 Ümraniye / İstanbul</a:t>
            </a:r>
          </a:p>
        </p:txBody>
      </p:sp>
      <p:sp>
        <p:nvSpPr>
          <p:cNvPr id="6" name="">
            <a:extLst xmlns:a="http://schemas.openxmlformats.org/drawingml/2006/main">
              <a:ext uri="{FF2B5EF4-FFF2-40B4-BE49-F238E27FC236}">
                <a16:creationId xmlns:a16="http://schemas.microsoft.com/office/drawing/2014/main" id="{1A2506AB-5BA6-42EE-A580-AC77E84CC3E6}"/>
              </a:ext>
            </a:extLst>
          </p:cNvPr>
          <p:cNvSpPr>
            <a:spLocks xmlns:a="http://schemas.openxmlformats.org/drawingml/2006/main" noGrp="1"/>
          </p:cNvSpPr>
          <p:nvPr/>
        </p:nvSpPr>
        <p:spPr>
          <a:xfrm xmlns:a="http://schemas.openxmlformats.org/drawingml/2006/main">
            <a:off x="685800" y="32004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000000"/>
                </a:solidFill>
                <a:latin typeface="Times New Roman"/>
                <a:ea typeface="Times New Roman"/>
                <a:cs typeface="Times New Roman"/>
              </a:defRPr>
            </a:pPr>
            <a:r>
              <a:rPr sz="2325" b="1">
                <a:solidFill>
                  <a:srgbClr val="000000"/>
                </a:solidFill>
                <a:latin typeface="Times New Roman"/>
                <a:ea typeface="Times New Roman"/>
                <a:cs typeface="Times New Roman"/>
              </a:rPr>
              <a:t>Objective</a:t>
            </a:r>
          </a:p>
        </p:txBody>
      </p:sp>
      <p:sp>
        <p:nvSpPr>
          <p:cNvPr id="7" name="">
            <a:extLst xmlns:a="http://schemas.openxmlformats.org/drawingml/2006/main">
              <a:ext uri="{FF2B5EF4-FFF2-40B4-BE49-F238E27FC236}">
                <a16:creationId xmlns:a16="http://schemas.microsoft.com/office/drawing/2014/main" id="{D3616D9A-9B33-488A-8E52-D04075B2ADF6}"/>
              </a:ext>
            </a:extLst>
          </p:cNvPr>
          <p:cNvSpPr>
            <a:spLocks xmlns:a="http://schemas.openxmlformats.org/drawingml/2006/main" noGrp="1"/>
          </p:cNvSpPr>
          <p:nvPr/>
        </p:nvSpPr>
        <p:spPr>
          <a:xfrm xmlns:a="http://schemas.openxmlformats.org/drawingml/2006/main">
            <a:off x="3286125" y="3200400"/>
            <a:ext cx="8239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Reduce false AI warnings on real photographs</a:t>
            </a:r>
          </a:p>
          <a:p xmlns:a="http://schemas.openxmlformats.org/drawingml/2006/main">
            <a:pPr algn="l">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while preserving AI detection. Explore local AI edits.</a:t>
            </a:r>
          </a:p>
        </p:txBody>
      </p:sp>
      <p:sp>
        <p:nvSpPr>
          <p:cNvPr id="8" name="">
            <a:extLst xmlns:a="http://schemas.openxmlformats.org/drawingml/2006/main">
              <a:ext uri="{FF2B5EF4-FFF2-40B4-BE49-F238E27FC236}">
                <a16:creationId xmlns:a16="http://schemas.microsoft.com/office/drawing/2014/main" id="{CCE47537-2429-4117-B90F-E3FB41301C6D}"/>
              </a:ext>
            </a:extLst>
          </p:cNvPr>
          <p:cNvSpPr>
            <a:spLocks xmlns:a="http://schemas.openxmlformats.org/drawingml/2006/main" noGrp="1"/>
          </p:cNvSpPr>
          <p:nvPr/>
        </p:nvSpPr>
        <p:spPr>
          <a:xfrm xmlns:a="http://schemas.openxmlformats.org/drawingml/2006/main">
            <a:off x="685800" y="417195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000000"/>
                </a:solidFill>
                <a:latin typeface="Times New Roman"/>
                <a:ea typeface="Times New Roman"/>
                <a:cs typeface="Times New Roman"/>
              </a:defRPr>
            </a:pPr>
            <a:r>
              <a:rPr sz="2325" b="1">
                <a:solidFill>
                  <a:srgbClr val="000000"/>
                </a:solidFill>
                <a:latin typeface="Times New Roman"/>
                <a:ea typeface="Times New Roman"/>
                <a:cs typeface="Times New Roman"/>
              </a:rPr>
              <a:t>Outcome</a:t>
            </a:r>
          </a:p>
        </p:txBody>
      </p:sp>
      <p:sp>
        <p:nvSpPr>
          <p:cNvPr id="9" name="">
            <a:extLst xmlns:a="http://schemas.openxmlformats.org/drawingml/2006/main">
              <a:ext uri="{FF2B5EF4-FFF2-40B4-BE49-F238E27FC236}">
                <a16:creationId xmlns:a16="http://schemas.microsoft.com/office/drawing/2014/main" id="{318666EE-31D4-4371-AC28-09C51DC2A0DE}"/>
              </a:ext>
            </a:extLst>
          </p:cNvPr>
          <p:cNvSpPr>
            <a:spLocks xmlns:a="http://schemas.openxmlformats.org/drawingml/2006/main" noGrp="1"/>
          </p:cNvSpPr>
          <p:nvPr/>
        </p:nvSpPr>
        <p:spPr>
          <a:xfrm xmlns:a="http://schemas.openxmlformats.org/drawingml/2006/main">
            <a:off x="3286125" y="4171950"/>
            <a:ext cx="82391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Working local demo and documented experiments.</a:t>
            </a:r>
          </a:p>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On reused development data: 159/160 AI detected per condition.</a:t>
            </a:r>
          </a:p>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Real false warnings: 0/160 original, 14/160 after processing.</a:t>
            </a:r>
          </a:p>
        </p:txBody>
      </p:sp>
      <p:sp>
        <p:nvSpPr>
          <p:cNvPr id="10" name="">
            <a:extLst xmlns:a="http://schemas.openxmlformats.org/drawingml/2006/main">
              <a:ext uri="{FF2B5EF4-FFF2-40B4-BE49-F238E27FC236}">
                <a16:creationId xmlns:a16="http://schemas.microsoft.com/office/drawing/2014/main" id="{7A3FEDD6-D4FE-4E47-979A-669CA6F31821}"/>
              </a:ext>
            </a:extLst>
          </p:cNvPr>
          <p:cNvSpPr>
            <a:spLocks xmlns:a="http://schemas.openxmlformats.org/drawingml/2006/main" noGrp="1"/>
          </p:cNvSpPr>
          <p:nvPr/>
        </p:nvSpPr>
        <p:spPr>
          <a:xfrm xmlns:a="http://schemas.openxmlformats.org/drawingml/2006/main">
            <a:off x="685800" y="542925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000000"/>
                </a:solidFill>
                <a:latin typeface="Times New Roman"/>
                <a:ea typeface="Times New Roman"/>
                <a:cs typeface="Times New Roman"/>
              </a:defRPr>
            </a:pPr>
            <a:r>
              <a:rPr sz="2325" b="1">
                <a:solidFill>
                  <a:srgbClr val="000000"/>
                </a:solidFill>
                <a:latin typeface="Times New Roman"/>
                <a:ea typeface="Times New Roman"/>
                <a:cs typeface="Times New Roman"/>
              </a:rPr>
              <a:t>Limit</a:t>
            </a:r>
          </a:p>
        </p:txBody>
      </p:sp>
      <p:sp>
        <p:nvSpPr>
          <p:cNvPr id="11" name="">
            <a:extLst xmlns:a="http://schemas.openxmlformats.org/drawingml/2006/main">
              <a:ext uri="{FF2B5EF4-FFF2-40B4-BE49-F238E27FC236}">
                <a16:creationId xmlns:a16="http://schemas.microsoft.com/office/drawing/2014/main" id="{88E9541A-4A86-4A57-A2D0-7C18366648BA}"/>
              </a:ext>
            </a:extLst>
          </p:cNvPr>
          <p:cNvSpPr>
            <a:spLocks xmlns:a="http://schemas.openxmlformats.org/drawingml/2006/main" noGrp="1"/>
          </p:cNvSpPr>
          <p:nvPr/>
        </p:nvSpPr>
        <p:spPr>
          <a:xfrm xmlns:a="http://schemas.openxmlformats.org/drawingml/2006/main">
            <a:off x="3286125" y="5429250"/>
            <a:ext cx="8239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One new AI miss prevented full acceptance.</a:t>
            </a:r>
          </a:p>
          <a:p xmlns:a="http://schemas.openxmlformats.org/drawingml/2006/main">
            <a:pPr algn="l">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Broader reliability and Model2 remain unproven.</a:t>
            </a:r>
          </a:p>
        </p:txBody>
      </p:sp>
      <p:sp>
        <p:nvSpPr>
          <p:cNvPr id="12" name="">
            <a:extLst xmlns:a="http://schemas.openxmlformats.org/drawingml/2006/main">
              <a:ext uri="{FF2B5EF4-FFF2-40B4-BE49-F238E27FC236}">
                <a16:creationId xmlns:a16="http://schemas.microsoft.com/office/drawing/2014/main" id="{27BE3CD5-3FE8-4F04-B50A-95F3C3B5F601}"/>
              </a:ext>
            </a:extLst>
          </p:cNvPr>
          <p:cNvSpPr>
            <a:spLocks xmlns:a="http://schemas.openxmlformats.org/drawingml/2006/main" noGrp="1"/>
          </p:cNvSpPr>
          <p:nvPr/>
        </p:nvSpPr>
        <p:spPr>
          <a:xfrm xmlns:a="http://schemas.openxmlformats.org/drawingml/2006/main">
            <a:off x="685800" y="63817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Supervisor: Önder Çelebi, Director   Submission date: 29 September 2026</a:t>
            </a:r>
          </a:p>
        </p:txBody>
      </p:sp>
    </p:spTree>
    <p:extLst>
      <p:ext uri="{BB962C8B-B14F-4D97-AF65-F5344CB8AC3E}">
        <p14:creationId xmlns:p14="http://schemas.microsoft.com/office/powerpoint/2010/main" val="11736471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2026-09-29T08:49:02.7000000Z</dcterms:created>
  <dcterms:modified xsi:type="dcterms:W3CDTF">2026-09-29T08:49:02.7000000Z</dcterms:modified>
</coreProperties>
</file>