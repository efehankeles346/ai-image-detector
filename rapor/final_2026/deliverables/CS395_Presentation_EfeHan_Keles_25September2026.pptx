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7662d71a81048a1" /><Relationship Type="http://schemas.openxmlformats.org/officeDocument/2006/relationships/extended-properties" Target="/docProps/app.xml" Id="R3846dc358fb1493f" /><Relationship Type="http://schemas.openxmlformats.org/officeDocument/2006/relationships/officeDocument" Target="/ppt/presentation.xml" Id="R2a6e2424174a4fdf" /></Relationships>
</file>

<file path=ppt/presentation.xml><?xml version="1.0" encoding="utf-8"?>
<p:presentation xmlns:p="http://schemas.openxmlformats.org/presentationml/2006/main">
  <p:sldMasterIdLst>
    <p:sldMasterId xmlns:r="http://schemas.openxmlformats.org/officeDocument/2006/relationships" id="2147483648" r:id="Re101ce2f55d04dc2"/>
  </p:sldMasterIdLst>
  <p:notesMasterIdLst>
    <p:notesMasterId xmlns:r="http://schemas.openxmlformats.org/officeDocument/2006/relationships" r:id="Rb33dea48c95746f7"/>
  </p:notesMasterIdLst>
  <p:sldIdLst>
    <p:sldId xmlns:r="http://schemas.openxmlformats.org/officeDocument/2006/relationships" id="256" r:id="Re413ddbf6a524b94"/>
    <p:sldId xmlns:r="http://schemas.openxmlformats.org/officeDocument/2006/relationships" id="257" r:id="R55c3252fb6684920"/>
    <p:sldId xmlns:r="http://schemas.openxmlformats.org/officeDocument/2006/relationships" id="258" r:id="R1bfb2fbca21b4cbb"/>
    <p:sldId xmlns:r="http://schemas.openxmlformats.org/officeDocument/2006/relationships" id="259" r:id="R79c11d76d06e4187"/>
    <p:sldId xmlns:r="http://schemas.openxmlformats.org/officeDocument/2006/relationships" id="260" r:id="Rdbe0ada491ad4416"/>
    <p:sldId xmlns:r="http://schemas.openxmlformats.org/officeDocument/2006/relationships" id="261" r:id="Rbfb8861f885c4836"/>
    <p:sldId xmlns:r="http://schemas.openxmlformats.org/officeDocument/2006/relationships" id="262" r:id="R30d9f4ebd17444e6"/>
    <p:sldId xmlns:r="http://schemas.openxmlformats.org/officeDocument/2006/relationships" id="263" r:id="Ra88484a5b81342dc"/>
    <p:sldId xmlns:r="http://schemas.openxmlformats.org/officeDocument/2006/relationships" id="264" r:id="R9d48060591ec4dc9"/>
    <p:sldId xmlns:r="http://schemas.openxmlformats.org/officeDocument/2006/relationships" id="265" r:id="R3290a6fd85f54fe3"/>
    <p:sldId xmlns:r="http://schemas.openxmlformats.org/officeDocument/2006/relationships" id="266" r:id="R565469912a0c4e21"/>
    <p:sldId xmlns:r="http://schemas.openxmlformats.org/officeDocument/2006/relationships" id="267" r:id="Rd81c1293ed93444c"/>
    <p:sldId xmlns:r="http://schemas.openxmlformats.org/officeDocument/2006/relationships" id="268" r:id="Rae8974be9cdf4333"/>
    <p:sldId xmlns:r="http://schemas.openxmlformats.org/officeDocument/2006/relationships" id="269" r:id="Raa6c2a7550994aa2"/>
    <p:sldId xmlns:r="http://schemas.openxmlformats.org/officeDocument/2006/relationships" id="270" r:id="R5dbdef20de2b4b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509cf067ce469c" /><Relationship Type="http://schemas.openxmlformats.org/officeDocument/2006/relationships/slideMaster" Target="/ppt/slideMasters/slideMaster1.xml" Id="Re101ce2f55d04dc2" /><Relationship Type="http://schemas.openxmlformats.org/officeDocument/2006/relationships/notesMaster" Target="/ppt/notesMasters/notesMaster1.xml" Id="Rb33dea48c95746f7" /><Relationship Type="http://schemas.openxmlformats.org/officeDocument/2006/relationships/presProps" Target="/ppt/presProps.xml" Id="R4cf0dabe25d444bb" /><Relationship Type="http://schemas.openxmlformats.org/officeDocument/2006/relationships/tableStyles" Target="/ppt/tableStyles.xml" Id="R8390f851451a469c" /><Relationship Type="http://schemas.openxmlformats.org/officeDocument/2006/relationships/slide" Target="/ppt/slides/slide1.xml" Id="Re413ddbf6a524b94" /><Relationship Type="http://schemas.openxmlformats.org/officeDocument/2006/relationships/slide" Target="/ppt/slides/slide2.xml" Id="R55c3252fb6684920" /><Relationship Type="http://schemas.openxmlformats.org/officeDocument/2006/relationships/slide" Target="/ppt/slides/slide3.xml" Id="R1bfb2fbca21b4cbb" /><Relationship Type="http://schemas.openxmlformats.org/officeDocument/2006/relationships/slide" Target="/ppt/slides/slide4.xml" Id="R79c11d76d06e4187" /><Relationship Type="http://schemas.openxmlformats.org/officeDocument/2006/relationships/slide" Target="/ppt/slides/slide5.xml" Id="Rdbe0ada491ad4416" /><Relationship Type="http://schemas.openxmlformats.org/officeDocument/2006/relationships/slide" Target="/ppt/slides/slide6.xml" Id="Rbfb8861f885c4836" /><Relationship Type="http://schemas.openxmlformats.org/officeDocument/2006/relationships/slide" Target="/ppt/slides/slide7.xml" Id="R30d9f4ebd17444e6" /><Relationship Type="http://schemas.openxmlformats.org/officeDocument/2006/relationships/slide" Target="/ppt/slides/slide8.xml" Id="Ra88484a5b81342dc" /><Relationship Type="http://schemas.openxmlformats.org/officeDocument/2006/relationships/slide" Target="/ppt/slides/slide9.xml" Id="R9d48060591ec4dc9" /><Relationship Type="http://schemas.openxmlformats.org/officeDocument/2006/relationships/slide" Target="/ppt/slides/slide10.xml" Id="R3290a6fd85f54fe3" /><Relationship Type="http://schemas.openxmlformats.org/officeDocument/2006/relationships/slide" Target="/ppt/slides/slide11.xml" Id="R565469912a0c4e21" /><Relationship Type="http://schemas.openxmlformats.org/officeDocument/2006/relationships/slide" Target="/ppt/slides/slide12.xml" Id="Rd81c1293ed93444c" /><Relationship Type="http://schemas.openxmlformats.org/officeDocument/2006/relationships/slide" Target="/ppt/slides/slide13.xml" Id="Rae8974be9cdf4333" /><Relationship Type="http://schemas.openxmlformats.org/officeDocument/2006/relationships/slide" Target="/ppt/slides/slide14.xml" Id="Raa6c2a7550994aa2" /><Relationship Type="http://schemas.openxmlformats.org/officeDocument/2006/relationships/slide" Target="/ppt/slides/slide15.xml" Id="R5dbdef20de2b4b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eab69427ed4a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410de28988417b" /><Relationship Type="http://schemas.openxmlformats.org/officeDocument/2006/relationships/notesMaster" Target="/ppt/notesMasters/notesMaster1.xml" Id="Rff3b690f3f6d48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ee8355542949f3" /><Relationship Type="http://schemas.openxmlformats.org/officeDocument/2006/relationships/notesMaster" Target="/ppt/notesMasters/notesMaster1.xml" Id="Ra6ba1cff663a41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a6e745be74486c" /><Relationship Type="http://schemas.openxmlformats.org/officeDocument/2006/relationships/notesMaster" Target="/ppt/notesMasters/notesMaster1.xml" Id="R931951410acb4f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d3ad400d334270" /><Relationship Type="http://schemas.openxmlformats.org/officeDocument/2006/relationships/notesMaster" Target="/ppt/notesMasters/notesMaster1.xml" Id="R957c65aab17f48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92ecedd5cc4188" /><Relationship Type="http://schemas.openxmlformats.org/officeDocument/2006/relationships/notesMaster" Target="/ppt/notesMasters/notesMaster1.xml" Id="R9b661aa2e24448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f6f37322444b1a" /><Relationship Type="http://schemas.openxmlformats.org/officeDocument/2006/relationships/notesMaster" Target="/ppt/notesMasters/notesMaster1.xml" Id="R372c94022ec04e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abe6770d9c4f1c" /><Relationship Type="http://schemas.openxmlformats.org/officeDocument/2006/relationships/notesMaster" Target="/ppt/notesMasters/notesMaster1.xml" Id="R03aea4392cf546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f88824955f4f72" /><Relationship Type="http://schemas.openxmlformats.org/officeDocument/2006/relationships/notesMaster" Target="/ppt/notesMasters/notesMaster1.xml" Id="Rf6064064d49b4a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5fa5e16bec4f38" /><Relationship Type="http://schemas.openxmlformats.org/officeDocument/2006/relationships/notesMaster" Target="/ppt/notesMasters/notesMaster1.xml" Id="Rdb74a39f1dc847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316059919143c3" /><Relationship Type="http://schemas.openxmlformats.org/officeDocument/2006/relationships/notesMaster" Target="/ppt/notesMasters/notesMaster1.xml" Id="R19f5c78587344e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c93b0a1d7c4b9d" /><Relationship Type="http://schemas.openxmlformats.org/officeDocument/2006/relationships/notesMaster" Target="/ppt/notesMasters/notesMaster1.xml" Id="Rc5604f440e6c4e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53b7df85ac4b1a" /><Relationship Type="http://schemas.openxmlformats.org/officeDocument/2006/relationships/notesMaster" Target="/ppt/notesMasters/notesMaster1.xml" Id="R823366c3097b4a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1fe702f7cb42ad" /><Relationship Type="http://schemas.openxmlformats.org/officeDocument/2006/relationships/notesMaster" Target="/ppt/notesMasters/notesMaster1.xml" Id="R887829a34d964f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de531ecc4ad44f9" /><Relationship Type="http://schemas.openxmlformats.org/officeDocument/2006/relationships/notesMaster" Target="/ppt/notesMasters/notesMaster1.xml" Id="R47e8ed1298724c2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cb39125cb394bf4" /><Relationship Type="http://schemas.openxmlformats.org/officeDocument/2006/relationships/notesMaster" Target="/ppt/notesMasters/notesMaster1.xml" Id="Ra67b9ce3442745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My supervisor was Önder Çelebi, Director of the Planning and Development Directorate. My internship project was PixelProof, a research prototype for detecting evidence of AI generation in images. I will explain the problem, how the project changed after failures, what the current demo model achieved, and what remains unresolved. The main result is a working local demonstration with substantial improvement on a defined development collection. It is not a universally reliable authenticity detector. The approved internship lasted forty working days. This presentation covers the technical record available before the end of the internship.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50 seconds.</a:t>
            </a:r>
          </a:p>
          <a:p xmlns:a="http://schemas.openxmlformats.org/drawingml/2006/main">
            <a:r>
              <a:t/>
            </a:r>
          </a:p>
          <a:p xmlns:a="http://schemas.openxmlformats.org/drawingml/2006/main">
            <a:r>
              <a:t>There are two related but different tasks. Model1 evaluates a whole image. We want it to find AI images while avoiding false accusations against real photographs. A false alert and a missed AI image are different errors, and improving one can worsen the other. Model2 tries to localize an edited region. A convincing heatmap is not enough; it must agree with independent edit masks and avoid highlighting authentic regions. We therefore kept localization experimental rather than presenting it as a completed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60 seconds.</a:t>
            </a:r>
          </a:p>
          <a:p xmlns:a="http://schemas.openxmlformats.org/drawingml/2006/main">
            <a:r>
              <a:t/>
            </a:r>
          </a:p>
          <a:p xmlns:a="http://schemas.openxmlformats.org/drawingml/2006/main">
            <a:r>
              <a:t>Table 1 shows why a high internal score was not enough. The early small CNN achieved about ninety-seven percent on familiar images, but performance fell on an external collection. ResNet improved the familiar score and did much worse externally. A resolution control recovered much of that loss, showing that image preparation mattered. These are historical diagnostics, not final certified results: later auditing also found confounds in the external collection. The important lesson was to investigate what changed before blaming or praising the architecture. Sources: project experiments E1 to E6 and E10.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65 seconds.</a:t>
            </a:r>
          </a:p>
          <a:p xmlns:a="http://schemas.openxmlformats.org/drawingml/2006/main">
            <a:r>
              <a:t/>
            </a:r>
          </a:p>
          <a:p xmlns:a="http://schemas.openxmlformats.org/drawingml/2006/main">
            <a:r>
              <a:t>Two corrections changed the interpretation of earlier work. Some datasets encoded real and AI labels in the opposite direction. We added explicit mappings and reran affected experiments. One DINOv2 result changed from near chance to useful discrimination, so the original explanation was withdrawn. Another audit found that threshold selection could consult evaluation data. Correcting it to use calibration only caused the candidate to fail its admission rule. We retained these failures in the record. Training, calibration, development and final evaluation have different permitted uses. Different files are not automatically independent when they share scenes, prompts or generation ancestry. Sources: E19b, E19c and E27.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85 seconds.</a:t>
            </a:r>
          </a:p>
          <a:p xmlns:a="http://schemas.openxmlformats.org/drawingml/2006/main">
            <a:r>
              <a:t/>
            </a:r>
          </a:p>
          <a:p xmlns:a="http://schemas.openxmlformats.org/drawingml/2006/main">
            <a:r>
              <a:t>The project did not train a foundation model from scratch. Frozen encoders turn an image into numerical descriptions. PixelProof fits additional components and a constrained correction around these features. E92 used twelve thousand two hundred sixty-nine training parent images, with four processing views per parent. More views test processing robustness, but do not create independent photographs. These training counts are separate from the three hundred twenty development images discussed next. The plan recorded a question and acceptance rules. The experiment log retained measurements, the history explained the resulting decision and the dataset register recorded which data could be used. Corrected conclusions stayed visible, so a failed experiment could guide the next one. The demo applies the resulting model through a documented display rule. My responsibilities included directing experiments, organizing sources and reviewing evidence, with AI coding assistance used for implementation and documentation. Research references: Radford et al. 2021, Oquab et al. 2024, Kim et al. 2026 and Ojha et al.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75 seconds.</a:t>
            </a:r>
          </a:p>
          <a:p xmlns:a="http://schemas.openxmlformats.org/drawingml/2006/main">
            <a:r>
              <a:t/>
            </a:r>
          </a:p>
          <a:p xmlns:a="http://schemas.openxmlformats.org/drawingml/2006/main">
            <a:r>
              <a:t>Figure 1 is the clearest development improvement. All three models are compared on the same real-image parents. For original images, false AI alerts fell from sixty-eight out of one hundred sixty to zero. For the fixed social-style transformation, they fell from sixty-eight to fourteen. That transformation caps the long side at 1080 pixels and applies JPEG quality seventy-five. E92 detected one hundred fifty-nine of one hundred sixty AI images in each condition. This is strong progress on this collection, but zero observed original false alerts does not mean zero future risk. The real images come from only ten SIDD scenes, and these development observations were repeatedly used. Source: evidence/e92_development.json.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65 seconds.</a:t>
            </a:r>
          </a:p>
          <a:p xmlns:a="http://schemas.openxmlformats.org/drawingml/2006/main">
            <a:r>
              <a:t/>
            </a:r>
          </a:p>
          <a:p xmlns:a="http://schemas.openxmlformats.org/drawingml/2006/main">
            <a:r>
              <a:t>Twenty out of twenty meant ten numerical requirements checked twice. The requirements covered false alerts, AI recall, balanced accuracy, ranking, coverage and uncertainty. They were project-defined, correlated checks, not an external universal standard. A separate retention rule required that no AI image caught by E43 become a new miss. E92 missed one original AI example that E43 had detected. Recovering other examples did not cancel that loss under the rule. Therefore numerical success and complete acceptance are different conclusions. We should celebrate the improvement without saying the full contract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85 seconds.</a:t>
            </a:r>
          </a:p>
          <a:p xmlns:a="http://schemas.openxmlformats.org/drawingml/2006/main">
            <a:r>
              <a:t/>
            </a:r>
          </a:p>
          <a:p xmlns:a="http://schemas.openxmlformats.org/drawingml/2006/main">
            <a:r>
              <a:t>The displayed number caused understandable confusion. It is a raw model score multiplied by one hundred, not a probability that a photograph is AI. There is no reason to impose a fifty-percent boundary. The inherited upper cut is approximately seven point nine four; the lower cut is approximately one point one five. An original score above the upper cut keeps an AI alert visible. Two low E92 views produce no clear AI evidence. Other cases remain uncertain, and disagreement can require review. The older reference is advisory and no longer vetoes two low E92 scores. The upper cut came from earlier calibration; the lower cut used previously inspected calibration and development images. They are not fresh E92 calibration or universally optimal values. On the reused development set, the combined website rule left twenty-one real images uncertain and gave no real image an AI alert. It alerted on one hundred fifty-nine AI images and left one uncertain. These are one-result-per-upload counts, unlike the separate-view scores in Figure 1. Guo et al. explain why calibration is a separate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90 seconds.</a:t>
            </a:r>
          </a:p>
          <a:p xmlns:a="http://schemas.openxmlformats.org/drawingml/2006/main">
            <a:r>
              <a:t/>
            </a:r>
          </a:p>
          <a:p xmlns:a="http://schemas.openxmlformats.org/drawingml/2006/main">
            <a:r>
              <a:t>The earlier comprehensive E49 test had one thousand real and one thousand AI parents. E43 falsely flagged three hundred ninety-one real originals and four hundred ninety processed views, passing only eleven of twenty checks. Those are E43 results on a different population, not E92 accuracy. E92 did not pass the gate needed to open its E49 regression. Its twenty-out-of-twenty development milestone therefore does not repair or replace that final test. On the owner gallery, E92 produced nine false alerts in two hundred six unique real originals and eighteen after processing. This previously used collection mostly represents one phone. Later E102 reduced development processed false alerts from fourteen to twelve, preserving E92 detections, but retained the same E43-relative miss. It was not promoted. Separate source-fold calibration and source-pixel candidates also failed their requirements. The protected reserves remain unscored, without a verified balanced-final admission. Sources: evidence/e49_final_result.json, E92, E95, E102, E139, E146 and E151.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65 seconds.</a:t>
            </a:r>
          </a:p>
          <a:p xmlns:a="http://schemas.openxmlformats.org/drawingml/2006/main">
            <a:r>
              <a:t/>
            </a:r>
          </a:p>
          <a:p xmlns:a="http://schemas.openxmlformats.org/drawingml/2006/main">
            <a:r>
              <a:t>Model2 illustrates another generalization failure. The earlier head ranked edited pixels reasonably on the original placement, with pixel AUC around zero point seven four. When edits moved, that fell to about zero point five seven. Training on two placements partly recovered performance at the new location, but harmed the original location and increased the area wrongly highlighted in authentic images. Only sixteen previously used original images and one editor were involved. The many transformed maps are not independent samples. Moving an edit also changes its content and generated output, so this is not a pure causal location experiment. Model2 remains separate from the active demo. Sources: E132 through E135.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55 seconds.</a:t>
            </a:r>
          </a:p>
          <a:p xmlns:a="http://schemas.openxmlformats.org/drawingml/2006/main">
            <a:r>
              <a:t/>
            </a:r>
          </a:p>
          <a:p xmlns:a="http://schemas.openxmlformats.org/drawingml/2006/main">
            <a:r>
              <a:t>The outcome includes a trained research system, a local upload interface, experiment commands, aggregate result files and documentation. Software guards handle invalid images, unavailable dependencies, response schema mismatches and cancellation around the heavy inference worker. The artifact manifest is checked before loading the model. The latest recorded checkpoint passed one thousand two hundred forty-five Python tests. These are software assertions, not successful classifications of that many images. No production rollout or company business impact was measured. A reproducible negative result is also a deliverable because it prevents repeating an unsupported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55 seconds.</a:t>
            </a:r>
          </a:p>
          <a:p xmlns:a="http://schemas.openxmlformats.org/drawingml/2006/main">
            <a:r>
              <a:t/>
            </a:r>
          </a:p>
          <a:p xmlns:a="http://schemas.openxmlformats.org/drawingml/2006/main">
            <a:r>
              <a:t>The prototype is a meaningful student engineering result. It integrates modelling, data handling, software and evaluation. Its strongest improvement is real and reproducible for the specified development population. The equally important limitation is that we have not proved universal detection. Reused data, limited camera scenes, previously seen generator families and unknown pretraining overlap restrict the claim. Model2 also needs much broader evidence. Table 5 is the distinction I would want a reader to remember: building a working system and proving broad reliability are separate achievements.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a:t>
            </a:r>
          </a:p>
          <a:p xmlns:a="http://schemas.openxmlformats.org/drawingml/2006/main">
            <a:r>
              <a:t/>
            </a:r>
          </a:p>
          <a:p xmlns:a="http://schemas.openxmlformats.org/drawingml/2006/main">
            <a:r>
              <a:t>The next priority is an independent evaluation design rather than another impressive number on familiar data. It needs separated sources and ancestry, more cameras and generators, fixed operating costs and calibration that cannot see evaluation outcomes. Localization also needs more editors and authentic controls. My central technical lesson is to verify what a score actually proves. We built a functioning prototype, improved a defined benchmark, corrected mistakes and identified the evidence still missing. Thank you. The following two slides contain references for questions; the full bibliography is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seconds.</a:t>
            </a:r>
          </a:p>
          <a:p xmlns:a="http://schemas.openxmlformats.org/drawingml/2006/main">
            <a:r>
              <a:t/>
            </a:r>
          </a:p>
          <a:p xmlns:a="http://schemas.openxmlformats.org/drawingml/2006/main">
            <a:r>
              <a:t>Backup slide. Full author lists, retrieval dates and direct source links are provided in Section 8 of the report. Project findings are traceable to the evidence map in Appendix 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seconds.</a:t>
            </a:r>
          </a:p>
          <a:p xmlns:a="http://schemas.openxmlformats.org/drawingml/2006/main">
            <a:r>
              <a:t/>
            </a:r>
          </a:p>
          <a:p xmlns:a="http://schemas.openxmlformats.org/drawingml/2006/main">
            <a:r>
              <a:t>Backup slide. Pretrained components do not transfer their published benchmark guarantees to our system. Calibration and adaptive data reuse are separate evaluation problems. Corporate context comes from official Türk Telekom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c4f779c9d843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334d555f2f4ae7" /><Relationship Type="http://schemas.openxmlformats.org/officeDocument/2006/relationships/slideLayout" Target="/ppt/slideLayouts/slideLayout1.xml" Id="Raf3d9297c9ef4c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3d9297c9ef4c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bcf02bbbdc4ebb" /><Relationship Type="http://schemas.openxmlformats.org/officeDocument/2006/relationships/notesSlide" Target="/ppt/notesSlides/notesSlide1.xml" Id="R6143652c2ab148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caf84041e24cfd" /><Relationship Type="http://schemas.openxmlformats.org/officeDocument/2006/relationships/notesSlide" Target="/ppt/notesSlides/notesSlide2.xml" Id="Rb907ff8274914c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242997861d41e7" /><Relationship Type="http://schemas.openxmlformats.org/officeDocument/2006/relationships/notesSlide" Target="/ppt/notesSlides/notesSlide3.xml" Id="R7dd9ac9347b34c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69773c24844ae6" /><Relationship Type="http://schemas.openxmlformats.org/officeDocument/2006/relationships/notesSlide" Target="/ppt/notesSlides/notesSlide4.xml" Id="Rf9c38fbb8ade4b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5a26c30fcd4324" /><Relationship Type="http://schemas.openxmlformats.org/officeDocument/2006/relationships/notesSlide" Target="/ppt/notesSlides/notesSlide5.xml" Id="R041adc98c8304c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a2dcb049ae4183" /><Relationship Type="http://schemas.openxmlformats.org/officeDocument/2006/relationships/chart" Target="/ppt/slides/charts/chart1.xml" Id="R1039e8fab6c54c5c" /><Relationship Type="http://schemas.openxmlformats.org/officeDocument/2006/relationships/notesSlide" Target="/ppt/notesSlides/notesSlide6.xml" Id="Ree3b87919fc64b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3e5e369f6a4e03" /><Relationship Type="http://schemas.openxmlformats.org/officeDocument/2006/relationships/notesSlide" Target="/ppt/notesSlides/notesSlide7.xml" Id="Rc8dab6112cd749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80831be9e1448da" /><Relationship Type="http://schemas.openxmlformats.org/officeDocument/2006/relationships/notesSlide" Target="/ppt/notesSlides/notesSlide8.xml" Id="Ra36fed25acde46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fc58f57fb6461f" /><Relationship Type="http://schemas.openxmlformats.org/officeDocument/2006/relationships/notesSlide" Target="/ppt/notesSlides/notesSlide9.xml" Id="R95170607f7c04c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468f8ca88a64f73" /><Relationship Type="http://schemas.openxmlformats.org/officeDocument/2006/relationships/notesSlide" Target="/ppt/notesSlides/notesSlide10.xml" Id="Rfe4fef0619ae46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ce909a491d4e6b" /><Relationship Type="http://schemas.openxmlformats.org/officeDocument/2006/relationships/notesSlide" Target="/ppt/notesSlides/notesSlide11.xml" Id="Rd4f4a6c775184b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67df1df85704dd4" /><Relationship Type="http://schemas.openxmlformats.org/officeDocument/2006/relationships/notesSlide" Target="/ppt/notesSlides/notesSlide12.xml" Id="R0fd9bd8fca4342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d09dacecc014e42" /><Relationship Type="http://schemas.openxmlformats.org/officeDocument/2006/relationships/notesSlide" Target="/ppt/notesSlides/notesSlide13.xml" Id="R5a3b1611a53c4b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24c7d9f9793436d" /><Relationship Type="http://schemas.openxmlformats.org/officeDocument/2006/relationships/notesSlide" Target="/ppt/notesSlides/notesSlide14.xml" Id="Rcc393d814fff47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c8bc7d755f342a4" /><Relationship Type="http://schemas.openxmlformats.org/officeDocument/2006/relationships/notesSlide" Target="/ppt/notesSlides/notesSlide15.xml" Id="R67276d23de0b428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E43 reference</c:v>
          </c:tx>
          <c:spPr>
            <a:solidFill xmlns:a="http://schemas.openxmlformats.org/drawingml/2006/main">
              <a:srgbClr val="EEEEEE"/>
            </a:solidFill>
          </c:spPr>
          <c:cat>
            <c:strRef>
              <c:f>'Chart Data'!$A$2:$A$3</c:f>
              <c:strCache>
                <c:ptCount val="2"/>
                <c:pt idx="0">
                  <c:v>Original</c:v>
                </c:pt>
                <c:pt idx="1">
                  <c:v>Social-style JPEG75</c:v>
                </c:pt>
              </c:strCache>
            </c:strRef>
          </c:cat>
          <c:val>
            <c:numRef>
              <c:f>'Chart Data'!$B$2:$B$3</c:f>
              <c:numCache>
                <c:formatCode>General</c:formatCode>
                <c:ptCount val="2"/>
                <c:pt idx="0">
                  <c:v>68</c:v>
                </c:pt>
                <c:pt idx="1">
                  <c:v>68</c:v>
                </c:pt>
              </c:numCache>
            </c:numRef>
          </c:val>
        </c:ser>
        <c:ser>
          <c:idx val="1"/>
          <c:order val="1"/>
          <c:tx>
            <c:v>E86</c:v>
          </c:tx>
          <c:spPr>
            <a:solidFill xmlns:a="http://schemas.openxmlformats.org/drawingml/2006/main">
              <a:srgbClr val="AAAAAA"/>
            </a:solidFill>
          </c:spPr>
          <c:cat>
            <c:strRef>
              <c:f>'Chart Data'!$C$2:$C$3</c:f>
              <c:strCache>
                <c:ptCount val="2"/>
                <c:pt idx="0">
                  <c:v>Original</c:v>
                </c:pt>
                <c:pt idx="1">
                  <c:v>Social-style JPEG75</c:v>
                </c:pt>
              </c:strCache>
            </c:strRef>
          </c:cat>
          <c:val>
            <c:numRef>
              <c:f>'Chart Data'!$D$2:$D$3</c:f>
              <c:numCache>
                <c:formatCode>General</c:formatCode>
                <c:ptCount val="2"/>
                <c:pt idx="0">
                  <c:v>1</c:v>
                </c:pt>
                <c:pt idx="1">
                  <c:v>17</c:v>
                </c:pt>
              </c:numCache>
            </c:numRef>
          </c:val>
        </c:ser>
        <c:ser>
          <c:idx val="2"/>
          <c:order val="2"/>
          <c:tx>
            <c:v>E92</c:v>
          </c:tx>
          <c:spPr>
            <a:solidFill xmlns:a="http://schemas.openxmlformats.org/drawingml/2006/main">
              <a:srgbClr val="444444"/>
            </a:solidFill>
          </c:spPr>
          <c:cat>
            <c:strRef>
              <c:f>'Chart Data'!$E$2:$E$3</c:f>
              <c:strCache>
                <c:ptCount val="2"/>
                <c:pt idx="0">
                  <c:v>Original</c:v>
                </c:pt>
                <c:pt idx="1">
                  <c:v>Social-style JPEG75</c:v>
                </c:pt>
              </c:strCache>
            </c:strRef>
          </c:cat>
          <c:val>
            <c:numRef>
              <c:f>'Chart Data'!$F$2:$F$3</c:f>
              <c:numCache>
                <c:formatCode>General</c:formatCode>
                <c:ptCount val="2"/>
                <c:pt idx="0">
                  <c:v>0</c:v>
                </c:pt>
                <c:pt idx="1">
                  <c:v>14</c:v>
                </c:pt>
              </c:numCache>
            </c:numRef>
          </c:val>
        </c:ser>
        <c:dLbls>
          <c:txPr>
            <a:bodyPr xmlns:a="http://schemas.openxmlformats.org/drawingml/2006/main" anchorCtr="1"/>
            <a:lstStyle xmlns:a="http://schemas.openxmlformats.org/drawingml/2006/main"/>
            <a:p xmlns:a="http://schemas.openxmlformats.org/drawingml/2006/main">
              <a:pPr>
                <a:defRPr sz="1650">
                  <a:solidFill>
                    <a:srgbClr val="000000"/>
                  </a:solidFill>
                  <a:latin typeface="Times New Roman"/>
                  <a:ea typeface="Times New Roman"/>
                  <a:cs typeface="Times New Roman"/>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Times New Roman"/>
                <a:ea typeface="Times New Roman"/>
                <a:cs typeface="Times New Roman"/>
              </a:defRPr>
            </a:pPr>
          </a:p>
        </c:txPr>
        <c:crossAx val="48672768"/>
      </c:catAx>
      <c:valAx>
        <c:axId val="48672768"/>
        <c:scaling>
          <c:orientation val="minMax"/>
          <c:max val="8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latin typeface="Times New Roman"/>
                <a:ea typeface="Times New Roman"/>
                <a:cs typeface="Times New Roman"/>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000000"/>
              </a:solidFill>
              <a:latin typeface="Times New Roman"/>
              <a:ea typeface="Times New Roman"/>
              <a:cs typeface="Times New Roman"/>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FC8F06-494C-4432-AF15-BE880C6DCDC8}"/>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 PixelProof: AI image detection</a:t>
            </a:r>
          </a:p>
        </p:txBody>
      </p:sp>
      <p:sp>
        <p:nvSpPr>
          <p:cNvPr id="2" name="">
            <a:extLst xmlns:a="http://schemas.openxmlformats.org/drawingml/2006/main">
              <a:ext uri="{FF2B5EF4-FFF2-40B4-BE49-F238E27FC236}">
                <a16:creationId xmlns:a16="http://schemas.microsoft.com/office/drawing/2014/main" id="{FEA84154-D200-44E6-B2F0-E2D01AA00677}"/>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Project record through 16 September 2026 · research prototype</a:t>
            </a:r>
          </a:p>
        </p:txBody>
      </p:sp>
      <p:sp>
        <p:nvSpPr>
          <p:cNvPr id="3" name="">
            <a:extLst xmlns:a="http://schemas.openxmlformats.org/drawingml/2006/main">
              <a:ext uri="{FF2B5EF4-FFF2-40B4-BE49-F238E27FC236}">
                <a16:creationId xmlns:a16="http://schemas.microsoft.com/office/drawing/2014/main" id="{DE871820-AAF5-42DD-8A12-F0DA50DF9976}"/>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a:t>
            </a:r>
          </a:p>
        </p:txBody>
      </p:sp>
      <p:sp>
        <p:nvSpPr>
          <p:cNvPr id="4" name="">
            <a:extLst xmlns:a="http://schemas.openxmlformats.org/drawingml/2006/main">
              <a:ext uri="{FF2B5EF4-FFF2-40B4-BE49-F238E27FC236}">
                <a16:creationId xmlns:a16="http://schemas.microsoft.com/office/drawing/2014/main" id="{340A7EBF-678D-4289-8712-53C69BDC874F}"/>
              </a:ext>
            </a:extLst>
          </p:cNvPr>
          <p:cNvSpPr>
            <a:spLocks xmlns:a="http://schemas.openxmlformats.org/drawingml/2006/main" noGrp="1"/>
          </p:cNvSpPr>
          <p:nvPr/>
        </p:nvSpPr>
        <p:spPr>
          <a:xfrm xmlns:a="http://schemas.openxmlformats.org/drawingml/2006/main">
            <a:off x="685800" y="1857375"/>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0">
                <a:solidFill>
                  <a:srgbClr val="000000"/>
                </a:solidFill>
                <a:latin typeface="Times New Roman"/>
                <a:ea typeface="Times New Roman"/>
                <a:cs typeface="Times New Roman"/>
              </a:defRPr>
            </a:pPr>
            <a:r>
              <a:rPr sz="3000" b="0">
                <a:solidFill>
                  <a:srgbClr val="000000"/>
                </a:solidFill>
                <a:latin typeface="Times New Roman"/>
                <a:ea typeface="Times New Roman"/>
                <a:cs typeface="Times New Roman"/>
              </a:rPr>
              <a:t>A working prototype, measured improvements</a:t>
            </a:r>
          </a:p>
          <a:p xmlns:a="http://schemas.openxmlformats.org/drawingml/2006/main">
            <a:pPr algn="l">
              <a:defRPr sz="3000" b="0">
                <a:solidFill>
                  <a:srgbClr val="000000"/>
                </a:solidFill>
                <a:latin typeface="Times New Roman"/>
                <a:ea typeface="Times New Roman"/>
                <a:cs typeface="Times New Roman"/>
              </a:defRPr>
            </a:pPr>
            <a:r>
              <a:rPr sz="3000" b="0">
                <a:solidFill>
                  <a:srgbClr val="000000"/>
                </a:solidFill>
                <a:latin typeface="Times New Roman"/>
                <a:ea typeface="Times New Roman"/>
                <a:cs typeface="Times New Roman"/>
              </a:rPr>
              <a:t>and the limits of generalization</a:t>
            </a:r>
          </a:p>
        </p:txBody>
      </p:sp>
      <p:sp>
        <p:nvSpPr>
          <p:cNvPr id="5" name="">
            <a:extLst xmlns:a="http://schemas.openxmlformats.org/drawingml/2006/main">
              <a:ext uri="{FF2B5EF4-FFF2-40B4-BE49-F238E27FC236}">
                <a16:creationId xmlns:a16="http://schemas.microsoft.com/office/drawing/2014/main" id="{E32F4C9F-D223-4F12-B9F3-F09D19638788}"/>
              </a:ext>
            </a:extLst>
          </p:cNvPr>
          <p:cNvSpPr>
            <a:spLocks xmlns:a="http://schemas.openxmlformats.org/drawingml/2006/main" noGrp="1"/>
          </p:cNvSpPr>
          <p:nvPr/>
        </p:nvSpPr>
        <p:spPr>
          <a:xfrm xmlns:a="http://schemas.openxmlformats.org/drawingml/2006/main">
            <a:off x="685800" y="34766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Efe Han Keleş · CS395 · Türk Telekom</a:t>
            </a:r>
          </a:p>
        </p:txBody>
      </p:sp>
      <p:sp>
        <p:nvSpPr>
          <p:cNvPr id="6" name="">
            <a:extLst xmlns:a="http://schemas.openxmlformats.org/drawingml/2006/main">
              <a:ext uri="{FF2B5EF4-FFF2-40B4-BE49-F238E27FC236}">
                <a16:creationId xmlns:a16="http://schemas.microsoft.com/office/drawing/2014/main" id="{CAE792F9-AA3F-40D8-B6B8-CCDA32BE8392}"/>
              </a:ext>
            </a:extLst>
          </p:cNvPr>
          <p:cNvSpPr>
            <a:spLocks xmlns:a="http://schemas.openxmlformats.org/drawingml/2006/main" noGrp="1"/>
          </p:cNvSpPr>
          <p:nvPr/>
        </p:nvSpPr>
        <p:spPr>
          <a:xfrm xmlns:a="http://schemas.openxmlformats.org/drawingml/2006/main">
            <a:off x="685800" y="41910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20 July–18 September 2026 · 40 approved internship days</a:t>
            </a:r>
          </a:p>
        </p:txBody>
      </p:sp>
      <p:sp>
        <p:nvSpPr>
          <p:cNvPr id="7" name="">
            <a:extLst xmlns:a="http://schemas.openxmlformats.org/drawingml/2006/main">
              <a:ext uri="{FF2B5EF4-FFF2-40B4-BE49-F238E27FC236}">
                <a16:creationId xmlns:a16="http://schemas.microsoft.com/office/drawing/2014/main" id="{4B17E73C-F663-46DD-9364-B67177707BC3}"/>
              </a:ext>
            </a:extLst>
          </p:cNvPr>
          <p:cNvSpPr>
            <a:spLocks xmlns:a="http://schemas.openxmlformats.org/drawingml/2006/main" noGrp="1"/>
          </p:cNvSpPr>
          <p:nvPr/>
        </p:nvSpPr>
        <p:spPr>
          <a:xfrm xmlns:a="http://schemas.openxmlformats.org/drawingml/2006/main">
            <a:off x="685800" y="4714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Supervisor: Önder Çelebi, Director</a:t>
            </a:r>
          </a:p>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Planning and Development Directorate</a:t>
            </a:r>
          </a:p>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Computer Science and Engineering · Sabancı University</a:t>
            </a:r>
          </a:p>
        </p:txBody>
      </p:sp>
      <p:sp>
        <p:nvSpPr>
          <p:cNvPr id="8" name="">
            <a:extLst xmlns:a="http://schemas.openxmlformats.org/drawingml/2006/main">
              <a:ext uri="{FF2B5EF4-FFF2-40B4-BE49-F238E27FC236}">
                <a16:creationId xmlns:a16="http://schemas.microsoft.com/office/drawing/2014/main" id="{D757C104-2083-40EC-907D-10165EB22B04}"/>
              </a:ext>
            </a:extLst>
          </p:cNvPr>
          <p:cNvSpPr>
            <a:spLocks xmlns:a="http://schemas.openxmlformats.org/drawingml/2006/main" noGrp="1"/>
          </p:cNvSpPr>
          <p:nvPr/>
        </p:nvSpPr>
        <p:spPr>
          <a:xfrm xmlns:a="http://schemas.openxmlformats.org/drawingml/2006/main">
            <a:off x="685800" y="58864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Submission date: [TO COMPLETE]</a:t>
            </a:r>
          </a:p>
        </p:txBody>
      </p:sp>
    </p:spTree>
    <p:extLst>
      <p:ext uri="{BB962C8B-B14F-4D97-AF65-F5344CB8AC3E}">
        <p14:creationId xmlns:p14="http://schemas.microsoft.com/office/powerpoint/2010/main" val="15026947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B1FD73-E9FC-4F6E-A583-F90962508AE3}"/>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2. Two tasks, two kinds of evidence</a:t>
            </a:r>
          </a:p>
        </p:txBody>
      </p:sp>
      <p:sp>
        <p:nvSpPr>
          <p:cNvPr id="2" name="">
            <a:extLst xmlns:a="http://schemas.openxmlformats.org/drawingml/2006/main">
              <a:ext uri="{FF2B5EF4-FFF2-40B4-BE49-F238E27FC236}">
                <a16:creationId xmlns:a16="http://schemas.microsoft.com/office/drawing/2014/main" id="{9666C466-2806-4802-BEAB-9BE1B0346622}"/>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Project record through 16 September 2026 · research prototype</a:t>
            </a:r>
          </a:p>
        </p:txBody>
      </p:sp>
      <p:sp>
        <p:nvSpPr>
          <p:cNvPr id="3" name="">
            <a:extLst xmlns:a="http://schemas.openxmlformats.org/drawingml/2006/main">
              <a:ext uri="{FF2B5EF4-FFF2-40B4-BE49-F238E27FC236}">
                <a16:creationId xmlns:a16="http://schemas.microsoft.com/office/drawing/2014/main" id="{F17CB899-C66A-4940-AF8D-35E303148F13}"/>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2</a:t>
            </a:r>
          </a:p>
        </p:txBody>
      </p:sp>
      <p:sp>
        <p:nvSpPr>
          <p:cNvPr id="4" name="">
            <a:extLst xmlns:a="http://schemas.openxmlformats.org/drawingml/2006/main">
              <a:ext uri="{FF2B5EF4-FFF2-40B4-BE49-F238E27FC236}">
                <a16:creationId xmlns:a16="http://schemas.microsoft.com/office/drawing/2014/main" id="{5A2FDC19-DA9E-43EB-9FB7-D2B0002749A0}"/>
              </a:ext>
            </a:extLst>
          </p:cNvPr>
          <p:cNvSpPr>
            <a:spLocks xmlns:a="http://schemas.openxmlformats.org/drawingml/2006/main" noGrp="1"/>
          </p:cNvSpPr>
          <p:nvPr/>
        </p:nvSpPr>
        <p:spPr>
          <a:xfrm xmlns:a="http://schemas.openxmlformats.org/drawingml/2006/main">
            <a:off x="685800" y="17621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Model1: Does this image contain AI-generation evidence?</a:t>
            </a:r>
          </a:p>
        </p:txBody>
      </p:sp>
      <p:sp>
        <p:nvSpPr>
          <p:cNvPr id="5" name="">
            <a:extLst xmlns:a="http://schemas.openxmlformats.org/drawingml/2006/main">
              <a:ext uri="{FF2B5EF4-FFF2-40B4-BE49-F238E27FC236}">
                <a16:creationId xmlns:a16="http://schemas.microsoft.com/office/drawing/2014/main" id="{69F3EDDE-E80E-4A8D-8F45-CE7532F789A6}"/>
              </a:ext>
            </a:extLst>
          </p:cNvPr>
          <p:cNvSpPr>
            <a:spLocks xmlns:a="http://schemas.openxmlformats.org/drawingml/2006/main" noGrp="1"/>
          </p:cNvSpPr>
          <p:nvPr/>
        </p:nvSpPr>
        <p:spPr>
          <a:xfrm xmlns:a="http://schemas.openxmlformats.org/drawingml/2006/main">
            <a:off x="685800" y="273367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False alert: a real photograph receives an AI warning.</a:t>
            </a:r>
          </a:p>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Miss: an AI image escapes detection.</a:t>
            </a:r>
          </a:p>
        </p:txBody>
      </p:sp>
      <p:sp>
        <p:nvSpPr>
          <p:cNvPr id="6" name="">
            <a:extLst xmlns:a="http://schemas.openxmlformats.org/drawingml/2006/main">
              <a:ext uri="{FF2B5EF4-FFF2-40B4-BE49-F238E27FC236}">
                <a16:creationId xmlns:a16="http://schemas.microsoft.com/office/drawing/2014/main" id="{51DF8A9F-BBE0-4174-B3DF-2EA8EDA03424}"/>
              </a:ext>
            </a:extLst>
          </p:cNvPr>
          <p:cNvSpPr>
            <a:spLocks xmlns:a="http://schemas.openxmlformats.org/drawingml/2006/main" noGrp="1"/>
          </p:cNvSpPr>
          <p:nvPr/>
        </p:nvSpPr>
        <p:spPr>
          <a:xfrm xmlns:a="http://schemas.openxmlformats.org/drawingml/2006/main">
            <a:off x="685800" y="4143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Model2: Where might a local AI edit be?</a:t>
            </a:r>
          </a:p>
        </p:txBody>
      </p:sp>
      <p:sp>
        <p:nvSpPr>
          <p:cNvPr id="7" name="">
            <a:extLst xmlns:a="http://schemas.openxmlformats.org/drawingml/2006/main">
              <a:ext uri="{FF2B5EF4-FFF2-40B4-BE49-F238E27FC236}">
                <a16:creationId xmlns:a16="http://schemas.microsoft.com/office/drawing/2014/main" id="{7CC63F3D-A3A5-498D-B171-F499E6A92525}"/>
              </a:ext>
            </a:extLst>
          </p:cNvPr>
          <p:cNvSpPr>
            <a:spLocks xmlns:a="http://schemas.openxmlformats.org/drawingml/2006/main" noGrp="1"/>
          </p:cNvSpPr>
          <p:nvPr/>
        </p:nvSpPr>
        <p:spPr>
          <a:xfrm xmlns:a="http://schemas.openxmlformats.org/drawingml/2006/main">
            <a:off x="685800" y="49530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A region map needs its own ground truth and controls.</a:t>
            </a:r>
          </a:p>
        </p:txBody>
      </p:sp>
    </p:spTree>
    <p:extLst>
      <p:ext uri="{BB962C8B-B14F-4D97-AF65-F5344CB8AC3E}">
        <p14:creationId xmlns:p14="http://schemas.microsoft.com/office/powerpoint/2010/main" val="15251893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DC72B5-93E4-448E-B264-3ADC979C34CE}"/>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3. Strong early scores did not transfer</a:t>
            </a:r>
          </a:p>
        </p:txBody>
      </p:sp>
      <p:sp>
        <p:nvSpPr>
          <p:cNvPr id="2" name="">
            <a:extLst xmlns:a="http://schemas.openxmlformats.org/drawingml/2006/main">
              <a:ext uri="{FF2B5EF4-FFF2-40B4-BE49-F238E27FC236}">
                <a16:creationId xmlns:a16="http://schemas.microsoft.com/office/drawing/2014/main" id="{2B765D34-B457-4553-AE39-90DE26DF7F49}"/>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Project record through 16 September 2026 · research prototype</a:t>
            </a:r>
          </a:p>
        </p:txBody>
      </p:sp>
      <p:sp>
        <p:nvSpPr>
          <p:cNvPr id="3" name="">
            <a:extLst xmlns:a="http://schemas.openxmlformats.org/drawingml/2006/main">
              <a:ext uri="{FF2B5EF4-FFF2-40B4-BE49-F238E27FC236}">
                <a16:creationId xmlns:a16="http://schemas.microsoft.com/office/drawing/2014/main" id="{C6010A5A-6CC3-4CBE-9935-45C771E2F1A9}"/>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3</a:t>
            </a:r>
          </a:p>
        </p:txBody>
      </p:sp>
      <p:sp>
        <p:nvSpPr>
          <p:cNvPr id="4" name="">
            <a:extLst xmlns:a="http://schemas.openxmlformats.org/drawingml/2006/main">
              <a:ext uri="{FF2B5EF4-FFF2-40B4-BE49-F238E27FC236}">
                <a16:creationId xmlns:a16="http://schemas.microsoft.com/office/drawing/2014/main" id="{84F1559D-9E03-45F3-ACD4-794E0BE434B8}"/>
              </a:ext>
            </a:extLst>
          </p:cNvPr>
          <p:cNvSpPr>
            <a:spLocks xmlns:a="http://schemas.openxmlformats.org/drawingml/2006/main" noGrp="1"/>
          </p:cNvSpPr>
          <p:nvPr/>
        </p:nvSpPr>
        <p:spPr>
          <a:xfrm xmlns:a="http://schemas.openxmlformats.org/drawingml/2006/main">
            <a:off x="685800" y="1562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Table 1 shows why a familiar test score was only a starting point.</a:t>
            </a:r>
          </a:p>
        </p:txBody>
      </p:sp>
      <p:sp>
        <p:nvSpPr>
          <p:cNvPr id="5" name="">
            <a:extLst xmlns:a="http://schemas.openxmlformats.org/drawingml/2006/main">
              <a:ext uri="{FF2B5EF4-FFF2-40B4-BE49-F238E27FC236}">
                <a16:creationId xmlns:a16="http://schemas.microsoft.com/office/drawing/2014/main" id="{55C5AF69-512A-469E-A38A-C10F61F04CA1}"/>
              </a:ext>
            </a:extLst>
          </p:cNvPr>
          <p:cNvSpPr>
            <a:spLocks xmlns:a="http://schemas.openxmlformats.org/drawingml/2006/main" noGrp="1"/>
          </p:cNvSpPr>
          <p:nvPr/>
        </p:nvSpPr>
        <p:spPr>
          <a:xfrm xmlns:a="http://schemas.openxmlformats.org/drawingml/2006/main">
            <a:off x="685800" y="21907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Table 1. Early historical accuracy comparisons.</a:t>
            </a:r>
          </a:p>
        </p:txBody>
      </p:sp>
      <p:graphicFrame>
        <p:nvGraphicFramePr>
          <p:cNvPr id="13" name=""/>
          <p:cNvGraphicFramePr/>
          <p:nvPr/>
        </p:nvGraphicFramePr>
        <p:xfrm>
          <a:off xmlns:a="http://schemas.openxmlformats.org/drawingml/2006/main" x="685800" y="2809875"/>
          <a:ext xmlns:a="http://schemas.openxmlformats.org/drawingml/2006/main" cx="10820400" cy="2000250"/>
        </p:xfrm>
        <a:graphic xmlns:a="http://schemas.openxmlformats.org/drawingml/2006/main">
          <a:graphicData uri="http://schemas.openxmlformats.org/drawingml/2006/table">
            <a:tbl>
              <a:tblPr/>
              <a:tblGrid>
                <a:gridCol w="3714750"/>
                <a:gridCol w="3238500"/>
                <a:gridCol w="3867150"/>
              </a:tblGrid>
              <a:tr h="666750">
                <a:tc>
                  <a:txBody>
                    <a:bodyPr>
                      <a:noAutofit/>
                    </a:bodyPr>
                    <a:lstStyle/>
                    <a:p>
                      <a:pPr algn="l"/>
                      <a:r>
                        <a:rPr sz="2025" b="1">
                          <a:solidFill>
                            <a:srgbClr val="000000"/>
                          </a:solidFill>
                          <a:latin typeface="Times New Roman"/>
                          <a:ea typeface="Times New Roman"/>
                          <a:cs typeface="Times New Roman"/>
                        </a:rPr>
                        <a:t>Model</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Familiar data</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External collection</a:t>
                      </a:r>
                    </a:p>
                  </a:txBody>
                  <a:tcPr marL="91440" marR="91440" marT="45720" marB="45720">
                    <a:solidFill>
                      <a:srgbClr val="EEEEEE"/>
                    </a:solidFill>
                  </a:tcPr>
                </a:tc>
              </a:tr>
              <a:tr h="666750">
                <a:tc>
                  <a:txBody>
                    <a:bodyPr>
                      <a:noAutofit/>
                    </a:bodyPr>
                    <a:lstStyle/>
                    <a:p>
                      <a:pPr algn="l"/>
                      <a:r>
                        <a:rPr sz="2025" b="0">
                          <a:solidFill>
                            <a:srgbClr val="000000"/>
                          </a:solidFill>
                          <a:latin typeface="Times New Roman"/>
                          <a:ea typeface="Times New Roman"/>
                          <a:cs typeface="Times New Roman"/>
                        </a:rPr>
                        <a:t>Small CNN</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96.75%</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77.1%</a:t>
                      </a:r>
                    </a:p>
                  </a:txBody>
                  <a:tcPr marL="91440" marR="91440" marT="45720" marB="45720">
                    <a:solidFill>
                      <a:srgbClr val="FFFFFF"/>
                    </a:solidFill>
                  </a:tcPr>
                </a:tc>
              </a:tr>
              <a:tr h="666750">
                <a:tc>
                  <a:txBody>
                    <a:bodyPr>
                      <a:noAutofit/>
                    </a:bodyPr>
                    <a:lstStyle/>
                    <a:p>
                      <a:pPr algn="l"/>
                      <a:r>
                        <a:rPr sz="2025" b="0">
                          <a:solidFill>
                            <a:srgbClr val="000000"/>
                          </a:solidFill>
                          <a:latin typeface="Times New Roman"/>
                          <a:ea typeface="Times New Roman"/>
                          <a:cs typeface="Times New Roman"/>
                        </a:rPr>
                        <a:t>ResNet-18</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97.66%</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25.2%</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FA077CE-F5DD-4934-85DF-DB2481CD4D62}"/>
              </a:ext>
            </a:extLst>
          </p:cNvPr>
          <p:cNvSpPr>
            <a:spLocks xmlns:a="http://schemas.openxmlformats.org/drawingml/2006/main" noGrp="1"/>
          </p:cNvSpPr>
          <p:nvPr/>
        </p:nvSpPr>
        <p:spPr>
          <a:xfrm xmlns:a="http://schemas.openxmlformats.org/drawingml/2006/main">
            <a:off x="685800" y="5143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Table 1 motivated controls for resolution, source and labels.</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Later audits also qualified the external benchmark.</a:t>
            </a:r>
          </a:p>
        </p:txBody>
      </p:sp>
    </p:spTree>
    <p:extLst>
      <p:ext uri="{BB962C8B-B14F-4D97-AF65-F5344CB8AC3E}">
        <p14:creationId xmlns:p14="http://schemas.microsoft.com/office/powerpoint/2010/main" val="16872537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F5EA53-E40B-4F93-A514-7485E71FBCF4}"/>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4. Measurement had to be repaired</a:t>
            </a:r>
          </a:p>
        </p:txBody>
      </p:sp>
      <p:sp>
        <p:nvSpPr>
          <p:cNvPr id="2" name="">
            <a:extLst xmlns:a="http://schemas.openxmlformats.org/drawingml/2006/main">
              <a:ext uri="{FF2B5EF4-FFF2-40B4-BE49-F238E27FC236}">
                <a16:creationId xmlns:a16="http://schemas.microsoft.com/office/drawing/2014/main" id="{24DA1195-055D-4BD2-BB92-3FE57141994D}"/>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Project record through 16 September 2026 · research prototype</a:t>
            </a:r>
          </a:p>
        </p:txBody>
      </p:sp>
      <p:sp>
        <p:nvSpPr>
          <p:cNvPr id="3" name="">
            <a:extLst xmlns:a="http://schemas.openxmlformats.org/drawingml/2006/main">
              <a:ext uri="{FF2B5EF4-FFF2-40B4-BE49-F238E27FC236}">
                <a16:creationId xmlns:a16="http://schemas.microsoft.com/office/drawing/2014/main" id="{31D6CE10-2AB2-41C7-A655-D36620D1B87D}"/>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4</a:t>
            </a:r>
          </a:p>
        </p:txBody>
      </p:sp>
      <p:sp>
        <p:nvSpPr>
          <p:cNvPr id="4" name="">
            <a:extLst xmlns:a="http://schemas.openxmlformats.org/drawingml/2006/main">
              <a:ext uri="{FF2B5EF4-FFF2-40B4-BE49-F238E27FC236}">
                <a16:creationId xmlns:a16="http://schemas.microsoft.com/office/drawing/2014/main" id="{BFA427D0-ADC1-40B6-B35F-CCA95CAFF4D8}"/>
              </a:ext>
            </a:extLst>
          </p:cNvPr>
          <p:cNvSpPr>
            <a:spLocks xmlns:a="http://schemas.openxmlformats.org/drawingml/2006/main" noGrp="1"/>
          </p:cNvSpPr>
          <p:nvPr/>
        </p:nvSpPr>
        <p:spPr>
          <a:xfrm xmlns:a="http://schemas.openxmlformats.org/drawingml/2006/main">
            <a:off x="685800" y="168592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Reversed labels</a:t>
            </a:r>
          </a:p>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Explicit source mapping and reruns</a:t>
            </a:r>
          </a:p>
        </p:txBody>
      </p:sp>
      <p:sp>
        <p:nvSpPr>
          <p:cNvPr id="5" name="">
            <a:extLst xmlns:a="http://schemas.openxmlformats.org/drawingml/2006/main">
              <a:ext uri="{FF2B5EF4-FFF2-40B4-BE49-F238E27FC236}">
                <a16:creationId xmlns:a16="http://schemas.microsoft.com/office/drawing/2014/main" id="{03DD8741-0B21-4C8D-BC56-1A9E17679F24}"/>
              </a:ext>
            </a:extLst>
          </p:cNvPr>
          <p:cNvSpPr>
            <a:spLocks xmlns:a="http://schemas.openxmlformats.org/drawingml/2006/main" noGrp="1"/>
          </p:cNvSpPr>
          <p:nvPr/>
        </p:nvSpPr>
        <p:spPr>
          <a:xfrm xmlns:a="http://schemas.openxmlformats.org/drawingml/2006/main">
            <a:off x="6457950" y="168592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Evaluation-driven threshold</a:t>
            </a:r>
          </a:p>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Calibration-only selection</a:t>
            </a:r>
          </a:p>
        </p:txBody>
      </p:sp>
      <p:sp>
        <p:nvSpPr>
          <p:cNvPr id="6" name="">
            <a:extLst xmlns:a="http://schemas.openxmlformats.org/drawingml/2006/main">
              <a:ext uri="{FF2B5EF4-FFF2-40B4-BE49-F238E27FC236}">
                <a16:creationId xmlns:a16="http://schemas.microsoft.com/office/drawing/2014/main" id="{A6898764-39E2-47FE-9830-BB2B4C0FC4DD}"/>
              </a:ext>
            </a:extLst>
          </p:cNvPr>
          <p:cNvSpPr>
            <a:spLocks xmlns:a="http://schemas.openxmlformats.org/drawingml/2006/main" noGrp="1"/>
          </p:cNvSpPr>
          <p:nvPr/>
        </p:nvSpPr>
        <p:spPr>
          <a:xfrm xmlns:a="http://schemas.openxmlformats.org/drawingml/2006/main">
            <a:off x="685800" y="37147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Training learns parameters. Calibration chooses the rule.</a:t>
            </a:r>
          </a:p>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Development reveals weaknesses. A final test stays independent.</a:t>
            </a:r>
          </a:p>
        </p:txBody>
      </p:sp>
      <p:sp>
        <p:nvSpPr>
          <p:cNvPr id="7" name="">
            <a:extLst xmlns:a="http://schemas.openxmlformats.org/drawingml/2006/main">
              <a:ext uri="{FF2B5EF4-FFF2-40B4-BE49-F238E27FC236}">
                <a16:creationId xmlns:a16="http://schemas.microsoft.com/office/drawing/2014/main" id="{81865CCB-5A66-4FC4-8D2A-0BDA2D71BED6}"/>
              </a:ext>
            </a:extLst>
          </p:cNvPr>
          <p:cNvSpPr>
            <a:spLocks xmlns:a="http://schemas.openxmlformats.org/drawingml/2006/main" noGrp="1"/>
          </p:cNvSpPr>
          <p:nvPr/>
        </p:nvSpPr>
        <p:spPr>
          <a:xfrm xmlns:a="http://schemas.openxmlformats.org/drawingml/2006/main">
            <a:off x="685800" y="51435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These roles must remain separate even when files differ.</a:t>
            </a:r>
          </a:p>
        </p:txBody>
      </p:sp>
    </p:spTree>
    <p:extLst>
      <p:ext uri="{BB962C8B-B14F-4D97-AF65-F5344CB8AC3E}">
        <p14:creationId xmlns:p14="http://schemas.microsoft.com/office/powerpoint/2010/main" val="10928878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5F6BF6-2E15-4A71-8FD0-A97493C1B503}"/>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5. The system combines existing representations</a:t>
            </a:r>
          </a:p>
        </p:txBody>
      </p:sp>
      <p:sp>
        <p:nvSpPr>
          <p:cNvPr id="2" name="">
            <a:extLst xmlns:a="http://schemas.openxmlformats.org/drawingml/2006/main">
              <a:ext uri="{FF2B5EF4-FFF2-40B4-BE49-F238E27FC236}">
                <a16:creationId xmlns:a16="http://schemas.microsoft.com/office/drawing/2014/main" id="{9C8502EB-A7C5-40F0-99BA-ED0CFD111461}"/>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Project record through 16 September 2026 · research prototype</a:t>
            </a:r>
          </a:p>
        </p:txBody>
      </p:sp>
      <p:sp>
        <p:nvSpPr>
          <p:cNvPr id="3" name="">
            <a:extLst xmlns:a="http://schemas.openxmlformats.org/drawingml/2006/main">
              <a:ext uri="{FF2B5EF4-FFF2-40B4-BE49-F238E27FC236}">
                <a16:creationId xmlns:a16="http://schemas.microsoft.com/office/drawing/2014/main" id="{B0B1D7B0-ACBA-4B93-B907-FF76AB65AAF4}"/>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5</a:t>
            </a:r>
          </a:p>
        </p:txBody>
      </p:sp>
      <p:sp>
        <p:nvSpPr>
          <p:cNvPr id="4" name="">
            <a:extLst xmlns:a="http://schemas.openxmlformats.org/drawingml/2006/main">
              <a:ext uri="{FF2B5EF4-FFF2-40B4-BE49-F238E27FC236}">
                <a16:creationId xmlns:a16="http://schemas.microsoft.com/office/drawing/2014/main" id="{27FADB82-9842-4841-BC46-E25629BA530E}"/>
              </a:ext>
            </a:extLst>
          </p:cNvPr>
          <p:cNvSpPr>
            <a:spLocks xmlns:a="http://schemas.openxmlformats.org/drawingml/2006/main" noGrp="1"/>
          </p:cNvSpPr>
          <p:nvPr/>
        </p:nvSpPr>
        <p:spPr>
          <a:xfrm xmlns:a="http://schemas.openxmlformats.org/drawingml/2006/main">
            <a:off x="685800" y="1714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Pretrained visual features</a:t>
            </a:r>
          </a:p>
        </p:txBody>
      </p:sp>
      <p:sp>
        <p:nvSpPr>
          <p:cNvPr id="5" name="">
            <a:extLst xmlns:a="http://schemas.openxmlformats.org/drawingml/2006/main">
              <a:ext uri="{FF2B5EF4-FFF2-40B4-BE49-F238E27FC236}">
                <a16:creationId xmlns:a16="http://schemas.microsoft.com/office/drawing/2014/main" id="{7A2511BF-49D5-467D-83C8-687AF80BDD6C}"/>
              </a:ext>
            </a:extLst>
          </p:cNvPr>
          <p:cNvSpPr>
            <a:spLocks xmlns:a="http://schemas.openxmlformats.org/drawingml/2006/main" noGrp="1"/>
          </p:cNvSpPr>
          <p:nvPr/>
        </p:nvSpPr>
        <p:spPr>
          <a:xfrm xmlns:a="http://schemas.openxmlformats.org/drawingml/2006/main">
            <a:off x="685800" y="24098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DINOv2 · CLIP · DEAR</a:t>
            </a:r>
          </a:p>
        </p:txBody>
      </p:sp>
      <p:sp>
        <p:nvSpPr>
          <p:cNvPr id="6" name="">
            <a:extLst xmlns:a="http://schemas.openxmlformats.org/drawingml/2006/main">
              <a:ext uri="{FF2B5EF4-FFF2-40B4-BE49-F238E27FC236}">
                <a16:creationId xmlns:a16="http://schemas.microsoft.com/office/drawing/2014/main" id="{785E230F-52F2-4C09-A352-91749C1A238D}"/>
              </a:ext>
            </a:extLst>
          </p:cNvPr>
          <p:cNvSpPr>
            <a:spLocks xmlns:a="http://schemas.openxmlformats.org/drawingml/2006/main" noGrp="1"/>
          </p:cNvSpPr>
          <p:nvPr/>
        </p:nvSpPr>
        <p:spPr>
          <a:xfrm xmlns:a="http://schemas.openxmlformats.org/drawingml/2006/main">
            <a:off x="685800" y="33337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Project training: 12,269 images</a:t>
            </a:r>
          </a:p>
        </p:txBody>
      </p:sp>
      <p:sp>
        <p:nvSpPr>
          <p:cNvPr id="7" name="">
            <a:extLst xmlns:a="http://schemas.openxmlformats.org/drawingml/2006/main">
              <a:ext uri="{FF2B5EF4-FFF2-40B4-BE49-F238E27FC236}">
                <a16:creationId xmlns:a16="http://schemas.microsoft.com/office/drawing/2014/main" id="{A27524A2-2819-415F-89FF-62F1AA8AD135}"/>
              </a:ext>
            </a:extLst>
          </p:cNvPr>
          <p:cNvSpPr>
            <a:spLocks xmlns:a="http://schemas.openxmlformats.org/drawingml/2006/main" noGrp="1"/>
          </p:cNvSpPr>
          <p:nvPr/>
        </p:nvSpPr>
        <p:spPr>
          <a:xfrm xmlns:a="http://schemas.openxmlformats.org/drawingml/2006/main">
            <a:off x="685800" y="40290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Four processing conditions: 49,076 training views</a:t>
            </a:r>
          </a:p>
        </p:txBody>
      </p:sp>
      <p:sp>
        <p:nvSpPr>
          <p:cNvPr id="8" name="">
            <a:extLst xmlns:a="http://schemas.openxmlformats.org/drawingml/2006/main">
              <a:ext uri="{FF2B5EF4-FFF2-40B4-BE49-F238E27FC236}">
                <a16:creationId xmlns:a16="http://schemas.microsoft.com/office/drawing/2014/main" id="{22DEB9E3-CCD4-4DE9-A24F-F97CFC2694F0}"/>
              </a:ext>
            </a:extLst>
          </p:cNvPr>
          <p:cNvSpPr>
            <a:spLocks xmlns:a="http://schemas.openxmlformats.org/drawingml/2006/main" noGrp="1"/>
          </p:cNvSpPr>
          <p:nvPr/>
        </p:nvSpPr>
        <p:spPr>
          <a:xfrm xmlns:a="http://schemas.openxmlformats.org/drawingml/2006/main">
            <a:off x="685800" y="519112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Record the question, measure errors and decide the next step.</a:t>
            </a:r>
          </a:p>
        </p:txBody>
      </p:sp>
    </p:spTree>
    <p:extLst>
      <p:ext uri="{BB962C8B-B14F-4D97-AF65-F5344CB8AC3E}">
        <p14:creationId xmlns:p14="http://schemas.microsoft.com/office/powerpoint/2010/main" val="18174549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55C643-0CC8-4AEA-B341-3F1A4B9C7244}"/>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6. Real-image false alerts fell substantially</a:t>
            </a:r>
          </a:p>
        </p:txBody>
      </p:sp>
      <p:sp>
        <p:nvSpPr>
          <p:cNvPr id="2" name="">
            <a:extLst xmlns:a="http://schemas.openxmlformats.org/drawingml/2006/main">
              <a:ext uri="{FF2B5EF4-FFF2-40B4-BE49-F238E27FC236}">
                <a16:creationId xmlns:a16="http://schemas.microsoft.com/office/drawing/2014/main" id="{38BDFC3C-CD73-4C77-BE59-C761A551EF18}"/>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Project record through 16 September 2026 · research prototype</a:t>
            </a:r>
          </a:p>
        </p:txBody>
      </p:sp>
      <p:sp>
        <p:nvSpPr>
          <p:cNvPr id="3" name="">
            <a:extLst xmlns:a="http://schemas.openxmlformats.org/drawingml/2006/main">
              <a:ext uri="{FF2B5EF4-FFF2-40B4-BE49-F238E27FC236}">
                <a16:creationId xmlns:a16="http://schemas.microsoft.com/office/drawing/2014/main" id="{C590CA48-BC5A-43E4-B61E-137104A5DF9C}"/>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6</a:t>
            </a:r>
          </a:p>
        </p:txBody>
      </p:sp>
      <p:sp>
        <p:nvSpPr>
          <p:cNvPr id="4" name="">
            <a:extLst xmlns:a="http://schemas.openxmlformats.org/drawingml/2006/main">
              <a:ext uri="{FF2B5EF4-FFF2-40B4-BE49-F238E27FC236}">
                <a16:creationId xmlns:a16="http://schemas.microsoft.com/office/drawing/2014/main" id="{5F840519-2677-426F-902D-F6AFE0C6CB1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Figure 1 compares the same 160 real images per condition.</a:t>
            </a:r>
          </a:p>
        </p:txBody>
      </p:sp>
      <p:graphicFrame>
        <p:nvGraphicFramePr>
          <p:cNvPr id="12" name="Chart"/>
          <p:cNvGraphicFramePr/>
          <p:nvPr/>
        </p:nvGraphicFramePr>
        <p:xfrm>
          <a:off xmlns:a="http://schemas.openxmlformats.org/drawingml/2006/main" x="1143000" y="2057400"/>
          <a:ext xmlns:a="http://schemas.openxmlformats.org/drawingml/2006/main" cx="9906000" cy="3143250"/>
        </p:xfrm>
        <a:graphic xmlns:a="http://schemas.openxmlformats.org/drawingml/2006/main">
          <a:graphicData uri="http://schemas.openxmlformats.org/drawingml/2006/chart">
            <c:chart xmlns:r="http://schemas.openxmlformats.org/officeDocument/2006/relationships" xmlns:c="http://schemas.openxmlformats.org/drawingml/2006/chart" r:id="R1039e8fab6c54c5c"/>
          </a:graphicData>
        </a:graphic>
      </p:graphicFrame>
      <p:sp>
        <p:nvSpPr>
          <p:cNvPr id="6" name="">
            <a:extLst xmlns:a="http://schemas.openxmlformats.org/drawingml/2006/main">
              <a:ext uri="{FF2B5EF4-FFF2-40B4-BE49-F238E27FC236}">
                <a16:creationId xmlns:a16="http://schemas.microsoft.com/office/drawing/2014/main" id="{B7EDE6D1-3542-4701-9182-6694B5EDC5A6}"/>
              </a:ext>
            </a:extLst>
          </p:cNvPr>
          <p:cNvSpPr>
            <a:spLocks xmlns:a="http://schemas.openxmlformats.org/drawingml/2006/main" noGrp="1"/>
          </p:cNvSpPr>
          <p:nvPr/>
        </p:nvSpPr>
        <p:spPr>
          <a:xfrm xmlns:a="http://schemas.openxmlformats.org/drawingml/2006/main">
            <a:off x="685800" y="53530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Figure 1. False alerts out of 160 real development images.</a:t>
            </a:r>
          </a:p>
        </p:txBody>
      </p:sp>
      <p:sp>
        <p:nvSpPr>
          <p:cNvPr id="7" name="">
            <a:extLst xmlns:a="http://schemas.openxmlformats.org/drawingml/2006/main">
              <a:ext uri="{FF2B5EF4-FFF2-40B4-BE49-F238E27FC236}">
                <a16:creationId xmlns:a16="http://schemas.microsoft.com/office/drawing/2014/main" id="{F8512ED6-BBFB-4486-802A-7A304EE71487}"/>
              </a:ext>
            </a:extLst>
          </p:cNvPr>
          <p:cNvSpPr>
            <a:spLocks xmlns:a="http://schemas.openxmlformats.org/drawingml/2006/main" noGrp="1"/>
          </p:cNvSpPr>
          <p:nvPr/>
        </p:nvSpPr>
        <p:spPr>
          <a:xfrm xmlns:a="http://schemas.openxmlformats.org/drawingml/2006/main">
            <a:off x="685800" y="58483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Reused development data · E92 AI detection: 159/160 in each view</a:t>
            </a:r>
          </a:p>
        </p:txBody>
      </p:sp>
    </p:spTree>
    <p:extLst>
      <p:ext uri="{BB962C8B-B14F-4D97-AF65-F5344CB8AC3E}">
        <p14:creationId xmlns:p14="http://schemas.microsoft.com/office/powerpoint/2010/main" val="12202649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4FF211-F8DE-4752-9918-93A04ECCE501}"/>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7. 20/20 checks did not mean full acceptance</a:t>
            </a:r>
          </a:p>
        </p:txBody>
      </p:sp>
      <p:sp>
        <p:nvSpPr>
          <p:cNvPr id="2" name="">
            <a:extLst xmlns:a="http://schemas.openxmlformats.org/drawingml/2006/main">
              <a:ext uri="{FF2B5EF4-FFF2-40B4-BE49-F238E27FC236}">
                <a16:creationId xmlns:a16="http://schemas.microsoft.com/office/drawing/2014/main" id="{C949A1BA-473F-4F4A-BA24-DF7136AD524E}"/>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Project record through 16 September 2026 · research prototype</a:t>
            </a:r>
          </a:p>
        </p:txBody>
      </p:sp>
      <p:sp>
        <p:nvSpPr>
          <p:cNvPr id="3" name="">
            <a:extLst xmlns:a="http://schemas.openxmlformats.org/drawingml/2006/main">
              <a:ext uri="{FF2B5EF4-FFF2-40B4-BE49-F238E27FC236}">
                <a16:creationId xmlns:a16="http://schemas.microsoft.com/office/drawing/2014/main" id="{013FC00E-B61B-454C-BA60-7A5830F29FEE}"/>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7</a:t>
            </a:r>
          </a:p>
        </p:txBody>
      </p:sp>
      <p:sp>
        <p:nvSpPr>
          <p:cNvPr id="4" name="">
            <a:extLst xmlns:a="http://schemas.openxmlformats.org/drawingml/2006/main">
              <a:ext uri="{FF2B5EF4-FFF2-40B4-BE49-F238E27FC236}">
                <a16:creationId xmlns:a16="http://schemas.microsoft.com/office/drawing/2014/main" id="{268589A3-9BB3-4A0B-B14E-FA071E6BF3DE}"/>
              </a:ext>
            </a:extLst>
          </p:cNvPr>
          <p:cNvSpPr>
            <a:spLocks xmlns:a="http://schemas.openxmlformats.org/drawingml/2006/main" noGrp="1"/>
          </p:cNvSpPr>
          <p:nvPr/>
        </p:nvSpPr>
        <p:spPr>
          <a:xfrm xmlns:a="http://schemas.openxmlformats.org/drawingml/2006/main">
            <a:off x="685800" y="15240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Table 2 separates numeric checks from full acceptance.</a:t>
            </a:r>
          </a:p>
        </p:txBody>
      </p:sp>
      <p:sp>
        <p:nvSpPr>
          <p:cNvPr id="5" name="">
            <a:extLst xmlns:a="http://schemas.openxmlformats.org/drawingml/2006/main">
              <a:ext uri="{FF2B5EF4-FFF2-40B4-BE49-F238E27FC236}">
                <a16:creationId xmlns:a16="http://schemas.microsoft.com/office/drawing/2014/main" id="{A517B1BD-A1D7-4553-BA9E-3265A7CF41C1}"/>
              </a:ext>
            </a:extLst>
          </p:cNvPr>
          <p:cNvSpPr>
            <a:spLocks xmlns:a="http://schemas.openxmlformats.org/drawingml/2006/main" noGrp="1"/>
          </p:cNvSpPr>
          <p:nvPr/>
        </p:nvSpPr>
        <p:spPr>
          <a:xfrm xmlns:a="http://schemas.openxmlformats.org/drawingml/2006/main">
            <a:off x="685800" y="2238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Table 2. Two distinct acceptance questions.</a:t>
            </a:r>
          </a:p>
        </p:txBody>
      </p:sp>
      <p:graphicFrame>
        <p:nvGraphicFramePr>
          <p:cNvPr id="13" name=""/>
          <p:cNvGraphicFramePr/>
          <p:nvPr/>
        </p:nvGraphicFramePr>
        <p:xfrm>
          <a:off xmlns:a="http://schemas.openxmlformats.org/drawingml/2006/main" x="685800" y="2857500"/>
          <a:ext xmlns:a="http://schemas.openxmlformats.org/drawingml/2006/main" cx="10820400" cy="1952625"/>
        </p:xfrm>
        <a:graphic xmlns:a="http://schemas.openxmlformats.org/drawingml/2006/main">
          <a:graphicData uri="http://schemas.openxmlformats.org/drawingml/2006/table">
            <a:tbl>
              <a:tblPr/>
              <a:tblGrid>
                <a:gridCol w="5619750"/>
                <a:gridCol w="5200650"/>
              </a:tblGrid>
              <a:tr h="650875">
                <a:tc>
                  <a:txBody>
                    <a:bodyPr>
                      <a:noAutofit/>
                    </a:bodyPr>
                    <a:lstStyle/>
                    <a:p>
                      <a:pPr algn="l"/>
                      <a:r>
                        <a:rPr sz="2025" b="1">
                          <a:solidFill>
                            <a:srgbClr val="000000"/>
                          </a:solidFill>
                          <a:latin typeface="Times New Roman"/>
                          <a:ea typeface="Times New Roman"/>
                          <a:cs typeface="Times New Roman"/>
                        </a:rPr>
                        <a:t>Question</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E92 outcome</a:t>
                      </a:r>
                    </a:p>
                  </a:txBody>
                  <a:tcPr marL="91440" marR="91440" marT="45720" marB="45720">
                    <a:solidFill>
                      <a:srgbClr val="EEEEEE"/>
                    </a:solidFill>
                  </a:tcPr>
                </a:tc>
              </a:tr>
              <a:tr h="650875">
                <a:tc>
                  <a:txBody>
                    <a:bodyPr>
                      <a:noAutofit/>
                    </a:bodyPr>
                    <a:lstStyle/>
                    <a:p>
                      <a:pPr algn="l"/>
                      <a:r>
                        <a:rPr sz="2025" b="0">
                          <a:solidFill>
                            <a:srgbClr val="000000"/>
                          </a:solidFill>
                          <a:latin typeface="Times New Roman"/>
                          <a:ea typeface="Times New Roman"/>
                          <a:cs typeface="Times New Roman"/>
                        </a:rPr>
                        <a:t>Numerical development criteria</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20/20 passed</a:t>
                      </a:r>
                    </a:p>
                  </a:txBody>
                  <a:tcPr marL="91440" marR="91440" marT="45720" marB="45720">
                    <a:solidFill>
                      <a:srgbClr val="FFFFFF"/>
                    </a:solidFill>
                  </a:tcPr>
                </a:tc>
              </a:tr>
              <a:tr h="650875">
                <a:tc>
                  <a:txBody>
                    <a:bodyPr>
                      <a:noAutofit/>
                    </a:bodyPr>
                    <a:lstStyle/>
                    <a:p>
                      <a:pPr algn="l"/>
                      <a:r>
                        <a:rPr sz="2025" b="0">
                          <a:solidFill>
                            <a:srgbClr val="000000"/>
                          </a:solidFill>
                          <a:latin typeface="Times New Roman"/>
                          <a:ea typeface="Times New Roman"/>
                          <a:cs typeface="Times New Roman"/>
                        </a:rPr>
                        <a:t>No newly missed E43-detected AI image</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Failed: one original AI image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34C855C-E24B-4DBE-9AC1-DB229D0AEFE1}"/>
              </a:ext>
            </a:extLst>
          </p:cNvPr>
          <p:cNvSpPr>
            <a:spLocks xmlns:a="http://schemas.openxmlformats.org/drawingml/2006/main" noGrp="1"/>
          </p:cNvSpPr>
          <p:nvPr/>
        </p:nvSpPr>
        <p:spPr>
          <a:xfrm xmlns:a="http://schemas.openxmlformats.org/drawingml/2006/main">
            <a:off x="685800" y="5191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Table 2 explains the limit: better totals can hide a new error.</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The checks were correlated and were not 20 independent datasets.</a:t>
            </a:r>
          </a:p>
        </p:txBody>
      </p:sp>
    </p:spTree>
    <p:extLst>
      <p:ext uri="{BB962C8B-B14F-4D97-AF65-F5344CB8AC3E}">
        <p14:creationId xmlns:p14="http://schemas.microsoft.com/office/powerpoint/2010/main" val="125486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5DBEF6-B886-437E-AF91-F00698A65F57}"/>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8. The displayed score is not a probability</a:t>
            </a:r>
          </a:p>
        </p:txBody>
      </p:sp>
      <p:sp>
        <p:nvSpPr>
          <p:cNvPr id="2" name="">
            <a:extLst xmlns:a="http://schemas.openxmlformats.org/drawingml/2006/main">
              <a:ext uri="{FF2B5EF4-FFF2-40B4-BE49-F238E27FC236}">
                <a16:creationId xmlns:a16="http://schemas.microsoft.com/office/drawing/2014/main" id="{AC4F174D-188B-42AC-8043-DAD7DFFFB2FA}"/>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Project record through 16 September 2026 · research prototype</a:t>
            </a:r>
          </a:p>
        </p:txBody>
      </p:sp>
      <p:sp>
        <p:nvSpPr>
          <p:cNvPr id="3" name="">
            <a:extLst xmlns:a="http://schemas.openxmlformats.org/drawingml/2006/main">
              <a:ext uri="{FF2B5EF4-FFF2-40B4-BE49-F238E27FC236}">
                <a16:creationId xmlns:a16="http://schemas.microsoft.com/office/drawing/2014/main" id="{B5E89009-9FF9-4060-ABB9-0672FDC90A69}"/>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8</a:t>
            </a:r>
          </a:p>
        </p:txBody>
      </p:sp>
      <p:sp>
        <p:nvSpPr>
          <p:cNvPr id="4" name="">
            <a:extLst xmlns:a="http://schemas.openxmlformats.org/drawingml/2006/main">
              <a:ext uri="{FF2B5EF4-FFF2-40B4-BE49-F238E27FC236}">
                <a16:creationId xmlns:a16="http://schemas.microsoft.com/office/drawing/2014/main" id="{F8A28C06-F5F9-4F4B-9D73-92AB6E6C6F9B}"/>
              </a:ext>
            </a:extLst>
          </p:cNvPr>
          <p:cNvSpPr>
            <a:spLocks xmlns:a="http://schemas.openxmlformats.org/drawingml/2006/main" noGrp="1"/>
          </p:cNvSpPr>
          <p:nvPr/>
        </p:nvSpPr>
        <p:spPr>
          <a:xfrm xmlns:a="http://schemas.openxmlformats.org/drawingml/2006/main">
            <a:off x="685800" y="15144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Table 3 uses score cuts, not authenticity probabilities.</a:t>
            </a:r>
          </a:p>
        </p:txBody>
      </p:sp>
      <p:sp>
        <p:nvSpPr>
          <p:cNvPr id="5" name="">
            <a:extLst xmlns:a="http://schemas.openxmlformats.org/drawingml/2006/main">
              <a:ext uri="{FF2B5EF4-FFF2-40B4-BE49-F238E27FC236}">
                <a16:creationId xmlns:a16="http://schemas.microsoft.com/office/drawing/2014/main" id="{283E469A-2047-4122-B85E-2FF39F280B47}"/>
              </a:ext>
            </a:extLst>
          </p:cNvPr>
          <p:cNvSpPr>
            <a:spLocks xmlns:a="http://schemas.openxmlformats.org/drawingml/2006/main" noGrp="1"/>
          </p:cNvSpPr>
          <p:nvPr/>
        </p:nvSpPr>
        <p:spPr>
          <a:xfrm xmlns:a="http://schemas.openxmlformats.org/drawingml/2006/main">
            <a:off x="685800" y="2238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Table 3. Simplified E92 display rules.</a:t>
            </a:r>
          </a:p>
        </p:txBody>
      </p:sp>
      <p:graphicFrame>
        <p:nvGraphicFramePr>
          <p:cNvPr id="13" name=""/>
          <p:cNvGraphicFramePr/>
          <p:nvPr/>
        </p:nvGraphicFramePr>
        <p:xfrm>
          <a:off xmlns:a="http://schemas.openxmlformats.org/drawingml/2006/main" x="685800" y="2857500"/>
          <a:ext xmlns:a="http://schemas.openxmlformats.org/drawingml/2006/main" cx="10820400" cy="2190750"/>
        </p:xfrm>
        <a:graphic xmlns:a="http://schemas.openxmlformats.org/drawingml/2006/main">
          <a:graphicData uri="http://schemas.openxmlformats.org/drawingml/2006/table">
            <a:tbl>
              <a:tblPr/>
              <a:tblGrid>
                <a:gridCol w="5524500"/>
                <a:gridCol w="5295900"/>
              </a:tblGrid>
              <a:tr h="547688">
                <a:tc>
                  <a:txBody>
                    <a:bodyPr>
                      <a:noAutofit/>
                    </a:bodyPr>
                    <a:lstStyle/>
                    <a:p>
                      <a:pPr algn="l"/>
                      <a:r>
                        <a:rPr sz="2025" b="1">
                          <a:solidFill>
                            <a:srgbClr val="000000"/>
                          </a:solidFill>
                          <a:latin typeface="Times New Roman"/>
                          <a:ea typeface="Times New Roman"/>
                          <a:cs typeface="Times New Roman"/>
                        </a:rPr>
                        <a:t>Evidence</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User-facing result</a:t>
                      </a:r>
                    </a:p>
                  </a:txBody>
                  <a:tcPr marL="91440" marR="91440" marT="45720" marB="45720">
                    <a:solidFill>
                      <a:srgbClr val="EEEEEE"/>
                    </a:solidFill>
                  </a:tcPr>
                </a:tc>
              </a:tr>
              <a:tr h="547688">
                <a:tc>
                  <a:txBody>
                    <a:bodyPr>
                      <a:noAutofit/>
                    </a:bodyPr>
                    <a:lstStyle/>
                    <a:p>
                      <a:pPr algn="l"/>
                      <a:r>
                        <a:rPr sz="2025" b="0">
                          <a:solidFill>
                            <a:srgbClr val="000000"/>
                          </a:solidFill>
                          <a:latin typeface="Times New Roman"/>
                          <a:ea typeface="Times New Roman"/>
                          <a:cs typeface="Times New Roman"/>
                        </a:rPr>
                        <a:t>Original score ≥ upper cut (~7.94)</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AI evidence; review warning if needed</a:t>
                      </a:r>
                    </a:p>
                  </a:txBody>
                  <a:tcPr marL="91440" marR="91440" marT="45720" marB="45720">
                    <a:solidFill>
                      <a:srgbClr val="FFFFFF"/>
                    </a:solidFill>
                  </a:tcPr>
                </a:tc>
              </a:tr>
              <a:tr h="547688">
                <a:tc>
                  <a:txBody>
                    <a:bodyPr>
                      <a:noAutofit/>
                    </a:bodyPr>
                    <a:lstStyle/>
                    <a:p>
                      <a:pPr algn="l"/>
                      <a:r>
                        <a:rPr sz="2025" b="0">
                          <a:solidFill>
                            <a:srgbClr val="000000"/>
                          </a:solidFill>
                          <a:latin typeface="Times New Roman"/>
                          <a:ea typeface="Times New Roman"/>
                          <a:cs typeface="Times New Roman"/>
                        </a:rPr>
                        <a:t>Both views &lt; lower cut (~1.15)</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No clear AI evidence</a:t>
                      </a:r>
                    </a:p>
                  </a:txBody>
                  <a:tcPr marL="91440" marR="91440" marT="45720" marB="45720">
                    <a:solidFill>
                      <a:srgbClr val="FFFFFF"/>
                    </a:solidFill>
                  </a:tcPr>
                </a:tc>
              </a:tr>
              <a:tr h="547688">
                <a:tc>
                  <a:txBody>
                    <a:bodyPr>
                      <a:noAutofit/>
                    </a:bodyPr>
                    <a:lstStyle/>
                    <a:p>
                      <a:pPr algn="l"/>
                      <a:r>
                        <a:rPr sz="2025" b="0">
                          <a:solidFill>
                            <a:srgbClr val="000000"/>
                          </a:solidFill>
                          <a:latin typeface="Times New Roman"/>
                          <a:ea typeface="Times New Roman"/>
                          <a:cs typeface="Times New Roman"/>
                        </a:rPr>
                        <a:t>Remaining cases</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Uncertain</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9D9A5AF-E100-41AB-9190-496DE124FC22}"/>
              </a:ext>
            </a:extLst>
          </p:cNvPr>
          <p:cNvSpPr>
            <a:spLocks xmlns:a="http://schemas.openxmlformats.org/drawingml/2006/main" noGrp="1"/>
          </p:cNvSpPr>
          <p:nvPr/>
        </p:nvSpPr>
        <p:spPr>
          <a:xfrm xmlns:a="http://schemas.openxmlformats.org/drawingml/2006/main">
            <a:off x="685800" y="53054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Table 3 does not certify authenticity. E43 is advisory.</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Decisions use unrounded scores; 50% is not the boundary.</a:t>
            </a:r>
          </a:p>
        </p:txBody>
      </p:sp>
    </p:spTree>
    <p:extLst>
      <p:ext uri="{BB962C8B-B14F-4D97-AF65-F5344CB8AC3E}">
        <p14:creationId xmlns:p14="http://schemas.microsoft.com/office/powerpoint/2010/main" val="10522646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C8A39A-0DAC-4543-9AE8-9C0512887863}"/>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9. Broader checks exposed remaining weaknesses</a:t>
            </a:r>
          </a:p>
        </p:txBody>
      </p:sp>
      <p:sp>
        <p:nvSpPr>
          <p:cNvPr id="2" name="">
            <a:extLst xmlns:a="http://schemas.openxmlformats.org/drawingml/2006/main">
              <a:ext uri="{FF2B5EF4-FFF2-40B4-BE49-F238E27FC236}">
                <a16:creationId xmlns:a16="http://schemas.microsoft.com/office/drawing/2014/main" id="{F1A0A3E9-906C-4D53-8D40-3DDCBA566B9E}"/>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Project record through 16 September 2026 · research prototype</a:t>
            </a:r>
          </a:p>
        </p:txBody>
      </p:sp>
      <p:sp>
        <p:nvSpPr>
          <p:cNvPr id="3" name="">
            <a:extLst xmlns:a="http://schemas.openxmlformats.org/drawingml/2006/main">
              <a:ext uri="{FF2B5EF4-FFF2-40B4-BE49-F238E27FC236}">
                <a16:creationId xmlns:a16="http://schemas.microsoft.com/office/drawing/2014/main" id="{1EDA45D7-A9D2-4CDD-B5E6-DA56B582E982}"/>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9</a:t>
            </a:r>
          </a:p>
        </p:txBody>
      </p:sp>
      <p:sp>
        <p:nvSpPr>
          <p:cNvPr id="4" name="">
            <a:extLst xmlns:a="http://schemas.openxmlformats.org/drawingml/2006/main">
              <a:ext uri="{FF2B5EF4-FFF2-40B4-BE49-F238E27FC236}">
                <a16:creationId xmlns:a16="http://schemas.microsoft.com/office/drawing/2014/main" id="{8BFCE7D7-7764-499C-9B13-03BCA240BD60}"/>
              </a:ext>
            </a:extLst>
          </p:cNvPr>
          <p:cNvSpPr>
            <a:spLocks xmlns:a="http://schemas.openxmlformats.org/drawingml/2006/main" noGrp="1"/>
          </p:cNvSpPr>
          <p:nvPr/>
        </p:nvSpPr>
        <p:spPr>
          <a:xfrm xmlns:a="http://schemas.openxmlformats.org/drawingml/2006/main">
            <a:off x="685800" y="1533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000000"/>
                </a:solidFill>
                <a:latin typeface="Times New Roman"/>
                <a:ea typeface="Times New Roman"/>
                <a:cs typeface="Times New Roman"/>
              </a:defRPr>
            </a:pPr>
            <a:r>
              <a:rPr sz="2475" b="1">
                <a:solidFill>
                  <a:srgbClr val="000000"/>
                </a:solidFill>
                <a:latin typeface="Times New Roman"/>
                <a:ea typeface="Times New Roman"/>
                <a:cs typeface="Times New Roman"/>
              </a:rPr>
              <a:t>Earlier comprehensive test: E43 failed</a:t>
            </a:r>
          </a:p>
        </p:txBody>
      </p:sp>
      <p:sp>
        <p:nvSpPr>
          <p:cNvPr id="5" name="">
            <a:extLst xmlns:a="http://schemas.openxmlformats.org/drawingml/2006/main">
              <a:ext uri="{FF2B5EF4-FFF2-40B4-BE49-F238E27FC236}">
                <a16:creationId xmlns:a16="http://schemas.microsoft.com/office/drawing/2014/main" id="{45523CFF-E0DC-42D5-AB51-3E4CD5F08A41}"/>
              </a:ext>
            </a:extLst>
          </p:cNvPr>
          <p:cNvSpPr>
            <a:spLocks xmlns:a="http://schemas.openxmlformats.org/drawingml/2006/main" noGrp="1"/>
          </p:cNvSpPr>
          <p:nvPr/>
        </p:nvSpPr>
        <p:spPr>
          <a:xfrm xmlns:a="http://schemas.openxmlformats.org/drawingml/2006/main">
            <a:off x="685800" y="21621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Real false alerts: 391/1,000 originals; 490/1,000 processed</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Different model and population from the E92 comparison</a:t>
            </a:r>
          </a:p>
        </p:txBody>
      </p:sp>
      <p:sp>
        <p:nvSpPr>
          <p:cNvPr id="6" name="">
            <a:extLst xmlns:a="http://schemas.openxmlformats.org/drawingml/2006/main">
              <a:ext uri="{FF2B5EF4-FFF2-40B4-BE49-F238E27FC236}">
                <a16:creationId xmlns:a16="http://schemas.microsoft.com/office/drawing/2014/main" id="{96FB2226-C2C6-44F7-BE9F-C91322D8F969}"/>
              </a:ext>
            </a:extLst>
          </p:cNvPr>
          <p:cNvSpPr>
            <a:spLocks xmlns:a="http://schemas.openxmlformats.org/drawingml/2006/main" noGrp="1"/>
          </p:cNvSpPr>
          <p:nvPr/>
        </p:nvSpPr>
        <p:spPr>
          <a:xfrm xmlns:a="http://schemas.openxmlformats.org/drawingml/2006/main">
            <a:off x="685800" y="34004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000000"/>
                </a:solidFill>
                <a:latin typeface="Times New Roman"/>
                <a:ea typeface="Times New Roman"/>
                <a:cs typeface="Times New Roman"/>
              </a:defRPr>
            </a:pPr>
            <a:r>
              <a:rPr sz="2475" b="1">
                <a:solidFill>
                  <a:srgbClr val="000000"/>
                </a:solidFill>
                <a:latin typeface="Times New Roman"/>
                <a:ea typeface="Times New Roman"/>
                <a:cs typeface="Times New Roman"/>
              </a:rPr>
              <a:t>E92 owner gallery: false alerts still occurred</a:t>
            </a:r>
          </a:p>
        </p:txBody>
      </p:sp>
      <p:sp>
        <p:nvSpPr>
          <p:cNvPr id="7" name="">
            <a:extLst xmlns:a="http://schemas.openxmlformats.org/drawingml/2006/main">
              <a:ext uri="{FF2B5EF4-FFF2-40B4-BE49-F238E27FC236}">
                <a16:creationId xmlns:a16="http://schemas.microsoft.com/office/drawing/2014/main" id="{7A99689E-F863-4D9D-A253-8C1BE596F06B}"/>
              </a:ext>
            </a:extLst>
          </p:cNvPr>
          <p:cNvSpPr>
            <a:spLocks xmlns:a="http://schemas.openxmlformats.org/drawingml/2006/main" noGrp="1"/>
          </p:cNvSpPr>
          <p:nvPr/>
        </p:nvSpPr>
        <p:spPr>
          <a:xfrm xmlns:a="http://schemas.openxmlformats.org/drawingml/2006/main">
            <a:off x="685800" y="40195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9/206 originals; 18/206 processed copies</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Previously used data, mostly one phone and related scenes</a:t>
            </a:r>
          </a:p>
        </p:txBody>
      </p:sp>
      <p:sp>
        <p:nvSpPr>
          <p:cNvPr id="8" name="">
            <a:extLst xmlns:a="http://schemas.openxmlformats.org/drawingml/2006/main">
              <a:ext uri="{FF2B5EF4-FFF2-40B4-BE49-F238E27FC236}">
                <a16:creationId xmlns:a16="http://schemas.microsoft.com/office/drawing/2014/main" id="{3ED36F1F-42E6-4C75-A364-39A978F46EFE}"/>
              </a:ext>
            </a:extLst>
          </p:cNvPr>
          <p:cNvSpPr>
            <a:spLocks xmlns:a="http://schemas.openxmlformats.org/drawingml/2006/main" noGrp="1"/>
          </p:cNvSpPr>
          <p:nvPr/>
        </p:nvSpPr>
        <p:spPr>
          <a:xfrm xmlns:a="http://schemas.openxmlformats.org/drawingml/2006/main">
            <a:off x="685800" y="53625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Later candidates also failed full acceptance.</a:t>
            </a:r>
          </a:p>
        </p:txBody>
      </p:sp>
    </p:spTree>
    <p:extLst>
      <p:ext uri="{BB962C8B-B14F-4D97-AF65-F5344CB8AC3E}">
        <p14:creationId xmlns:p14="http://schemas.microsoft.com/office/powerpoint/2010/main" val="14204174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292DAC-78EE-409D-87E0-6D770B2A2927}"/>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10. Model2 remains an experimental pilot</a:t>
            </a:r>
          </a:p>
        </p:txBody>
      </p:sp>
      <p:sp>
        <p:nvSpPr>
          <p:cNvPr id="2" name="">
            <a:extLst xmlns:a="http://schemas.openxmlformats.org/drawingml/2006/main">
              <a:ext uri="{FF2B5EF4-FFF2-40B4-BE49-F238E27FC236}">
                <a16:creationId xmlns:a16="http://schemas.microsoft.com/office/drawing/2014/main" id="{0F386473-5EF0-4271-A773-C6F69CA43257}"/>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Project record through 16 September 2026 · research prototype</a:t>
            </a:r>
          </a:p>
        </p:txBody>
      </p:sp>
      <p:sp>
        <p:nvSpPr>
          <p:cNvPr id="3" name="">
            <a:extLst xmlns:a="http://schemas.openxmlformats.org/drawingml/2006/main">
              <a:ext uri="{FF2B5EF4-FFF2-40B4-BE49-F238E27FC236}">
                <a16:creationId xmlns:a16="http://schemas.microsoft.com/office/drawing/2014/main" id="{9C7A19D2-3119-4EF7-AD32-820940F696A3}"/>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10</a:t>
            </a:r>
          </a:p>
        </p:txBody>
      </p:sp>
      <p:sp>
        <p:nvSpPr>
          <p:cNvPr id="4" name="">
            <a:extLst xmlns:a="http://schemas.openxmlformats.org/drawingml/2006/main">
              <a:ext uri="{FF2B5EF4-FFF2-40B4-BE49-F238E27FC236}">
                <a16:creationId xmlns:a16="http://schemas.microsoft.com/office/drawing/2014/main" id="{E313C87C-244F-4AA6-A495-FC111F01572D}"/>
              </a:ext>
            </a:extLst>
          </p:cNvPr>
          <p:cNvSpPr>
            <a:spLocks xmlns:a="http://schemas.openxmlformats.org/drawingml/2006/main" noGrp="1"/>
          </p:cNvSpPr>
          <p:nvPr/>
        </p:nvSpPr>
        <p:spPr>
          <a:xfrm xmlns:a="http://schemas.openxmlformats.org/drawingml/2006/main">
            <a:off x="685800" y="14573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Table 4 compares edit placement on 16 previously used images.</a:t>
            </a:r>
          </a:p>
        </p:txBody>
      </p:sp>
      <p:sp>
        <p:nvSpPr>
          <p:cNvPr id="5" name="">
            <a:extLst xmlns:a="http://schemas.openxmlformats.org/drawingml/2006/main">
              <a:ext uri="{FF2B5EF4-FFF2-40B4-BE49-F238E27FC236}">
                <a16:creationId xmlns:a16="http://schemas.microsoft.com/office/drawing/2014/main" id="{53D6F808-7080-494B-8B68-BD0E31DFF58D}"/>
              </a:ext>
            </a:extLst>
          </p:cNvPr>
          <p:cNvSpPr>
            <a:spLocks xmlns:a="http://schemas.openxmlformats.org/drawingml/2006/main" noGrp="1"/>
          </p:cNvSpPr>
          <p:nvPr/>
        </p:nvSpPr>
        <p:spPr>
          <a:xfrm xmlns:a="http://schemas.openxmlformats.org/drawingml/2006/main">
            <a:off x="685800" y="20478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Table 4. Localization trade-off, original-image condition.</a:t>
            </a:r>
          </a:p>
        </p:txBody>
      </p:sp>
      <p:graphicFrame>
        <p:nvGraphicFramePr>
          <p:cNvPr id="13" name=""/>
          <p:cNvGraphicFramePr/>
          <p:nvPr/>
        </p:nvGraphicFramePr>
        <p:xfrm>
          <a:off xmlns:a="http://schemas.openxmlformats.org/drawingml/2006/main" x="685800" y="2667000"/>
          <a:ext xmlns:a="http://schemas.openxmlformats.org/drawingml/2006/main" cx="10820400" cy="2476500"/>
        </p:xfrm>
        <a:graphic xmlns:a="http://schemas.openxmlformats.org/drawingml/2006/main">
          <a:graphicData uri="http://schemas.openxmlformats.org/drawingml/2006/table">
            <a:tbl>
              <a:tblPr/>
              <a:tblGrid>
                <a:gridCol w="5572125"/>
                <a:gridCol w="2333625"/>
                <a:gridCol w="2914650"/>
              </a:tblGrid>
              <a:tr h="619125">
                <a:tc>
                  <a:txBody>
                    <a:bodyPr>
                      <a:noAutofit/>
                    </a:bodyPr>
                    <a:lstStyle/>
                    <a:p>
                      <a:pPr algn="l"/>
                      <a:r>
                        <a:rPr sz="2025" b="1">
                          <a:solidFill>
                            <a:srgbClr val="000000"/>
                          </a:solidFill>
                          <a:latin typeface="Times New Roman"/>
                          <a:ea typeface="Times New Roman"/>
                          <a:cs typeface="Times New Roman"/>
                        </a:rPr>
                        <a:t>Measure</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Earlier head</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Two-placement head</a:t>
                      </a:r>
                    </a:p>
                  </a:txBody>
                  <a:tcPr marL="91440" marR="91440" marT="45720" marB="45720">
                    <a:solidFill>
                      <a:srgbClr val="EEEEEE"/>
                    </a:solidFill>
                  </a:tcPr>
                </a:tc>
              </a:tr>
              <a:tr h="619125">
                <a:tc>
                  <a:txBody>
                    <a:bodyPr>
                      <a:noAutofit/>
                    </a:bodyPr>
                    <a:lstStyle/>
                    <a:p>
                      <a:pPr algn="l"/>
                      <a:r>
                        <a:rPr sz="2025" b="0">
                          <a:solidFill>
                            <a:srgbClr val="000000"/>
                          </a:solidFill>
                          <a:latin typeface="Times New Roman"/>
                          <a:ea typeface="Times New Roman"/>
                          <a:cs typeface="Times New Roman"/>
                        </a:rPr>
                        <a:t>Original-placement pixel AUC</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0.74</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0.70</a:t>
                      </a:r>
                    </a:p>
                  </a:txBody>
                  <a:tcPr marL="91440" marR="91440" marT="45720" marB="45720">
                    <a:solidFill>
                      <a:srgbClr val="FFFFFF"/>
                    </a:solidFill>
                  </a:tcPr>
                </a:tc>
              </a:tr>
              <a:tr h="619125">
                <a:tc>
                  <a:txBody>
                    <a:bodyPr>
                      <a:noAutofit/>
                    </a:bodyPr>
                    <a:lstStyle/>
                    <a:p>
                      <a:pPr algn="l"/>
                      <a:r>
                        <a:rPr sz="2025" b="0">
                          <a:solidFill>
                            <a:srgbClr val="000000"/>
                          </a:solidFill>
                          <a:latin typeface="Times New Roman"/>
                          <a:ea typeface="Times New Roman"/>
                          <a:cs typeface="Times New Roman"/>
                        </a:rPr>
                        <a:t>New-placement pixel AUC</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0.57</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0.64</a:t>
                      </a:r>
                    </a:p>
                  </a:txBody>
                  <a:tcPr marL="91440" marR="91440" marT="45720" marB="45720">
                    <a:solidFill>
                      <a:srgbClr val="FFFFFF"/>
                    </a:solidFill>
                  </a:tcPr>
                </a:tc>
              </a:tr>
              <a:tr h="619125">
                <a:tc>
                  <a:txBody>
                    <a:bodyPr>
                      <a:noAutofit/>
                    </a:bodyPr>
                    <a:lstStyle/>
                    <a:p>
                      <a:pPr algn="l"/>
                      <a:r>
                        <a:rPr sz="2025" b="0">
                          <a:solidFill>
                            <a:srgbClr val="000000"/>
                          </a:solidFill>
                          <a:latin typeface="Times New Roman"/>
                          <a:ea typeface="Times New Roman"/>
                          <a:cs typeface="Times New Roman"/>
                        </a:rPr>
                        <a:t>Authentic falsely flagged area</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17.11%</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25.74%</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6D5606D-F018-42C7-873C-D85886362BBE}"/>
              </a:ext>
            </a:extLst>
          </p:cNvPr>
          <p:cNvSpPr>
            <a:spLocks xmlns:a="http://schemas.openxmlformats.org/drawingml/2006/main" noGrp="1"/>
          </p:cNvSpPr>
          <p:nvPr/>
        </p:nvSpPr>
        <p:spPr>
          <a:xfrm xmlns:a="http://schemas.openxmlformats.org/drawingml/2006/main">
            <a:off x="685800" y="56007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One editor · adaptive development · candidate rejected</a:t>
            </a:r>
          </a:p>
        </p:txBody>
      </p:sp>
    </p:spTree>
    <p:extLst>
      <p:ext uri="{BB962C8B-B14F-4D97-AF65-F5344CB8AC3E}">
        <p14:creationId xmlns:p14="http://schemas.microsoft.com/office/powerpoint/2010/main" val="14496213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A7FB60-8E9D-47B7-8C41-1278E6C7E9F1}"/>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11. A traceable prototype was delivered</a:t>
            </a:r>
          </a:p>
        </p:txBody>
      </p:sp>
      <p:sp>
        <p:nvSpPr>
          <p:cNvPr id="2" name="">
            <a:extLst xmlns:a="http://schemas.openxmlformats.org/drawingml/2006/main">
              <a:ext uri="{FF2B5EF4-FFF2-40B4-BE49-F238E27FC236}">
                <a16:creationId xmlns:a16="http://schemas.microsoft.com/office/drawing/2014/main" id="{5195868A-17D3-4AA8-B05B-0027333AB0C2}"/>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Project record through 16 September 2026 · research prototype</a:t>
            </a:r>
          </a:p>
        </p:txBody>
      </p:sp>
      <p:sp>
        <p:nvSpPr>
          <p:cNvPr id="3" name="">
            <a:extLst xmlns:a="http://schemas.openxmlformats.org/drawingml/2006/main">
              <a:ext uri="{FF2B5EF4-FFF2-40B4-BE49-F238E27FC236}">
                <a16:creationId xmlns:a16="http://schemas.microsoft.com/office/drawing/2014/main" id="{7062D140-B73A-425C-BD98-6D26F8315B87}"/>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11</a:t>
            </a:r>
          </a:p>
        </p:txBody>
      </p:sp>
      <p:sp>
        <p:nvSpPr>
          <p:cNvPr id="4" name="">
            <a:extLst xmlns:a="http://schemas.openxmlformats.org/drawingml/2006/main">
              <a:ext uri="{FF2B5EF4-FFF2-40B4-BE49-F238E27FC236}">
                <a16:creationId xmlns:a16="http://schemas.microsoft.com/office/drawing/2014/main" id="{B81D3D93-9B55-4DF7-BFC3-5793D9D6334B}"/>
              </a:ext>
            </a:extLst>
          </p:cNvPr>
          <p:cNvSpPr>
            <a:spLocks xmlns:a="http://schemas.openxmlformats.org/drawingml/2006/main" noGrp="1"/>
          </p:cNvSpPr>
          <p:nvPr/>
        </p:nvSpPr>
        <p:spPr>
          <a:xfrm xmlns:a="http://schemas.openxmlformats.org/drawingml/2006/main">
            <a:off x="685800" y="16287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Local web demonstration</a:t>
            </a:r>
          </a:p>
        </p:txBody>
      </p:sp>
      <p:sp>
        <p:nvSpPr>
          <p:cNvPr id="5" name="">
            <a:extLst xmlns:a="http://schemas.openxmlformats.org/drawingml/2006/main">
              <a:ext uri="{FF2B5EF4-FFF2-40B4-BE49-F238E27FC236}">
                <a16:creationId xmlns:a16="http://schemas.microsoft.com/office/drawing/2014/main" id="{C73EA38D-139F-42BF-8558-77659F683668}"/>
              </a:ext>
            </a:extLst>
          </p:cNvPr>
          <p:cNvSpPr>
            <a:spLocks xmlns:a="http://schemas.openxmlformats.org/drawingml/2006/main" noGrp="1"/>
          </p:cNvSpPr>
          <p:nvPr/>
        </p:nvSpPr>
        <p:spPr>
          <a:xfrm xmlns:a="http://schemas.openxmlformats.org/drawingml/2006/main">
            <a:off x="685800" y="22669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Validated uploads · clear uncertainty · guarded inference</a:t>
            </a:r>
          </a:p>
        </p:txBody>
      </p:sp>
      <p:sp>
        <p:nvSpPr>
          <p:cNvPr id="6" name="">
            <a:extLst xmlns:a="http://schemas.openxmlformats.org/drawingml/2006/main">
              <a:ext uri="{FF2B5EF4-FFF2-40B4-BE49-F238E27FC236}">
                <a16:creationId xmlns:a16="http://schemas.microsoft.com/office/drawing/2014/main" id="{6465B481-7F4B-407E-A774-5B8CBEE7E59C}"/>
              </a:ext>
            </a:extLst>
          </p:cNvPr>
          <p:cNvSpPr>
            <a:spLocks xmlns:a="http://schemas.openxmlformats.org/drawingml/2006/main" noGrp="1"/>
          </p:cNvSpPr>
          <p:nvPr/>
        </p:nvSpPr>
        <p:spPr>
          <a:xfrm xmlns:a="http://schemas.openxmlformats.org/drawingml/2006/main">
            <a:off x="685800" y="34290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Reproducible engineering</a:t>
            </a:r>
          </a:p>
        </p:txBody>
      </p:sp>
      <p:sp>
        <p:nvSpPr>
          <p:cNvPr id="7" name="">
            <a:extLst xmlns:a="http://schemas.openxmlformats.org/drawingml/2006/main">
              <a:ext uri="{FF2B5EF4-FFF2-40B4-BE49-F238E27FC236}">
                <a16:creationId xmlns:a16="http://schemas.microsoft.com/office/drawing/2014/main" id="{0C7AB342-DF8F-462D-A1BE-04259DFD0012}"/>
              </a:ext>
            </a:extLst>
          </p:cNvPr>
          <p:cNvSpPr>
            <a:spLocks xmlns:a="http://schemas.openxmlformats.org/drawingml/2006/main" noGrp="1"/>
          </p:cNvSpPr>
          <p:nvPr/>
        </p:nvSpPr>
        <p:spPr>
          <a:xfrm xmlns:a="http://schemas.openxmlformats.org/drawingml/2006/main">
            <a:off x="685800" y="40671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Pinned artifacts · experiment receipts · dataset provenance</a:t>
            </a:r>
          </a:p>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Git history · automated software checks</a:t>
            </a:r>
          </a:p>
        </p:txBody>
      </p:sp>
      <p:sp>
        <p:nvSpPr>
          <p:cNvPr id="8" name="">
            <a:extLst xmlns:a="http://schemas.openxmlformats.org/drawingml/2006/main">
              <a:ext uri="{FF2B5EF4-FFF2-40B4-BE49-F238E27FC236}">
                <a16:creationId xmlns:a16="http://schemas.microsoft.com/office/drawing/2014/main" id="{A834E9FE-F2C4-47AD-BEFB-CBE58BB09908}"/>
              </a:ext>
            </a:extLst>
          </p:cNvPr>
          <p:cNvSpPr>
            <a:spLocks xmlns:a="http://schemas.openxmlformats.org/drawingml/2006/main" noGrp="1"/>
          </p:cNvSpPr>
          <p:nvPr/>
        </p:nvSpPr>
        <p:spPr>
          <a:xfrm xmlns:a="http://schemas.openxmlformats.org/drawingml/2006/main">
            <a:off x="685800" y="55149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Latest recorded checkpoint: 1,245 Python tests passed.</a:t>
            </a:r>
          </a:p>
        </p:txBody>
      </p:sp>
    </p:spTree>
    <p:extLst>
      <p:ext uri="{BB962C8B-B14F-4D97-AF65-F5344CB8AC3E}">
        <p14:creationId xmlns:p14="http://schemas.microsoft.com/office/powerpoint/2010/main" val="17106743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F0BE86-682B-4F09-90A8-4579BE577588}"/>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12. What the project achieved—and did not</a:t>
            </a:r>
          </a:p>
        </p:txBody>
      </p:sp>
      <p:sp>
        <p:nvSpPr>
          <p:cNvPr id="2" name="">
            <a:extLst xmlns:a="http://schemas.openxmlformats.org/drawingml/2006/main">
              <a:ext uri="{FF2B5EF4-FFF2-40B4-BE49-F238E27FC236}">
                <a16:creationId xmlns:a16="http://schemas.microsoft.com/office/drawing/2014/main" id="{D7981A7F-9EBB-4684-A093-1CF6DBC0A81C}"/>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Project record through 16 September 2026 · research prototype</a:t>
            </a:r>
          </a:p>
        </p:txBody>
      </p:sp>
      <p:sp>
        <p:nvSpPr>
          <p:cNvPr id="3" name="">
            <a:extLst xmlns:a="http://schemas.openxmlformats.org/drawingml/2006/main">
              <a:ext uri="{FF2B5EF4-FFF2-40B4-BE49-F238E27FC236}">
                <a16:creationId xmlns:a16="http://schemas.microsoft.com/office/drawing/2014/main" id="{2D4497FD-B6FE-4BE0-B632-BEEC39AFDDA1}"/>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12</a:t>
            </a:r>
          </a:p>
        </p:txBody>
      </p:sp>
      <p:sp>
        <p:nvSpPr>
          <p:cNvPr id="4" name="">
            <a:extLst xmlns:a="http://schemas.openxmlformats.org/drawingml/2006/main">
              <a:ext uri="{FF2B5EF4-FFF2-40B4-BE49-F238E27FC236}">
                <a16:creationId xmlns:a16="http://schemas.microsoft.com/office/drawing/2014/main" id="{6B64A2FE-7A8E-49EB-8E06-7F4E76BBF2F7}"/>
              </a:ext>
            </a:extLst>
          </p:cNvPr>
          <p:cNvSpPr>
            <a:spLocks xmlns:a="http://schemas.openxmlformats.org/drawingml/2006/main" noGrp="1"/>
          </p:cNvSpPr>
          <p:nvPr/>
        </p:nvSpPr>
        <p:spPr>
          <a:xfrm xmlns:a="http://schemas.openxmlformats.org/drawingml/2006/main">
            <a:off x="685800" y="13811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Table 5 separates implementation success from scientific proof.</a:t>
            </a:r>
          </a:p>
        </p:txBody>
      </p:sp>
      <p:sp>
        <p:nvSpPr>
          <p:cNvPr id="5" name="">
            <a:extLst xmlns:a="http://schemas.openxmlformats.org/drawingml/2006/main">
              <a:ext uri="{FF2B5EF4-FFF2-40B4-BE49-F238E27FC236}">
                <a16:creationId xmlns:a16="http://schemas.microsoft.com/office/drawing/2014/main" id="{A3614480-7148-472A-9ACE-308548410164}"/>
              </a:ext>
            </a:extLst>
          </p:cNvPr>
          <p:cNvSpPr>
            <a:spLocks xmlns:a="http://schemas.openxmlformats.org/drawingml/2006/main" noGrp="1"/>
          </p:cNvSpPr>
          <p:nvPr/>
        </p:nvSpPr>
        <p:spPr>
          <a:xfrm xmlns:a="http://schemas.openxmlformats.org/drawingml/2006/main">
            <a:off x="685800" y="20002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Table 5. Evidence-supported outcome.</a:t>
            </a:r>
          </a:p>
        </p:txBody>
      </p:sp>
      <p:graphicFrame>
        <p:nvGraphicFramePr>
          <p:cNvPr id="13" name=""/>
          <p:cNvGraphicFramePr/>
          <p:nvPr/>
        </p:nvGraphicFramePr>
        <p:xfrm>
          <a:off xmlns:a="http://schemas.openxmlformats.org/drawingml/2006/main" x="685800" y="2619375"/>
          <a:ext xmlns:a="http://schemas.openxmlformats.org/drawingml/2006/main" cx="10820400" cy="2667000"/>
        </p:xfrm>
        <a:graphic xmlns:a="http://schemas.openxmlformats.org/drawingml/2006/main">
          <a:graphicData uri="http://schemas.openxmlformats.org/drawingml/2006/table">
            <a:tbl>
              <a:tblPr/>
              <a:tblGrid>
                <a:gridCol w="5410200"/>
                <a:gridCol w="5410200"/>
              </a:tblGrid>
              <a:tr h="533400">
                <a:tc>
                  <a:txBody>
                    <a:bodyPr>
                      <a:noAutofit/>
                    </a:bodyPr>
                    <a:lstStyle/>
                    <a:p>
                      <a:pPr algn="l"/>
                      <a:r>
                        <a:rPr sz="2025" b="1">
                          <a:solidFill>
                            <a:srgbClr val="000000"/>
                          </a:solidFill>
                          <a:latin typeface="Times New Roman"/>
                          <a:ea typeface="Times New Roman"/>
                          <a:cs typeface="Times New Roman"/>
                        </a:rPr>
                        <a:t>Achieved</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Still unproven</a:t>
                      </a:r>
                    </a:p>
                  </a:txBody>
                  <a:tcPr marL="91440" marR="91440" marT="45720" marB="45720">
                    <a:solidFill>
                      <a:srgbClr val="EEEEEE"/>
                    </a:solidFill>
                  </a:tcPr>
                </a:tc>
              </a:tr>
              <a:tr h="533400">
                <a:tc>
                  <a:txBody>
                    <a:bodyPr>
                      <a:noAutofit/>
                    </a:bodyPr>
                    <a:lstStyle/>
                    <a:p>
                      <a:pPr algn="l"/>
                      <a:r>
                        <a:rPr sz="2025" b="0">
                          <a:solidFill>
                            <a:srgbClr val="000000"/>
                          </a:solidFill>
                          <a:latin typeface="Times New Roman"/>
                          <a:ea typeface="Times New Roman"/>
                          <a:cs typeface="Times New Roman"/>
                        </a:rPr>
                        <a:t>Working student research demo</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Universal detection</a:t>
                      </a:r>
                    </a:p>
                  </a:txBody>
                  <a:tcPr marL="91440" marR="91440" marT="45720" marB="45720">
                    <a:solidFill>
                      <a:srgbClr val="FFFFFF"/>
                    </a:solidFill>
                  </a:tcPr>
                </a:tc>
              </a:tr>
              <a:tr h="533400">
                <a:tc>
                  <a:txBody>
                    <a:bodyPr>
                      <a:noAutofit/>
                    </a:bodyPr>
                    <a:lstStyle/>
                    <a:p>
                      <a:pPr algn="l"/>
                      <a:r>
                        <a:rPr sz="2025" b="0">
                          <a:solidFill>
                            <a:srgbClr val="000000"/>
                          </a:solidFill>
                          <a:latin typeface="Times New Roman"/>
                          <a:ea typeface="Times New Roman"/>
                          <a:cs typeface="Times New Roman"/>
                        </a:rPr>
                        <a:t>Fewer development false alerts</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Independent final-test success</a:t>
                      </a:r>
                    </a:p>
                  </a:txBody>
                  <a:tcPr marL="91440" marR="91440" marT="45720" marB="45720">
                    <a:solidFill>
                      <a:srgbClr val="FFFFFF"/>
                    </a:solidFill>
                  </a:tcPr>
                </a:tc>
              </a:tr>
              <a:tr h="533400">
                <a:tc>
                  <a:txBody>
                    <a:bodyPr>
                      <a:noAutofit/>
                    </a:bodyPr>
                    <a:lstStyle/>
                    <a:p>
                      <a:pPr algn="l"/>
                      <a:r>
                        <a:rPr sz="2025" b="0">
                          <a:solidFill>
                            <a:srgbClr val="000000"/>
                          </a:solidFill>
                          <a:latin typeface="Times New Roman"/>
                          <a:ea typeface="Times New Roman"/>
                          <a:cs typeface="Times New Roman"/>
                        </a:rPr>
                        <a:t>Auditable corrections and rejected candidates</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Calibrated authenticity probability</a:t>
                      </a:r>
                    </a:p>
                  </a:txBody>
                  <a:tcPr marL="91440" marR="91440" marT="45720" marB="45720">
                    <a:solidFill>
                      <a:srgbClr val="FFFFFF"/>
                    </a:solidFill>
                  </a:tcPr>
                </a:tc>
              </a:tr>
              <a:tr h="533400">
                <a:tc>
                  <a:txBody>
                    <a:bodyPr>
                      <a:noAutofit/>
                    </a:bodyPr>
                    <a:lstStyle/>
                    <a:p>
                      <a:pPr algn="l"/>
                      <a:r>
                        <a:rPr sz="2025" b="0">
                          <a:solidFill>
                            <a:srgbClr val="000000"/>
                          </a:solidFill>
                          <a:latin typeface="Times New Roman"/>
                          <a:ea typeface="Times New Roman"/>
                          <a:cs typeface="Times New Roman"/>
                        </a:rPr>
                        <a:t>Controlled localization experiments</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Reliable AI-edit localization</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DF287E2-5CAE-40FD-991C-534FDAB0E4CE}"/>
              </a:ext>
            </a:extLst>
          </p:cNvPr>
          <p:cNvSpPr>
            <a:spLocks xmlns:a="http://schemas.openxmlformats.org/drawingml/2006/main" noGrp="1"/>
          </p:cNvSpPr>
          <p:nvPr/>
        </p:nvSpPr>
        <p:spPr>
          <a:xfrm xmlns:a="http://schemas.openxmlformats.org/drawingml/2006/main">
            <a:off x="685800" y="56388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A credible student prototype with clearly stated limits.</a:t>
            </a:r>
          </a:p>
        </p:txBody>
      </p:sp>
    </p:spTree>
    <p:extLst>
      <p:ext uri="{BB962C8B-B14F-4D97-AF65-F5344CB8AC3E}">
        <p14:creationId xmlns:p14="http://schemas.microsoft.com/office/powerpoint/2010/main" val="156219439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EB952C-10BD-47EA-94DF-193BC3D6A7CA}"/>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13. The next step is stronger evidence</a:t>
            </a:r>
          </a:p>
        </p:txBody>
      </p:sp>
      <p:sp>
        <p:nvSpPr>
          <p:cNvPr id="2" name="">
            <a:extLst xmlns:a="http://schemas.openxmlformats.org/drawingml/2006/main">
              <a:ext uri="{FF2B5EF4-FFF2-40B4-BE49-F238E27FC236}">
                <a16:creationId xmlns:a16="http://schemas.microsoft.com/office/drawing/2014/main" id="{1A6D892C-33B5-45B3-A4DC-647AE36A40B2}"/>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Project record through 16 September 2026 · research prototype</a:t>
            </a:r>
          </a:p>
        </p:txBody>
      </p:sp>
      <p:sp>
        <p:nvSpPr>
          <p:cNvPr id="3" name="">
            <a:extLst xmlns:a="http://schemas.openxmlformats.org/drawingml/2006/main">
              <a:ext uri="{FF2B5EF4-FFF2-40B4-BE49-F238E27FC236}">
                <a16:creationId xmlns:a16="http://schemas.microsoft.com/office/drawing/2014/main" id="{C1251F27-5B77-4085-A9F5-B86F45108B92}"/>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13</a:t>
            </a:r>
          </a:p>
        </p:txBody>
      </p:sp>
      <p:sp>
        <p:nvSpPr>
          <p:cNvPr id="4" name="">
            <a:extLst xmlns:a="http://schemas.openxmlformats.org/drawingml/2006/main">
              <a:ext uri="{FF2B5EF4-FFF2-40B4-BE49-F238E27FC236}">
                <a16:creationId xmlns:a16="http://schemas.microsoft.com/office/drawing/2014/main" id="{7A127DE7-CCA5-4D46-91F4-619FE6B4B990}"/>
              </a:ext>
            </a:extLst>
          </p:cNvPr>
          <p:cNvSpPr>
            <a:spLocks xmlns:a="http://schemas.openxmlformats.org/drawingml/2006/main" noGrp="1"/>
          </p:cNvSpPr>
          <p:nvPr/>
        </p:nvSpPr>
        <p:spPr>
          <a:xfrm xmlns:a="http://schemas.openxmlformats.org/drawingml/2006/main">
            <a:off x="685800" y="1685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Independent sources and resolved ancestry</a:t>
            </a:r>
          </a:p>
        </p:txBody>
      </p:sp>
      <p:sp>
        <p:nvSpPr>
          <p:cNvPr id="5" name="">
            <a:extLst xmlns:a="http://schemas.openxmlformats.org/drawingml/2006/main">
              <a:ext uri="{FF2B5EF4-FFF2-40B4-BE49-F238E27FC236}">
                <a16:creationId xmlns:a16="http://schemas.microsoft.com/office/drawing/2014/main" id="{E3BE2791-F6E6-4F8B-B035-EE773F0DC0FC}"/>
              </a:ext>
            </a:extLst>
          </p:cNvPr>
          <p:cNvSpPr>
            <a:spLocks xmlns:a="http://schemas.openxmlformats.org/drawingml/2006/main" noGrp="1"/>
          </p:cNvSpPr>
          <p:nvPr/>
        </p:nvSpPr>
        <p:spPr>
          <a:xfrm xmlns:a="http://schemas.openxmlformats.org/drawingml/2006/main">
            <a:off x="685800" y="26289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Separate calibration, fixed costs and locked evaluation</a:t>
            </a:r>
          </a:p>
        </p:txBody>
      </p:sp>
      <p:sp>
        <p:nvSpPr>
          <p:cNvPr id="6" name="">
            <a:extLst xmlns:a="http://schemas.openxmlformats.org/drawingml/2006/main">
              <a:ext uri="{FF2B5EF4-FFF2-40B4-BE49-F238E27FC236}">
                <a16:creationId xmlns:a16="http://schemas.microsoft.com/office/drawing/2014/main" id="{FA1D3887-3436-4C95-99BC-8BE16D4C0CE3}"/>
              </a:ext>
            </a:extLst>
          </p:cNvPr>
          <p:cNvSpPr>
            <a:spLocks xmlns:a="http://schemas.openxmlformats.org/drawingml/2006/main" noGrp="1"/>
          </p:cNvSpPr>
          <p:nvPr/>
        </p:nvSpPr>
        <p:spPr>
          <a:xfrm xmlns:a="http://schemas.openxmlformats.org/drawingml/2006/main">
            <a:off x="685800" y="3571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Broader cameras, generators, editors and processing</a:t>
            </a:r>
          </a:p>
        </p:txBody>
      </p:sp>
      <p:sp>
        <p:nvSpPr>
          <p:cNvPr id="7" name="">
            <a:extLst xmlns:a="http://schemas.openxmlformats.org/drawingml/2006/main">
              <a:ext uri="{FF2B5EF4-FFF2-40B4-BE49-F238E27FC236}">
                <a16:creationId xmlns:a16="http://schemas.microsoft.com/office/drawing/2014/main" id="{CE206C9A-6616-43D3-88ED-80CE73AF583F}"/>
              </a:ext>
            </a:extLst>
          </p:cNvPr>
          <p:cNvSpPr>
            <a:spLocks xmlns:a="http://schemas.openxmlformats.org/drawingml/2006/main" noGrp="1"/>
          </p:cNvSpPr>
          <p:nvPr/>
        </p:nvSpPr>
        <p:spPr>
          <a:xfrm xmlns:a="http://schemas.openxmlformats.org/drawingml/2006/main">
            <a:off x="685800" y="49815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My central lesson: verify what a score actually proves.</a:t>
            </a:r>
          </a:p>
        </p:txBody>
      </p:sp>
    </p:spTree>
    <p:extLst>
      <p:ext uri="{BB962C8B-B14F-4D97-AF65-F5344CB8AC3E}">
        <p14:creationId xmlns:p14="http://schemas.microsoft.com/office/powerpoint/2010/main" val="19181707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8ED2A93-EBFF-4961-BF52-9959F8C43FE2}"/>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14. Selected references: detection and data</a:t>
            </a:r>
          </a:p>
        </p:txBody>
      </p:sp>
      <p:sp>
        <p:nvSpPr>
          <p:cNvPr id="2" name="">
            <a:extLst xmlns:a="http://schemas.openxmlformats.org/drawingml/2006/main">
              <a:ext uri="{FF2B5EF4-FFF2-40B4-BE49-F238E27FC236}">
                <a16:creationId xmlns:a16="http://schemas.microsoft.com/office/drawing/2014/main" id="{6B74E3A1-2703-418E-BDF8-873900300B76}"/>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Reference appendix · full bibliographic entries in the report</a:t>
            </a:r>
          </a:p>
        </p:txBody>
      </p:sp>
      <p:sp>
        <p:nvSpPr>
          <p:cNvPr id="3" name="">
            <a:extLst xmlns:a="http://schemas.openxmlformats.org/drawingml/2006/main">
              <a:ext uri="{FF2B5EF4-FFF2-40B4-BE49-F238E27FC236}">
                <a16:creationId xmlns:a16="http://schemas.microsoft.com/office/drawing/2014/main" id="{68D708D4-E083-4916-88A4-E94EDCD43083}"/>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14</a:t>
            </a:r>
          </a:p>
        </p:txBody>
      </p:sp>
      <p:sp>
        <p:nvSpPr>
          <p:cNvPr id="4" name="">
            <a:extLst xmlns:a="http://schemas.openxmlformats.org/drawingml/2006/main">
              <a:ext uri="{FF2B5EF4-FFF2-40B4-BE49-F238E27FC236}">
                <a16:creationId xmlns:a16="http://schemas.microsoft.com/office/drawing/2014/main" id="{3192A4E4-8B6B-4734-A81D-38966B7D482D}"/>
              </a:ext>
            </a:extLst>
          </p:cNvPr>
          <p:cNvSpPr>
            <a:spLocks xmlns:a="http://schemas.openxmlformats.org/drawingml/2006/main" noGrp="1"/>
          </p:cNvSpPr>
          <p:nvPr/>
        </p:nvSpPr>
        <p:spPr>
          <a:xfrm xmlns:a="http://schemas.openxmlformats.org/drawingml/2006/main">
            <a:off x="685800" y="14763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Wang et al. (2020)</a:t>
            </a:r>
          </a:p>
        </p:txBody>
      </p:sp>
      <p:sp>
        <p:nvSpPr>
          <p:cNvPr id="5" name="">
            <a:extLst xmlns:a="http://schemas.openxmlformats.org/drawingml/2006/main">
              <a:ext uri="{FF2B5EF4-FFF2-40B4-BE49-F238E27FC236}">
                <a16:creationId xmlns:a16="http://schemas.microsoft.com/office/drawing/2014/main" id="{0FCA19D4-7350-4CEB-BCA7-62DCAA62A8BA}"/>
              </a:ext>
            </a:extLst>
          </p:cNvPr>
          <p:cNvSpPr>
            <a:spLocks xmlns:a="http://schemas.openxmlformats.org/drawingml/2006/main" noGrp="1"/>
          </p:cNvSpPr>
          <p:nvPr/>
        </p:nvSpPr>
        <p:spPr>
          <a:xfrm xmlns:a="http://schemas.openxmlformats.org/drawingml/2006/main">
            <a:off x="685800" y="17811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CNN-generated images are surprisingly easy to spot… for now. CVPR.</a:t>
            </a:r>
          </a:p>
        </p:txBody>
      </p:sp>
      <p:sp>
        <p:nvSpPr>
          <p:cNvPr id="6" name="">
            <a:extLst xmlns:a="http://schemas.openxmlformats.org/drawingml/2006/main">
              <a:ext uri="{FF2B5EF4-FFF2-40B4-BE49-F238E27FC236}">
                <a16:creationId xmlns:a16="http://schemas.microsoft.com/office/drawing/2014/main" id="{48540F83-403E-40C6-B005-BA59C4361886}"/>
              </a:ext>
            </a:extLst>
          </p:cNvPr>
          <p:cNvSpPr>
            <a:spLocks xmlns:a="http://schemas.openxmlformats.org/drawingml/2006/main" noGrp="1"/>
          </p:cNvSpPr>
          <p:nvPr/>
        </p:nvSpPr>
        <p:spPr>
          <a:xfrm xmlns:a="http://schemas.openxmlformats.org/drawingml/2006/main">
            <a:off x="685800" y="22002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Ojha et al. (2023)</a:t>
            </a:r>
          </a:p>
        </p:txBody>
      </p:sp>
      <p:sp>
        <p:nvSpPr>
          <p:cNvPr id="7" name="">
            <a:extLst xmlns:a="http://schemas.openxmlformats.org/drawingml/2006/main">
              <a:ext uri="{FF2B5EF4-FFF2-40B4-BE49-F238E27FC236}">
                <a16:creationId xmlns:a16="http://schemas.microsoft.com/office/drawing/2014/main" id="{A7646AAF-D119-4A08-A96E-7B63E3D446BC}"/>
              </a:ext>
            </a:extLst>
          </p:cNvPr>
          <p:cNvSpPr>
            <a:spLocks xmlns:a="http://schemas.openxmlformats.org/drawingml/2006/main" noGrp="1"/>
          </p:cNvSpPr>
          <p:nvPr/>
        </p:nvSpPr>
        <p:spPr>
          <a:xfrm xmlns:a="http://schemas.openxmlformats.org/drawingml/2006/main">
            <a:off x="685800" y="25050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Towards universal fake image detectors. CVPR.</a:t>
            </a:r>
          </a:p>
        </p:txBody>
      </p:sp>
      <p:sp>
        <p:nvSpPr>
          <p:cNvPr id="8" name="">
            <a:extLst xmlns:a="http://schemas.openxmlformats.org/drawingml/2006/main">
              <a:ext uri="{FF2B5EF4-FFF2-40B4-BE49-F238E27FC236}">
                <a16:creationId xmlns:a16="http://schemas.microsoft.com/office/drawing/2014/main" id="{E0241FF4-986C-4B3B-AC46-CF961124AB86}"/>
              </a:ext>
            </a:extLst>
          </p:cNvPr>
          <p:cNvSpPr>
            <a:spLocks xmlns:a="http://schemas.openxmlformats.org/drawingml/2006/main" noGrp="1"/>
          </p:cNvSpPr>
          <p:nvPr/>
        </p:nvSpPr>
        <p:spPr>
          <a:xfrm xmlns:a="http://schemas.openxmlformats.org/drawingml/2006/main">
            <a:off x="685800" y="29241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Grommelt et al. (2024)</a:t>
            </a:r>
          </a:p>
        </p:txBody>
      </p:sp>
      <p:sp>
        <p:nvSpPr>
          <p:cNvPr id="9" name="">
            <a:extLst xmlns:a="http://schemas.openxmlformats.org/drawingml/2006/main">
              <a:ext uri="{FF2B5EF4-FFF2-40B4-BE49-F238E27FC236}">
                <a16:creationId xmlns:a16="http://schemas.microsoft.com/office/drawing/2014/main" id="{64850E62-515C-4F37-AA16-E3C689BB9A7E}"/>
              </a:ext>
            </a:extLst>
          </p:cNvPr>
          <p:cNvSpPr>
            <a:spLocks xmlns:a="http://schemas.openxmlformats.org/drawingml/2006/main" noGrp="1"/>
          </p:cNvSpPr>
          <p:nvPr/>
        </p:nvSpPr>
        <p:spPr>
          <a:xfrm xmlns:a="http://schemas.openxmlformats.org/drawingml/2006/main">
            <a:off x="685800" y="32289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Fake or JPEG? arXiv:2403.17608.</a:t>
            </a:r>
          </a:p>
        </p:txBody>
      </p:sp>
      <p:sp>
        <p:nvSpPr>
          <p:cNvPr id="10" name="">
            <a:extLst xmlns:a="http://schemas.openxmlformats.org/drawingml/2006/main">
              <a:ext uri="{FF2B5EF4-FFF2-40B4-BE49-F238E27FC236}">
                <a16:creationId xmlns:a16="http://schemas.microsoft.com/office/drawing/2014/main" id="{D9C2D4CA-0BEF-4114-9396-1EBEB05727BB}"/>
              </a:ext>
            </a:extLst>
          </p:cNvPr>
          <p:cNvSpPr>
            <a:spLocks xmlns:a="http://schemas.openxmlformats.org/drawingml/2006/main" noGrp="1"/>
          </p:cNvSpPr>
          <p:nvPr/>
        </p:nvSpPr>
        <p:spPr>
          <a:xfrm xmlns:a="http://schemas.openxmlformats.org/drawingml/2006/main">
            <a:off x="685800" y="36480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Abdelhamed et al. (2018)</a:t>
            </a:r>
          </a:p>
        </p:txBody>
      </p:sp>
      <p:sp>
        <p:nvSpPr>
          <p:cNvPr id="11" name="">
            <a:extLst xmlns:a="http://schemas.openxmlformats.org/drawingml/2006/main">
              <a:ext uri="{FF2B5EF4-FFF2-40B4-BE49-F238E27FC236}">
                <a16:creationId xmlns:a16="http://schemas.microsoft.com/office/drawing/2014/main" id="{EC899DAF-833B-4882-ACE7-947FDB6E698D}"/>
              </a:ext>
            </a:extLst>
          </p:cNvPr>
          <p:cNvSpPr>
            <a:spLocks xmlns:a="http://schemas.openxmlformats.org/drawingml/2006/main" noGrp="1"/>
          </p:cNvSpPr>
          <p:nvPr/>
        </p:nvSpPr>
        <p:spPr>
          <a:xfrm xmlns:a="http://schemas.openxmlformats.org/drawingml/2006/main">
            <a:off x="685800" y="3952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A high-quality denoising dataset for smartphone cameras. CVPR.</a:t>
            </a:r>
          </a:p>
        </p:txBody>
      </p:sp>
      <p:sp>
        <p:nvSpPr>
          <p:cNvPr id="12" name="">
            <a:extLst xmlns:a="http://schemas.openxmlformats.org/drawingml/2006/main">
              <a:ext uri="{FF2B5EF4-FFF2-40B4-BE49-F238E27FC236}">
                <a16:creationId xmlns:a16="http://schemas.microsoft.com/office/drawing/2014/main" id="{8667B082-4669-48CD-9920-C89605618C08}"/>
              </a:ext>
            </a:extLst>
          </p:cNvPr>
          <p:cNvSpPr>
            <a:spLocks xmlns:a="http://schemas.openxmlformats.org/drawingml/2006/main" noGrp="1"/>
          </p:cNvSpPr>
          <p:nvPr/>
        </p:nvSpPr>
        <p:spPr>
          <a:xfrm xmlns:a="http://schemas.openxmlformats.org/drawingml/2006/main">
            <a:off x="685800" y="43719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Chen et al. (2018)</a:t>
            </a:r>
          </a:p>
        </p:txBody>
      </p:sp>
      <p:sp>
        <p:nvSpPr>
          <p:cNvPr id="13" name="">
            <a:extLst xmlns:a="http://schemas.openxmlformats.org/drawingml/2006/main">
              <a:ext uri="{FF2B5EF4-FFF2-40B4-BE49-F238E27FC236}">
                <a16:creationId xmlns:a16="http://schemas.microsoft.com/office/drawing/2014/main" id="{54EE372C-7B70-4BCB-A182-DC4B80263921}"/>
              </a:ext>
            </a:extLst>
          </p:cNvPr>
          <p:cNvSpPr>
            <a:spLocks xmlns:a="http://schemas.openxmlformats.org/drawingml/2006/main" noGrp="1"/>
          </p:cNvSpPr>
          <p:nvPr/>
        </p:nvSpPr>
        <p:spPr>
          <a:xfrm xmlns:a="http://schemas.openxmlformats.org/drawingml/2006/main">
            <a:off x="685800" y="46767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Learning to see in the dark. CVPR.</a:t>
            </a:r>
          </a:p>
        </p:txBody>
      </p:sp>
      <p:sp>
        <p:nvSpPr>
          <p:cNvPr id="14" name="">
            <a:extLst xmlns:a="http://schemas.openxmlformats.org/drawingml/2006/main">
              <a:ext uri="{FF2B5EF4-FFF2-40B4-BE49-F238E27FC236}">
                <a16:creationId xmlns:a16="http://schemas.microsoft.com/office/drawing/2014/main" id="{2B0F8C2C-98B5-4AD4-BEA2-21028ABA613F}"/>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Keleş (2026)</a:t>
            </a:r>
          </a:p>
        </p:txBody>
      </p:sp>
      <p:sp>
        <p:nvSpPr>
          <p:cNvPr id="15" name="">
            <a:extLst xmlns:a="http://schemas.openxmlformats.org/drawingml/2006/main">
              <a:ext uri="{FF2B5EF4-FFF2-40B4-BE49-F238E27FC236}">
                <a16:creationId xmlns:a16="http://schemas.microsoft.com/office/drawing/2014/main" id="{DEEF5F34-2F83-480A-821B-D48C2C5B9DA1}"/>
              </a:ext>
            </a:extLst>
          </p:cNvPr>
          <p:cNvSpPr>
            <a:spLocks xmlns:a="http://schemas.openxmlformats.org/drawingml/2006/main" noGrp="1"/>
          </p:cNvSpPr>
          <p:nvPr/>
        </p:nvSpPr>
        <p:spPr>
          <a:xfrm xmlns:a="http://schemas.openxmlformats.org/drawingml/2006/main">
            <a:off x="685800" y="54006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PixelProof research records, source commit 497d45c. GitHub.</a:t>
            </a:r>
          </a:p>
        </p:txBody>
      </p:sp>
    </p:spTree>
    <p:extLst>
      <p:ext uri="{BB962C8B-B14F-4D97-AF65-F5344CB8AC3E}">
        <p14:creationId xmlns:p14="http://schemas.microsoft.com/office/powerpoint/2010/main" val="30401087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AA228FA-5D69-4EAB-9E0D-4FC79F1A596F}"/>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15. Selected references: features and evaluation</a:t>
            </a:r>
          </a:p>
        </p:txBody>
      </p:sp>
      <p:sp>
        <p:nvSpPr>
          <p:cNvPr id="2" name="">
            <a:extLst xmlns:a="http://schemas.openxmlformats.org/drawingml/2006/main">
              <a:ext uri="{FF2B5EF4-FFF2-40B4-BE49-F238E27FC236}">
                <a16:creationId xmlns:a16="http://schemas.microsoft.com/office/drawing/2014/main" id="{9FE16F86-0ACF-4F18-A9C7-8C79EBB5BC21}"/>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Reference appendix · full bibliographic entries in the report</a:t>
            </a:r>
          </a:p>
        </p:txBody>
      </p:sp>
      <p:sp>
        <p:nvSpPr>
          <p:cNvPr id="3" name="">
            <a:extLst xmlns:a="http://schemas.openxmlformats.org/drawingml/2006/main">
              <a:ext uri="{FF2B5EF4-FFF2-40B4-BE49-F238E27FC236}">
                <a16:creationId xmlns:a16="http://schemas.microsoft.com/office/drawing/2014/main" id="{731631BE-1133-4B41-A409-F76F409B7DE2}"/>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15</a:t>
            </a:r>
          </a:p>
        </p:txBody>
      </p:sp>
      <p:sp>
        <p:nvSpPr>
          <p:cNvPr id="4" name="">
            <a:extLst xmlns:a="http://schemas.openxmlformats.org/drawingml/2006/main">
              <a:ext uri="{FF2B5EF4-FFF2-40B4-BE49-F238E27FC236}">
                <a16:creationId xmlns:a16="http://schemas.microsoft.com/office/drawing/2014/main" id="{4B45D523-AF59-4B83-9B66-9BA920AF6A13}"/>
              </a:ext>
            </a:extLst>
          </p:cNvPr>
          <p:cNvSpPr>
            <a:spLocks xmlns:a="http://schemas.openxmlformats.org/drawingml/2006/main" noGrp="1"/>
          </p:cNvSpPr>
          <p:nvPr/>
        </p:nvSpPr>
        <p:spPr>
          <a:xfrm xmlns:a="http://schemas.openxmlformats.org/drawingml/2006/main">
            <a:off x="685800" y="14763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Radford et al. (2021)</a:t>
            </a:r>
          </a:p>
        </p:txBody>
      </p:sp>
      <p:sp>
        <p:nvSpPr>
          <p:cNvPr id="5" name="">
            <a:extLst xmlns:a="http://schemas.openxmlformats.org/drawingml/2006/main">
              <a:ext uri="{FF2B5EF4-FFF2-40B4-BE49-F238E27FC236}">
                <a16:creationId xmlns:a16="http://schemas.microsoft.com/office/drawing/2014/main" id="{C574BA37-1EF1-41E4-8AB7-700CBB3DBD0F}"/>
              </a:ext>
            </a:extLst>
          </p:cNvPr>
          <p:cNvSpPr>
            <a:spLocks xmlns:a="http://schemas.openxmlformats.org/drawingml/2006/main" noGrp="1"/>
          </p:cNvSpPr>
          <p:nvPr/>
        </p:nvSpPr>
        <p:spPr>
          <a:xfrm xmlns:a="http://schemas.openxmlformats.org/drawingml/2006/main">
            <a:off x="685800" y="17811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Learning transferable visual models from natural language supervision. PMLR.</a:t>
            </a:r>
          </a:p>
        </p:txBody>
      </p:sp>
      <p:sp>
        <p:nvSpPr>
          <p:cNvPr id="6" name="">
            <a:extLst xmlns:a="http://schemas.openxmlformats.org/drawingml/2006/main">
              <a:ext uri="{FF2B5EF4-FFF2-40B4-BE49-F238E27FC236}">
                <a16:creationId xmlns:a16="http://schemas.microsoft.com/office/drawing/2014/main" id="{2D304883-AC80-4F98-B0F6-3A16C63FC2B2}"/>
              </a:ext>
            </a:extLst>
          </p:cNvPr>
          <p:cNvSpPr>
            <a:spLocks xmlns:a="http://schemas.openxmlformats.org/drawingml/2006/main" noGrp="1"/>
          </p:cNvSpPr>
          <p:nvPr/>
        </p:nvSpPr>
        <p:spPr>
          <a:xfrm xmlns:a="http://schemas.openxmlformats.org/drawingml/2006/main">
            <a:off x="685800" y="22002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Oquab et al. (2024)</a:t>
            </a:r>
          </a:p>
        </p:txBody>
      </p:sp>
      <p:sp>
        <p:nvSpPr>
          <p:cNvPr id="7" name="">
            <a:extLst xmlns:a="http://schemas.openxmlformats.org/drawingml/2006/main">
              <a:ext uri="{FF2B5EF4-FFF2-40B4-BE49-F238E27FC236}">
                <a16:creationId xmlns:a16="http://schemas.microsoft.com/office/drawing/2014/main" id="{66BAD779-A414-4B91-99B4-A211F0467CDF}"/>
              </a:ext>
            </a:extLst>
          </p:cNvPr>
          <p:cNvSpPr>
            <a:spLocks xmlns:a="http://schemas.openxmlformats.org/drawingml/2006/main" noGrp="1"/>
          </p:cNvSpPr>
          <p:nvPr/>
        </p:nvSpPr>
        <p:spPr>
          <a:xfrm xmlns:a="http://schemas.openxmlformats.org/drawingml/2006/main">
            <a:off x="685800" y="25050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DINOv2: Learning robust visual features without supervision. TMLR.</a:t>
            </a:r>
          </a:p>
        </p:txBody>
      </p:sp>
      <p:sp>
        <p:nvSpPr>
          <p:cNvPr id="8" name="">
            <a:extLst xmlns:a="http://schemas.openxmlformats.org/drawingml/2006/main">
              <a:ext uri="{FF2B5EF4-FFF2-40B4-BE49-F238E27FC236}">
                <a16:creationId xmlns:a16="http://schemas.microsoft.com/office/drawing/2014/main" id="{A29AD4DA-22B6-4E15-A05C-E3BCEFD1B427}"/>
              </a:ext>
            </a:extLst>
          </p:cNvPr>
          <p:cNvSpPr>
            <a:spLocks xmlns:a="http://schemas.openxmlformats.org/drawingml/2006/main" noGrp="1"/>
          </p:cNvSpPr>
          <p:nvPr/>
        </p:nvSpPr>
        <p:spPr>
          <a:xfrm xmlns:a="http://schemas.openxmlformats.org/drawingml/2006/main">
            <a:off x="685800" y="29241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Kim et al. (2026)</a:t>
            </a:r>
          </a:p>
        </p:txBody>
      </p:sp>
      <p:sp>
        <p:nvSpPr>
          <p:cNvPr id="9" name="">
            <a:extLst xmlns:a="http://schemas.openxmlformats.org/drawingml/2006/main">
              <a:ext uri="{FF2B5EF4-FFF2-40B4-BE49-F238E27FC236}">
                <a16:creationId xmlns:a16="http://schemas.microsoft.com/office/drawing/2014/main" id="{8E17AE72-C78D-49E7-9B40-D9730237B3AB}"/>
              </a:ext>
            </a:extLst>
          </p:cNvPr>
          <p:cNvSpPr>
            <a:spLocks xmlns:a="http://schemas.openxmlformats.org/drawingml/2006/main" noGrp="1"/>
          </p:cNvSpPr>
          <p:nvPr/>
        </p:nvSpPr>
        <p:spPr>
          <a:xfrm xmlns:a="http://schemas.openxmlformats.org/drawingml/2006/main">
            <a:off x="685800" y="32289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Dissect and prune: Enhancing robustness in AI-generated image detection. ICML.</a:t>
            </a:r>
          </a:p>
        </p:txBody>
      </p:sp>
      <p:sp>
        <p:nvSpPr>
          <p:cNvPr id="10" name="">
            <a:extLst xmlns:a="http://schemas.openxmlformats.org/drawingml/2006/main">
              <a:ext uri="{FF2B5EF4-FFF2-40B4-BE49-F238E27FC236}">
                <a16:creationId xmlns:a16="http://schemas.microsoft.com/office/drawing/2014/main" id="{01E398D9-FDC7-4AE0-827F-E5DBA7167A07}"/>
              </a:ext>
            </a:extLst>
          </p:cNvPr>
          <p:cNvSpPr>
            <a:spLocks xmlns:a="http://schemas.openxmlformats.org/drawingml/2006/main" noGrp="1"/>
          </p:cNvSpPr>
          <p:nvPr/>
        </p:nvSpPr>
        <p:spPr>
          <a:xfrm xmlns:a="http://schemas.openxmlformats.org/drawingml/2006/main">
            <a:off x="685800" y="36480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Guo et al. (2017)</a:t>
            </a:r>
          </a:p>
        </p:txBody>
      </p:sp>
      <p:sp>
        <p:nvSpPr>
          <p:cNvPr id="11" name="">
            <a:extLst xmlns:a="http://schemas.openxmlformats.org/drawingml/2006/main">
              <a:ext uri="{FF2B5EF4-FFF2-40B4-BE49-F238E27FC236}">
                <a16:creationId xmlns:a16="http://schemas.microsoft.com/office/drawing/2014/main" id="{7CD79383-233E-4258-9F0A-1C08AA1F1E39}"/>
              </a:ext>
            </a:extLst>
          </p:cNvPr>
          <p:cNvSpPr>
            <a:spLocks xmlns:a="http://schemas.openxmlformats.org/drawingml/2006/main" noGrp="1"/>
          </p:cNvSpPr>
          <p:nvPr/>
        </p:nvSpPr>
        <p:spPr>
          <a:xfrm xmlns:a="http://schemas.openxmlformats.org/drawingml/2006/main">
            <a:off x="685800" y="39528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On calibration of modern neural networks. PMLR.</a:t>
            </a:r>
          </a:p>
        </p:txBody>
      </p:sp>
      <p:sp>
        <p:nvSpPr>
          <p:cNvPr id="12" name="">
            <a:extLst xmlns:a="http://schemas.openxmlformats.org/drawingml/2006/main">
              <a:ext uri="{FF2B5EF4-FFF2-40B4-BE49-F238E27FC236}">
                <a16:creationId xmlns:a16="http://schemas.microsoft.com/office/drawing/2014/main" id="{447C520D-69B2-4B7B-81D7-8CFE4E4995F3}"/>
              </a:ext>
            </a:extLst>
          </p:cNvPr>
          <p:cNvSpPr>
            <a:spLocks xmlns:a="http://schemas.openxmlformats.org/drawingml/2006/main" noGrp="1"/>
          </p:cNvSpPr>
          <p:nvPr/>
        </p:nvSpPr>
        <p:spPr>
          <a:xfrm xmlns:a="http://schemas.openxmlformats.org/drawingml/2006/main">
            <a:off x="685800" y="43719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Dwork et al. (2015)</a:t>
            </a:r>
          </a:p>
        </p:txBody>
      </p:sp>
      <p:sp>
        <p:nvSpPr>
          <p:cNvPr id="13" name="">
            <a:extLst xmlns:a="http://schemas.openxmlformats.org/drawingml/2006/main">
              <a:ext uri="{FF2B5EF4-FFF2-40B4-BE49-F238E27FC236}">
                <a16:creationId xmlns:a16="http://schemas.microsoft.com/office/drawing/2014/main" id="{36517C10-57F0-41AE-8E53-48916BD90D32}"/>
              </a:ext>
            </a:extLst>
          </p:cNvPr>
          <p:cNvSpPr>
            <a:spLocks xmlns:a="http://schemas.openxmlformats.org/drawingml/2006/main" noGrp="1"/>
          </p:cNvSpPr>
          <p:nvPr/>
        </p:nvSpPr>
        <p:spPr>
          <a:xfrm xmlns:a="http://schemas.openxmlformats.org/drawingml/2006/main">
            <a:off x="685800" y="46767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Generalization in adaptive data analysis and holdout reuse. NeurIPS.</a:t>
            </a:r>
          </a:p>
        </p:txBody>
      </p:sp>
      <p:sp>
        <p:nvSpPr>
          <p:cNvPr id="14" name="">
            <a:extLst xmlns:a="http://schemas.openxmlformats.org/drawingml/2006/main">
              <a:ext uri="{FF2B5EF4-FFF2-40B4-BE49-F238E27FC236}">
                <a16:creationId xmlns:a16="http://schemas.microsoft.com/office/drawing/2014/main" id="{B1A4D3D6-EDBF-42B7-8466-1BFE81646324}"/>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Türk Telekom (2026a, 2026b)</a:t>
            </a:r>
          </a:p>
        </p:txBody>
      </p:sp>
      <p:sp>
        <p:nvSpPr>
          <p:cNvPr id="15" name="">
            <a:extLst xmlns:a="http://schemas.openxmlformats.org/drawingml/2006/main">
              <a:ext uri="{FF2B5EF4-FFF2-40B4-BE49-F238E27FC236}">
                <a16:creationId xmlns:a16="http://schemas.microsoft.com/office/drawing/2014/main" id="{ABC75B55-B8D5-4FB9-8647-6265676F4D14}"/>
              </a:ext>
            </a:extLst>
          </p:cNvPr>
          <p:cNvSpPr>
            <a:spLocks xmlns:a="http://schemas.openxmlformats.org/drawingml/2006/main" noGrp="1"/>
          </p:cNvSpPr>
          <p:nvPr/>
        </p:nvSpPr>
        <p:spPr>
          <a:xfrm xmlns:a="http://schemas.openxmlformats.org/drawingml/2006/main">
            <a:off x="685800" y="5400675"/>
            <a:ext cx="10820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2025 Annual Report; corporate About Us page.</a:t>
            </a:r>
          </a:p>
        </p:txBody>
      </p:sp>
    </p:spTree>
    <p:extLst>
      <p:ext uri="{BB962C8B-B14F-4D97-AF65-F5344CB8AC3E}">
        <p14:creationId xmlns:p14="http://schemas.microsoft.com/office/powerpoint/2010/main" val="4736424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2026-09-28T12:34:23.9900000Z</dcterms:created>
  <dcterms:modified xsi:type="dcterms:W3CDTF">2026-09-28T12:34:23.9900000Z</dcterms:modified>
</coreProperties>
</file>