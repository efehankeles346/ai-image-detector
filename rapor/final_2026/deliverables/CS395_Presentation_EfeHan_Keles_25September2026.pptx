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b9f91017b8c429f" /><Relationship Type="http://schemas.openxmlformats.org/officeDocument/2006/relationships/extended-properties" Target="/docProps/app.xml" Id="R187cb088452440e0" /><Relationship Type="http://schemas.openxmlformats.org/officeDocument/2006/relationships/officeDocument" Target="/ppt/presentation.xml" Id="R37fce0a060eb41c1" /></Relationships>
</file>

<file path=ppt/presentation.xml><?xml version="1.0" encoding="utf-8"?>
<p:presentation xmlns:p="http://schemas.openxmlformats.org/presentationml/2006/main">
  <p:sldMasterIdLst>
    <p:sldMasterId xmlns:r="http://schemas.openxmlformats.org/officeDocument/2006/relationships" id="2147483648" r:id="R2896cf8ab0c74f89"/>
  </p:sldMasterIdLst>
  <p:notesMasterIdLst>
    <p:notesMasterId xmlns:r="http://schemas.openxmlformats.org/officeDocument/2006/relationships" r:id="R4959a867a1b24de9"/>
  </p:notesMasterIdLst>
  <p:sldIdLst>
    <p:sldId xmlns:r="http://schemas.openxmlformats.org/officeDocument/2006/relationships" id="256" r:id="R671c85ca656f46f9"/>
    <p:sldId xmlns:r="http://schemas.openxmlformats.org/officeDocument/2006/relationships" id="257" r:id="R783e99d2e86b4a1c"/>
    <p:sldId xmlns:r="http://schemas.openxmlformats.org/officeDocument/2006/relationships" id="258" r:id="Rc5dddc6c3b1b4a1f"/>
    <p:sldId xmlns:r="http://schemas.openxmlformats.org/officeDocument/2006/relationships" id="259" r:id="R42a64a6b5e1642ed"/>
    <p:sldId xmlns:r="http://schemas.openxmlformats.org/officeDocument/2006/relationships" id="260" r:id="R14e4624db88b49e9"/>
    <p:sldId xmlns:r="http://schemas.openxmlformats.org/officeDocument/2006/relationships" id="261" r:id="R1ad61806b5b5461e"/>
    <p:sldId xmlns:r="http://schemas.openxmlformats.org/officeDocument/2006/relationships" id="262" r:id="R3ab970e005614bf8"/>
    <p:sldId xmlns:r="http://schemas.openxmlformats.org/officeDocument/2006/relationships" id="263" r:id="R6dd3c58357894477"/>
    <p:sldId xmlns:r="http://schemas.openxmlformats.org/officeDocument/2006/relationships" id="264" r:id="Rc9b84fa4e90c4374"/>
    <p:sldId xmlns:r="http://schemas.openxmlformats.org/officeDocument/2006/relationships" id="265" r:id="Rf6da60324394469e"/>
    <p:sldId xmlns:r="http://schemas.openxmlformats.org/officeDocument/2006/relationships" id="266" r:id="R78970e8db652422c"/>
    <p:sldId xmlns:r="http://schemas.openxmlformats.org/officeDocument/2006/relationships" id="267" r:id="R31ad93fdc08f4357"/>
    <p:sldId xmlns:r="http://schemas.openxmlformats.org/officeDocument/2006/relationships" id="268" r:id="Rd86f62d70e374fe3"/>
    <p:sldId xmlns:r="http://schemas.openxmlformats.org/officeDocument/2006/relationships" id="269" r:id="R8cf56fe29ffd4f6c"/>
    <p:sldId xmlns:r="http://schemas.openxmlformats.org/officeDocument/2006/relationships" id="270" r:id="Rda9f71f7579243d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1bd3adc84848bd" /><Relationship Type="http://schemas.openxmlformats.org/officeDocument/2006/relationships/slideMaster" Target="/ppt/slideMasters/slideMaster1.xml" Id="R2896cf8ab0c74f89" /><Relationship Type="http://schemas.openxmlformats.org/officeDocument/2006/relationships/notesMaster" Target="/ppt/notesMasters/notesMaster1.xml" Id="R4959a867a1b24de9" /><Relationship Type="http://schemas.openxmlformats.org/officeDocument/2006/relationships/presProps" Target="/ppt/presProps.xml" Id="R109653b3b4b14361" /><Relationship Type="http://schemas.openxmlformats.org/officeDocument/2006/relationships/tableStyles" Target="/ppt/tableStyles.xml" Id="Rb91e9e2ec16d46ed" /><Relationship Type="http://schemas.openxmlformats.org/officeDocument/2006/relationships/slide" Target="/ppt/slides/slide1.xml" Id="R671c85ca656f46f9" /><Relationship Type="http://schemas.openxmlformats.org/officeDocument/2006/relationships/slide" Target="/ppt/slides/slide2.xml" Id="R783e99d2e86b4a1c" /><Relationship Type="http://schemas.openxmlformats.org/officeDocument/2006/relationships/slide" Target="/ppt/slides/slide3.xml" Id="Rc5dddc6c3b1b4a1f" /><Relationship Type="http://schemas.openxmlformats.org/officeDocument/2006/relationships/slide" Target="/ppt/slides/slide4.xml" Id="R42a64a6b5e1642ed" /><Relationship Type="http://schemas.openxmlformats.org/officeDocument/2006/relationships/slide" Target="/ppt/slides/slide5.xml" Id="R14e4624db88b49e9" /><Relationship Type="http://schemas.openxmlformats.org/officeDocument/2006/relationships/slide" Target="/ppt/slides/slide6.xml" Id="R1ad61806b5b5461e" /><Relationship Type="http://schemas.openxmlformats.org/officeDocument/2006/relationships/slide" Target="/ppt/slides/slide7.xml" Id="R3ab970e005614bf8" /><Relationship Type="http://schemas.openxmlformats.org/officeDocument/2006/relationships/slide" Target="/ppt/slides/slide8.xml" Id="R6dd3c58357894477" /><Relationship Type="http://schemas.openxmlformats.org/officeDocument/2006/relationships/slide" Target="/ppt/slides/slide9.xml" Id="Rc9b84fa4e90c4374" /><Relationship Type="http://schemas.openxmlformats.org/officeDocument/2006/relationships/slide" Target="/ppt/slides/slide10.xml" Id="Rf6da60324394469e" /><Relationship Type="http://schemas.openxmlformats.org/officeDocument/2006/relationships/slide" Target="/ppt/slides/slide11.xml" Id="R78970e8db652422c" /><Relationship Type="http://schemas.openxmlformats.org/officeDocument/2006/relationships/slide" Target="/ppt/slides/slide12.xml" Id="R31ad93fdc08f4357" /><Relationship Type="http://schemas.openxmlformats.org/officeDocument/2006/relationships/slide" Target="/ppt/slides/slide13.xml" Id="Rd86f62d70e374fe3" /><Relationship Type="http://schemas.openxmlformats.org/officeDocument/2006/relationships/slide" Target="/ppt/slides/slide14.xml" Id="R8cf56fe29ffd4f6c" /><Relationship Type="http://schemas.openxmlformats.org/officeDocument/2006/relationships/slide" Target="/ppt/slides/slide15.xml" Id="Rda9f71f7579243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729617bdbb47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e7e19efb594097" /><Relationship Type="http://schemas.openxmlformats.org/officeDocument/2006/relationships/notesMaster" Target="/ppt/notesMasters/notesMaster1.xml" Id="Re65b1cb3b4ef4c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2d213a98844f73" /><Relationship Type="http://schemas.openxmlformats.org/officeDocument/2006/relationships/notesMaster" Target="/ppt/notesMasters/notesMaster1.xml" Id="R34f8d040a80040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ab1fd5aba74559" /><Relationship Type="http://schemas.openxmlformats.org/officeDocument/2006/relationships/notesMaster" Target="/ppt/notesMasters/notesMaster1.xml" Id="R53992426d5ce4e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f8cc5e0e604de2" /><Relationship Type="http://schemas.openxmlformats.org/officeDocument/2006/relationships/notesMaster" Target="/ppt/notesMasters/notesMaster1.xml" Id="Ra0ffb7f31d1f45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d6ab7bf5f04324" /><Relationship Type="http://schemas.openxmlformats.org/officeDocument/2006/relationships/notesMaster" Target="/ppt/notesMasters/notesMaster1.xml" Id="Ra4103f7dcf1748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d42fcb442242c6" /><Relationship Type="http://schemas.openxmlformats.org/officeDocument/2006/relationships/notesMaster" Target="/ppt/notesMasters/notesMaster1.xml" Id="R15189ea3224346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b999e4e47743e6" /><Relationship Type="http://schemas.openxmlformats.org/officeDocument/2006/relationships/notesMaster" Target="/ppt/notesMasters/notesMaster1.xml" Id="Red8d197d9da941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bdc2377db34736" /><Relationship Type="http://schemas.openxmlformats.org/officeDocument/2006/relationships/notesMaster" Target="/ppt/notesMasters/notesMaster1.xml" Id="Ra23af600650849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fee92c7ac04338" /><Relationship Type="http://schemas.openxmlformats.org/officeDocument/2006/relationships/notesMaster" Target="/ppt/notesMasters/notesMaster1.xml" Id="Re968bf2e883041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436e8fe0aa4e47" /><Relationship Type="http://schemas.openxmlformats.org/officeDocument/2006/relationships/notesMaster" Target="/ppt/notesMasters/notesMaster1.xml" Id="Rc0bc81cc1c3544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104aa96bcf94240" /><Relationship Type="http://schemas.openxmlformats.org/officeDocument/2006/relationships/notesMaster" Target="/ppt/notesMasters/notesMaster1.xml" Id="R5bd754f2317d4a8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c1f3fb28194aa2" /><Relationship Type="http://schemas.openxmlformats.org/officeDocument/2006/relationships/notesMaster" Target="/ppt/notesMasters/notesMaster1.xml" Id="R55e247485ec6469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e5e99b5c5c4887" /><Relationship Type="http://schemas.openxmlformats.org/officeDocument/2006/relationships/notesMaster" Target="/ppt/notesMasters/notesMaster1.xml" Id="R8205d652191044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f74897cc4584f3c" /><Relationship Type="http://schemas.openxmlformats.org/officeDocument/2006/relationships/notesMaster" Target="/ppt/notesMasters/notesMaster1.xml" Id="Recf8c2955ebc421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69965381741486d" /><Relationship Type="http://schemas.openxmlformats.org/officeDocument/2006/relationships/notesMaster" Target="/ppt/notesMasters/notesMaster1.xml" Id="Rcb3d22da28f246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a:t>
            </a:r>
          </a:p>
          <a:p xmlns:a="http://schemas.openxmlformats.org/drawingml/2006/main">
            <a:r>
              <a:t/>
            </a:r>
          </a:p>
          <a:p xmlns:a="http://schemas.openxmlformats.org/drawingml/2006/main">
            <a:r>
              <a:t>My internship project was PixelProof, a research prototype for detecting evidence of AI generation in images. I will explain the problem, how the project changed after failures, what the strongest model achieved, and what remains unresolved. The main result is a working local demonstration with substantial improvement on a defined development collection. It is not a universally reliable authenticity detector. The approved internship lasted forty working days. This presentation covers the technical record available before the end of the internship.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There are two related but different tasks. Model1 evaluates a whole image. We want it to find AI images while avoiding false accusations against real photographs. A false alert and a missed AI image are different errors, and improving one can worsen the other. Model2 tries to localize an edited region. A convincing heatmap is not enough; it must agree with independent edit masks and avoid highlighting authentic regions. We therefore kept localization experimental rather than presenting it as a completed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Table 1 shows why a high internal score was not enough. The early small CNN achieved about ninety-seven percent on familiar images, but performance fell on an external collection. ResNet improved the familiar score and did much worse externally. A resolution control recovered much of that loss, showing that image preparation mattered. These are historical diagnostics, not final certified results: later auditing also found confounds in the external collection. The important lesson was to investigate what changed before blaming or praising the architecture. Sources: project experiments E1 to E6 and E10.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Two corrections changed the interpretation of earlier work. Some datasets encoded real and AI labels in the opposite direction. We added explicit mappings and reran affected experiments. One DINOv2 result changed from near chance to useful discrimination, so the original explanation was withdrawn. Another audit found that threshold selection could consult evaluation data. Correcting it to use calibration only caused the candidate to fail its admission rule. We retained these failures in the record. Training, calibration, development and final evaluation have different permitted uses. Different files are not automatically independent when they share scenes, prompts or generation ancestry. Sources: E19b, E19c and E27.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project did not train a foundation model from scratch. Frozen encoders turn an image into numerical descriptions. PixelProof fits additional components and a constrained correction around these features. E92 used twelve thousand two hundred sixty-nine training parent images, with four processing views per parent. More views test processing robustness, but do not create independent photographs. The demo checks the upload, computes original and processed scores, and applies a documented display rule. My responsibilities included directing experiments, organizing sources and reviewing evidence, with AI coding assistance used for implementation and documentation. Research references: Radford et al. 2021, Oquab et al. 2024, Kim et al. 2026 and Ojha et al. 2023.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Figure 1 is the clearest development improvement. All three models are compared on the same real-image parents. For original images, false AI alerts fell from sixty-eight out of one hundred sixty to zero. For the fixed social-style transformation, they fell from sixty-eight to fourteen. That transformation caps the long side at 1080 pixels and applies JPEG quality seventy-five. E92 detected one hundred fifty-nine of one hundred sixty AI images in each condition. This is strong progress on this collection, but zero observed original false alerts does not mean zero future risk. The real images come from only ten SIDD scenes, and these development observations were repeatedly used. Source: evidence/e92_development.json.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Twenty out of twenty meant ten numerical requirements checked twice. The requirements covered false alerts, AI recall, balanced accuracy, ranking, coverage and uncertainty. They were project-defined, correlated checks, not an external universal standard. A separate retention rule required that no AI image caught by E43 become a new miss. E92 missed one original AI example that E43 had detected. Recovering other examples did not cancel that loss under the rule. Therefore numerical success and complete acceptance are different conclusions. We should celebrate the improvement without saying the full contract passed.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displayed number caused understandable confusion. It is a raw model score multiplied by one hundred, not a probability that a photograph is AI. There is no reason to impose a fifty-percent boundary. The inherited upper cut is approximately seven point nine four; the lower cut is approximately one point one five. An original score above the upper cut keeps an AI alert visible. Two low E92 views produce no clear AI evidence. Other cases remain uncertain, and disagreement can require review. The older reference is advisory and no longer vetoes two low E92 scores. These operating points are experimental, not universally optimal. Guo et al. explain why calibration is a separate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The practical gallery check found nine false alerts in two hundred six unique original real files, and eighteen after processing. That collection had already been inspected and mostly represents one phone, so it is a diagnostic, not independent accuracy. Later source-separated experiments used different research heads. No tested calibration assignment met the full evaluation conditions. Adding source-pixel features slightly improved clean aggregates but harmed AI recall after several transformations. Those candidates were rejected instead of replacing E92. These results identify remaining weaknesses; they do not provide a new E92 accuracy estimate. Sources: E95, E146, E151 and E152.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Model2 illustrates another generalization failure. The earlier head ranked edited pixels reasonably on the original placement, with pixel AUC around zero point seven four. When edits moved, that fell to about zero point five seven. Training on two placements partly recovered performance at the new location, but harmed the original location and increased the area wrongly highlighted in authentic images. Only sixteen consumed parent images and one editor were involved. The many transformed maps are not independent samples. Moving an edit also changes its content and generated output, so this is not a pure causal location experiment. Model2 remains separate from the active demo. Sources: E132 through E135.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outcome includes a trained research system, a local upload interface, experiment commands, aggregate result files and documentation. Software guards handle invalid images, unavailable dependencies, response schema mismatches and cancellation around the heavy inference worker. The artifact manifest is checked before loading the model. The latest recorded checkpoint passed one thousand two hundred forty-five Python tests. These are software assertions, not successful classifications of that many images. No production rollout or company business impact was measured. A reproducible negative result is also a deliverable because it prevents repeating an unsupported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prototype is a meaningful student engineering result. It integrates modelling, data handling, software and evaluation. Its strongest improvement is real and reproducible for the specified development population. The equally important limitation is that we have not proved universal detection. Reused data, limited camera scenes, previously seen generator families and unknown pretraining overlap restrict the claim. Model2 also needs much broader evidence. Table 5 is the distinction I would want a reader to remember: building a working system and proving broad reliability are separate achievements.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The next priority is an independent evaluation design rather than another impressive number on familiar data. It needs separated sources and ancestry, more cameras and generators, fixed operating costs and calibration that cannot see evaluation outcomes. Localization also needs more editors and authentic controls. My central technical lesson is to verify what a score actually proves. We built a functioning prototype, improved a defined benchmark, corrected mistakes and identified the evidence still missing. Thank you. The following two slides contain references for questions; the full bibliography is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Full author lists, retrieval dates and direct source links are provided in Section 8 of the report. Project findings are traceable to the evidence map in Appendix 9.2.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Pretrained components do not transfer their published benchmark guarantees to our system. Calibration and adaptive data reuse are separate evaluation problems. Corporate context comes from official Türk Telekom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045fb1085245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0d332f246e4da3" /><Relationship Type="http://schemas.openxmlformats.org/officeDocument/2006/relationships/slideLayout" Target="/ppt/slideLayouts/slideLayout1.xml" Id="R4a2cfb6ac8b24f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2cfb6ac8b24f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0cb2df0d974b9a" /><Relationship Type="http://schemas.openxmlformats.org/officeDocument/2006/relationships/notesSlide" Target="/ppt/notesSlides/notesSlide1.xml" Id="R2e027982fe6e4b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554a8c6dab4de7" /><Relationship Type="http://schemas.openxmlformats.org/officeDocument/2006/relationships/notesSlide" Target="/ppt/notesSlides/notesSlide2.xml" Id="R0ef7d8a99323433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e9ffddeb0e34b9e" /><Relationship Type="http://schemas.openxmlformats.org/officeDocument/2006/relationships/notesSlide" Target="/ppt/notesSlides/notesSlide3.xml" Id="Re54bdfd5b50d410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a064cf9ad054d7d" /><Relationship Type="http://schemas.openxmlformats.org/officeDocument/2006/relationships/notesSlide" Target="/ppt/notesSlides/notesSlide4.xml" Id="R24c962c7823242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ce29ae817284b55" /><Relationship Type="http://schemas.openxmlformats.org/officeDocument/2006/relationships/notesSlide" Target="/ppt/notesSlides/notesSlide5.xml" Id="R3d1c9e1b72c9489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35c2297f6f1408b" /><Relationship Type="http://schemas.openxmlformats.org/officeDocument/2006/relationships/chart" Target="/ppt/slides/charts/chart1.xml" Id="R343c2c70253e4d92" /><Relationship Type="http://schemas.openxmlformats.org/officeDocument/2006/relationships/notesSlide" Target="/ppt/notesSlides/notesSlide6.xml" Id="R2bbcca05312f4ad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f86e94074b4236" /><Relationship Type="http://schemas.openxmlformats.org/officeDocument/2006/relationships/notesSlide" Target="/ppt/notesSlides/notesSlide7.xml" Id="R46e92e0b01a54f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03b49ca6e004a2a" /><Relationship Type="http://schemas.openxmlformats.org/officeDocument/2006/relationships/notesSlide" Target="/ppt/notesSlides/notesSlide8.xml" Id="R186d3de475c445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42fb490d4bf4c44" /><Relationship Type="http://schemas.openxmlformats.org/officeDocument/2006/relationships/notesSlide" Target="/ppt/notesSlides/notesSlide9.xml" Id="R3715bc989e494a1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3e4ac003dd74c2a" /><Relationship Type="http://schemas.openxmlformats.org/officeDocument/2006/relationships/notesSlide" Target="/ppt/notesSlides/notesSlide10.xml" Id="R78b231d3907a46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07009f257c24e5f" /><Relationship Type="http://schemas.openxmlformats.org/officeDocument/2006/relationships/notesSlide" Target="/ppt/notesSlides/notesSlide11.xml" Id="Ra1f80b88b2da46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d9ae8c779545b3" /><Relationship Type="http://schemas.openxmlformats.org/officeDocument/2006/relationships/notesSlide" Target="/ppt/notesSlides/notesSlide12.xml" Id="Rd3c3d07083a343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64a76480fad488a" /><Relationship Type="http://schemas.openxmlformats.org/officeDocument/2006/relationships/notesSlide" Target="/ppt/notesSlides/notesSlide13.xml" Id="Rf6093da0b9ca4ea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931be05b94a49bf" /><Relationship Type="http://schemas.openxmlformats.org/officeDocument/2006/relationships/notesSlide" Target="/ppt/notesSlides/notesSlide14.xml" Id="Rfd9a7fb40a844eb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8c60f6b53f340dd" /><Relationship Type="http://schemas.openxmlformats.org/officeDocument/2006/relationships/notesSlide" Target="/ppt/notesSlides/notesSlide15.xml" Id="R636e120a8dbf4c1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E43 reference</c:v>
          </c:tx>
          <c:spPr>
            <a:solidFill xmlns:a="http://schemas.openxmlformats.org/drawingml/2006/main">
              <a:srgbClr val="EEEEEE"/>
            </a:solidFill>
          </c:spPr>
          <c:cat>
            <c:strRef>
              <c:f>'Chart Data'!$A$2:$A$3</c:f>
              <c:strCache>
                <c:ptCount val="2"/>
                <c:pt idx="0">
                  <c:v>Original</c:v>
                </c:pt>
                <c:pt idx="1">
                  <c:v>Social-style JPEG75</c:v>
                </c:pt>
              </c:strCache>
            </c:strRef>
          </c:cat>
          <c:val>
            <c:numRef>
              <c:f>'Chart Data'!$B$2:$B$3</c:f>
              <c:numCache>
                <c:formatCode>General</c:formatCode>
                <c:ptCount val="2"/>
                <c:pt idx="0">
                  <c:v>68</c:v>
                </c:pt>
                <c:pt idx="1">
                  <c:v>68</c:v>
                </c:pt>
              </c:numCache>
            </c:numRef>
          </c:val>
        </c:ser>
        <c:ser>
          <c:idx val="1"/>
          <c:order val="1"/>
          <c:tx>
            <c:v>E86</c:v>
          </c:tx>
          <c:spPr>
            <a:solidFill xmlns:a="http://schemas.openxmlformats.org/drawingml/2006/main">
              <a:srgbClr val="AAAAAA"/>
            </a:solidFill>
          </c:spPr>
          <c:cat>
            <c:strRef>
              <c:f>'Chart Data'!$C$2:$C$3</c:f>
              <c:strCache>
                <c:ptCount val="2"/>
                <c:pt idx="0">
                  <c:v>Original</c:v>
                </c:pt>
                <c:pt idx="1">
                  <c:v>Social-style JPEG75</c:v>
                </c:pt>
              </c:strCache>
            </c:strRef>
          </c:cat>
          <c:val>
            <c:numRef>
              <c:f>'Chart Data'!$D$2:$D$3</c:f>
              <c:numCache>
                <c:formatCode>General</c:formatCode>
                <c:ptCount val="2"/>
                <c:pt idx="0">
                  <c:v>1</c:v>
                </c:pt>
                <c:pt idx="1">
                  <c:v>17</c:v>
                </c:pt>
              </c:numCache>
            </c:numRef>
          </c:val>
        </c:ser>
        <c:ser>
          <c:idx val="2"/>
          <c:order val="2"/>
          <c:tx>
            <c:v>E92</c:v>
          </c:tx>
          <c:spPr>
            <a:solidFill xmlns:a="http://schemas.openxmlformats.org/drawingml/2006/main">
              <a:srgbClr val="444444"/>
            </a:solidFill>
          </c:spPr>
          <c:cat>
            <c:strRef>
              <c:f>'Chart Data'!$E$2:$E$3</c:f>
              <c:strCache>
                <c:ptCount val="2"/>
                <c:pt idx="0">
                  <c:v>Original</c:v>
                </c:pt>
                <c:pt idx="1">
                  <c:v>Social-style JPEG75</c:v>
                </c:pt>
              </c:strCache>
            </c:strRef>
          </c:cat>
          <c:val>
            <c:numRef>
              <c:f>'Chart Data'!$F$2:$F$3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AA1815-542B-42FA-9381-62355690E1E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87979F0B-5460-4ACB-8EE0-321B965433C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ADC399DA-4149-400F-BEA7-228F742435A3}"/>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B1F33532-7B07-408A-855A-E2EA9BBC4554}"/>
              </a:ext>
            </a:extLst>
          </p:cNvPr>
          <p:cNvSpPr>
            <a:spLocks xmlns:a="http://schemas.openxmlformats.org/drawingml/2006/main" noGrp="1"/>
          </p:cNvSpPr>
          <p:nvPr/>
        </p:nvSpPr>
        <p:spPr>
          <a:xfrm xmlns:a="http://schemas.openxmlformats.org/drawingml/2006/main">
            <a:off x="685800" y="1857375"/>
            <a:ext cx="108204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 working prototype, measured improvements</a:t>
            </a:r>
          </a:p>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and the limits of generalization</a:t>
            </a:r>
          </a:p>
        </p:txBody>
      </p:sp>
      <p:sp>
        <p:nvSpPr>
          <p:cNvPr id="5" name="">
            <a:extLst xmlns:a="http://schemas.openxmlformats.org/drawingml/2006/main">
              <a:ext uri="{FF2B5EF4-FFF2-40B4-BE49-F238E27FC236}">
                <a16:creationId xmlns:a16="http://schemas.microsoft.com/office/drawing/2014/main" id="{228B9852-1005-436C-BFC3-9F591A88B5DC}"/>
              </a:ext>
            </a:extLst>
          </p:cNvPr>
          <p:cNvSpPr>
            <a:spLocks xmlns:a="http://schemas.openxmlformats.org/drawingml/2006/main" noGrp="1"/>
          </p:cNvSpPr>
          <p:nvPr/>
        </p:nvSpPr>
        <p:spPr>
          <a:xfrm xmlns:a="http://schemas.openxmlformats.org/drawingml/2006/main">
            <a:off x="685800" y="34766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Efe Han Keleş · CS395 · Türk Telekom</a:t>
            </a:r>
          </a:p>
        </p:txBody>
      </p:sp>
      <p:sp>
        <p:nvSpPr>
          <p:cNvPr id="6" name="">
            <a:extLst xmlns:a="http://schemas.openxmlformats.org/drawingml/2006/main">
              <a:ext uri="{FF2B5EF4-FFF2-40B4-BE49-F238E27FC236}">
                <a16:creationId xmlns:a16="http://schemas.microsoft.com/office/drawing/2014/main" id="{A9105978-3C4F-4E54-AE1B-FE07D1AA5EC0}"/>
              </a:ext>
            </a:extLst>
          </p:cNvPr>
          <p:cNvSpPr>
            <a:spLocks xmlns:a="http://schemas.openxmlformats.org/drawingml/2006/main" noGrp="1"/>
          </p:cNvSpPr>
          <p:nvPr/>
        </p:nvSpPr>
        <p:spPr>
          <a:xfrm xmlns:a="http://schemas.openxmlformats.org/drawingml/2006/main">
            <a:off x="685800" y="4191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 · 40 approved internship days</a:t>
            </a:r>
          </a:p>
        </p:txBody>
      </p:sp>
      <p:sp>
        <p:nvSpPr>
          <p:cNvPr id="7" name="">
            <a:extLst xmlns:a="http://schemas.openxmlformats.org/drawingml/2006/main">
              <a:ext uri="{FF2B5EF4-FFF2-40B4-BE49-F238E27FC236}">
                <a16:creationId xmlns:a16="http://schemas.microsoft.com/office/drawing/2014/main" id="{9A462E1D-BB9B-4F11-9AE7-B109C22975C9}"/>
              </a:ext>
            </a:extLst>
          </p:cNvPr>
          <p:cNvSpPr>
            <a:spLocks xmlns:a="http://schemas.openxmlformats.org/drawingml/2006/main" noGrp="1"/>
          </p:cNvSpPr>
          <p:nvPr/>
        </p:nvSpPr>
        <p:spPr>
          <a:xfrm xmlns:a="http://schemas.openxmlformats.org/drawingml/2006/main">
            <a:off x="685800" y="4905375"/>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Supervisor: Önder Çelebi</a:t>
            </a:r>
          </a:p>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Computer Science and Engineering · Sabancı University</a:t>
            </a:r>
          </a:p>
        </p:txBody>
      </p:sp>
    </p:spTree>
    <p:extLst>
      <p:ext uri="{BB962C8B-B14F-4D97-AF65-F5344CB8AC3E}">
        <p14:creationId xmlns:p14="http://schemas.microsoft.com/office/powerpoint/2010/main" val="17842366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B20A62-7DF3-4203-B045-EA4275727231}"/>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Two tasks, two kinds of evidence</a:t>
            </a:r>
          </a:p>
        </p:txBody>
      </p:sp>
      <p:sp>
        <p:nvSpPr>
          <p:cNvPr id="2" name="">
            <a:extLst xmlns:a="http://schemas.openxmlformats.org/drawingml/2006/main">
              <a:ext uri="{FF2B5EF4-FFF2-40B4-BE49-F238E27FC236}">
                <a16:creationId xmlns:a16="http://schemas.microsoft.com/office/drawing/2014/main" id="{55750BB0-7B7C-4780-B693-D0D47160EFA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B58F508F-13BC-4715-BD50-D87ADBEEA015}"/>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0A86B993-056B-4851-AA14-6D8E8A92C185}"/>
              </a:ext>
            </a:extLst>
          </p:cNvPr>
          <p:cNvSpPr>
            <a:spLocks xmlns:a="http://schemas.openxmlformats.org/drawingml/2006/main" noGrp="1"/>
          </p:cNvSpPr>
          <p:nvPr/>
        </p:nvSpPr>
        <p:spPr>
          <a:xfrm xmlns:a="http://schemas.openxmlformats.org/drawingml/2006/main">
            <a:off x="685800" y="17621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Model1: Does this image contain AI-generation evidence?</a:t>
            </a:r>
          </a:p>
        </p:txBody>
      </p:sp>
      <p:sp>
        <p:nvSpPr>
          <p:cNvPr id="5" name="">
            <a:extLst xmlns:a="http://schemas.openxmlformats.org/drawingml/2006/main">
              <a:ext uri="{FF2B5EF4-FFF2-40B4-BE49-F238E27FC236}">
                <a16:creationId xmlns:a16="http://schemas.microsoft.com/office/drawing/2014/main" id="{C7ED29A7-878C-459A-A505-C66946111C5C}"/>
              </a:ext>
            </a:extLst>
          </p:cNvPr>
          <p:cNvSpPr>
            <a:spLocks xmlns:a="http://schemas.openxmlformats.org/drawingml/2006/main" noGrp="1"/>
          </p:cNvSpPr>
          <p:nvPr/>
        </p:nvSpPr>
        <p:spPr>
          <a:xfrm xmlns:a="http://schemas.openxmlformats.org/drawingml/2006/main">
            <a:off x="685800" y="27336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False alert: a real photograph receives an AI warning.</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Miss: an AI image escapes detection.</a:t>
            </a:r>
          </a:p>
        </p:txBody>
      </p:sp>
      <p:sp>
        <p:nvSpPr>
          <p:cNvPr id="6" name="">
            <a:extLst xmlns:a="http://schemas.openxmlformats.org/drawingml/2006/main">
              <a:ext uri="{FF2B5EF4-FFF2-40B4-BE49-F238E27FC236}">
                <a16:creationId xmlns:a16="http://schemas.microsoft.com/office/drawing/2014/main" id="{9683A051-6CFF-44D7-8B24-8AD24A59CC28}"/>
              </a:ext>
            </a:extLst>
          </p:cNvPr>
          <p:cNvSpPr>
            <a:spLocks xmlns:a="http://schemas.openxmlformats.org/drawingml/2006/main" noGrp="1"/>
          </p:cNvSpPr>
          <p:nvPr/>
        </p:nvSpPr>
        <p:spPr>
          <a:xfrm xmlns:a="http://schemas.openxmlformats.org/drawingml/2006/main">
            <a:off x="685800" y="41433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Model2: Where might a local AI edit be?</a:t>
            </a:r>
          </a:p>
        </p:txBody>
      </p:sp>
      <p:sp>
        <p:nvSpPr>
          <p:cNvPr id="7" name="">
            <a:extLst xmlns:a="http://schemas.openxmlformats.org/drawingml/2006/main">
              <a:ext uri="{FF2B5EF4-FFF2-40B4-BE49-F238E27FC236}">
                <a16:creationId xmlns:a16="http://schemas.microsoft.com/office/drawing/2014/main" id="{CD086F7B-C53A-4CFF-95E5-E6092258AD1A}"/>
              </a:ext>
            </a:extLst>
          </p:cNvPr>
          <p:cNvSpPr>
            <a:spLocks xmlns:a="http://schemas.openxmlformats.org/drawingml/2006/main" noGrp="1"/>
          </p:cNvSpPr>
          <p:nvPr/>
        </p:nvSpPr>
        <p:spPr>
          <a:xfrm xmlns:a="http://schemas.openxmlformats.org/drawingml/2006/main">
            <a:off x="685800" y="49530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 region map needs its own ground truth and controls.</a:t>
            </a:r>
          </a:p>
        </p:txBody>
      </p:sp>
    </p:spTree>
    <p:extLst>
      <p:ext uri="{BB962C8B-B14F-4D97-AF65-F5344CB8AC3E}">
        <p14:creationId xmlns:p14="http://schemas.microsoft.com/office/powerpoint/2010/main" val="21199451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4737205-E856-492A-AC7D-3D9D3DF5BBF2}"/>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Strong early scores did not transfer</a:t>
            </a:r>
          </a:p>
        </p:txBody>
      </p:sp>
      <p:sp>
        <p:nvSpPr>
          <p:cNvPr id="2" name="">
            <a:extLst xmlns:a="http://schemas.openxmlformats.org/drawingml/2006/main">
              <a:ext uri="{FF2B5EF4-FFF2-40B4-BE49-F238E27FC236}">
                <a16:creationId xmlns:a16="http://schemas.microsoft.com/office/drawing/2014/main" id="{B508AC81-4E46-4EE7-9BEE-EC5278D467C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5520BFEE-A6B1-43EA-8C72-2F0486E875B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5CB5A228-D170-41C9-A24A-51BD13393461}"/>
              </a:ext>
            </a:extLst>
          </p:cNvPr>
          <p:cNvSpPr>
            <a:spLocks xmlns:a="http://schemas.openxmlformats.org/drawingml/2006/main" noGrp="1"/>
          </p:cNvSpPr>
          <p:nvPr/>
        </p:nvSpPr>
        <p:spPr>
          <a:xfrm xmlns:a="http://schemas.openxmlformats.org/drawingml/2006/main">
            <a:off x="685800" y="15621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Table 1 shows why a familiar test score was only a starting point.</a:t>
            </a:r>
          </a:p>
        </p:txBody>
      </p:sp>
      <p:sp>
        <p:nvSpPr>
          <p:cNvPr id="5" name="">
            <a:extLst xmlns:a="http://schemas.openxmlformats.org/drawingml/2006/main">
              <a:ext uri="{FF2B5EF4-FFF2-40B4-BE49-F238E27FC236}">
                <a16:creationId xmlns:a16="http://schemas.microsoft.com/office/drawing/2014/main" id="{0A77E9A8-64BD-4D32-B9F7-9B6268134AD3}"/>
              </a:ext>
            </a:extLst>
          </p:cNvPr>
          <p:cNvSpPr>
            <a:spLocks xmlns:a="http://schemas.openxmlformats.org/drawingml/2006/main" noGrp="1"/>
          </p:cNvSpPr>
          <p:nvPr/>
        </p:nvSpPr>
        <p:spPr>
          <a:xfrm xmlns:a="http://schemas.openxmlformats.org/drawingml/2006/main">
            <a:off x="685800" y="2190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Early historical accuracy comparisons.</a:t>
            </a:r>
          </a:p>
        </p:txBody>
      </p:sp>
      <p:graphicFrame>
        <p:nvGraphicFramePr>
          <p:cNvPr id="13" name=""/>
          <p:cNvGraphicFramePr/>
          <p:nvPr/>
        </p:nvGraphicFramePr>
        <p:xfrm>
          <a:off xmlns:a="http://schemas.openxmlformats.org/drawingml/2006/main" x="685800" y="2809875"/>
          <a:ext xmlns:a="http://schemas.openxmlformats.org/drawingml/2006/main" cx="10820400" cy="2000250"/>
        </p:xfrm>
        <a:graphic xmlns:a="http://schemas.openxmlformats.org/drawingml/2006/main">
          <a:graphicData uri="http://schemas.openxmlformats.org/drawingml/2006/table">
            <a:tbl>
              <a:tblPr/>
              <a:tblGrid>
                <a:gridCol w="3714750"/>
                <a:gridCol w="3238500"/>
                <a:gridCol w="3867150"/>
              </a:tblGrid>
              <a:tr h="666750">
                <a:tc>
                  <a:txBody>
                    <a:bodyPr>
                      <a:noAutofit/>
                    </a:bodyPr>
                    <a:lstStyle/>
                    <a:p>
                      <a:pPr algn="l"/>
                      <a:r>
                        <a:rPr sz="2025" b="1">
                          <a:solidFill>
                            <a:srgbClr val="000000"/>
                          </a:solidFill>
                          <a:latin typeface="Times New Roman"/>
                          <a:ea typeface="Times New Roman"/>
                          <a:cs typeface="Times New Roman"/>
                        </a:rPr>
                        <a:t>Model</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Familiar data</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External collection</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Small CNN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96.75%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77.1%</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ResNet-18</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493E411-9ECE-4912-97E3-53530F7C7456}"/>
              </a:ext>
            </a:extLst>
          </p:cNvPr>
          <p:cNvSpPr>
            <a:spLocks xmlns:a="http://schemas.openxmlformats.org/drawingml/2006/main" noGrp="1"/>
          </p:cNvSpPr>
          <p:nvPr/>
        </p:nvSpPr>
        <p:spPr>
          <a:xfrm xmlns:a="http://schemas.openxmlformats.org/drawingml/2006/main">
            <a:off x="685800" y="5143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1 motivated controls for resolution, source and labels.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Later audits also qualified the external benchmark.</a:t>
            </a:r>
          </a:p>
        </p:txBody>
      </p:sp>
    </p:spTree>
    <p:extLst>
      <p:ext uri="{BB962C8B-B14F-4D97-AF65-F5344CB8AC3E}">
        <p14:creationId xmlns:p14="http://schemas.microsoft.com/office/powerpoint/2010/main" val="92496006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644C37-A7D8-42FC-A95F-E089CEF3A35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Measurement had to be repaired</a:t>
            </a:r>
          </a:p>
        </p:txBody>
      </p:sp>
      <p:sp>
        <p:nvSpPr>
          <p:cNvPr id="2" name="">
            <a:extLst xmlns:a="http://schemas.openxmlformats.org/drawingml/2006/main">
              <a:ext uri="{FF2B5EF4-FFF2-40B4-BE49-F238E27FC236}">
                <a16:creationId xmlns:a16="http://schemas.microsoft.com/office/drawing/2014/main" id="{91AB4095-5EE2-449D-BC4A-5BF4A65742A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C55A066C-74F2-41F0-AF5A-306CE3C32F42}"/>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204BDA60-C3AF-4A6A-BB82-CC7324CA833B}"/>
              </a:ext>
            </a:extLst>
          </p:cNvPr>
          <p:cNvSpPr>
            <a:spLocks xmlns:a="http://schemas.openxmlformats.org/drawingml/2006/main" noGrp="1"/>
          </p:cNvSpPr>
          <p:nvPr/>
        </p:nvSpPr>
        <p:spPr>
          <a:xfrm xmlns:a="http://schemas.openxmlformats.org/drawingml/2006/main">
            <a:off x="68580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Reversed labels</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Explicit source mapping and reruns</a:t>
            </a:r>
          </a:p>
        </p:txBody>
      </p:sp>
      <p:sp>
        <p:nvSpPr>
          <p:cNvPr id="5" name="">
            <a:extLst xmlns:a="http://schemas.openxmlformats.org/drawingml/2006/main">
              <a:ext uri="{FF2B5EF4-FFF2-40B4-BE49-F238E27FC236}">
                <a16:creationId xmlns:a16="http://schemas.microsoft.com/office/drawing/2014/main" id="{F5D1A11B-0B5F-440D-A109-3E6DCA4E2FE4}"/>
              </a:ext>
            </a:extLst>
          </p:cNvPr>
          <p:cNvSpPr>
            <a:spLocks xmlns:a="http://schemas.openxmlformats.org/drawingml/2006/main" noGrp="1"/>
          </p:cNvSpPr>
          <p:nvPr/>
        </p:nvSpPr>
        <p:spPr>
          <a:xfrm xmlns:a="http://schemas.openxmlformats.org/drawingml/2006/main">
            <a:off x="645795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Evaluation-driven threshold</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Calibration-only selection</a:t>
            </a:r>
          </a:p>
        </p:txBody>
      </p:sp>
      <p:sp>
        <p:nvSpPr>
          <p:cNvPr id="6" name="">
            <a:extLst xmlns:a="http://schemas.openxmlformats.org/drawingml/2006/main">
              <a:ext uri="{FF2B5EF4-FFF2-40B4-BE49-F238E27FC236}">
                <a16:creationId xmlns:a16="http://schemas.microsoft.com/office/drawing/2014/main" id="{A0DB3759-F8F7-4EF9-9B82-88A8904D3EFD}"/>
              </a:ext>
            </a:extLst>
          </p:cNvPr>
          <p:cNvSpPr>
            <a:spLocks xmlns:a="http://schemas.openxmlformats.org/drawingml/2006/main" noGrp="1"/>
          </p:cNvSpPr>
          <p:nvPr/>
        </p:nvSpPr>
        <p:spPr>
          <a:xfrm xmlns:a="http://schemas.openxmlformats.org/drawingml/2006/main">
            <a:off x="685800" y="3714750"/>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Training learns parameters. Calibration chooses the rule.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Development reveals weaknesses. A final test stays independent.</a:t>
            </a:r>
          </a:p>
        </p:txBody>
      </p:sp>
      <p:sp>
        <p:nvSpPr>
          <p:cNvPr id="7" name="">
            <a:extLst xmlns:a="http://schemas.openxmlformats.org/drawingml/2006/main">
              <a:ext uri="{FF2B5EF4-FFF2-40B4-BE49-F238E27FC236}">
                <a16:creationId xmlns:a16="http://schemas.microsoft.com/office/drawing/2014/main" id="{28F58307-597C-4667-AFD1-802ED5CA28DB}"/>
              </a:ext>
            </a:extLst>
          </p:cNvPr>
          <p:cNvSpPr>
            <a:spLocks xmlns:a="http://schemas.openxmlformats.org/drawingml/2006/main" noGrp="1"/>
          </p:cNvSpPr>
          <p:nvPr/>
        </p:nvSpPr>
        <p:spPr>
          <a:xfrm xmlns:a="http://schemas.openxmlformats.org/drawingml/2006/main">
            <a:off x="685800" y="51435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These roles must remain separate even when files differ.</a:t>
            </a:r>
          </a:p>
        </p:txBody>
      </p:sp>
    </p:spTree>
    <p:extLst>
      <p:ext uri="{BB962C8B-B14F-4D97-AF65-F5344CB8AC3E}">
        <p14:creationId xmlns:p14="http://schemas.microsoft.com/office/powerpoint/2010/main" val="15773189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4283BC-FF78-480E-9527-D9A2FAC67418}"/>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The system combines existing representations</a:t>
            </a:r>
          </a:p>
        </p:txBody>
      </p:sp>
      <p:sp>
        <p:nvSpPr>
          <p:cNvPr id="2" name="">
            <a:extLst xmlns:a="http://schemas.openxmlformats.org/drawingml/2006/main">
              <a:ext uri="{FF2B5EF4-FFF2-40B4-BE49-F238E27FC236}">
                <a16:creationId xmlns:a16="http://schemas.microsoft.com/office/drawing/2014/main" id="{AB4D54EC-DBDF-41A7-BA8E-3F521EA6880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63DB8E91-BB9F-4EEF-AB73-1904718AF02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F7200080-69C9-4875-83E2-540B1BF9A5CE}"/>
              </a:ext>
            </a:extLst>
          </p:cNvPr>
          <p:cNvSpPr>
            <a:spLocks xmlns:a="http://schemas.openxmlformats.org/drawingml/2006/main" noGrp="1"/>
          </p:cNvSpPr>
          <p:nvPr/>
        </p:nvSpPr>
        <p:spPr>
          <a:xfrm xmlns:a="http://schemas.openxmlformats.org/drawingml/2006/main">
            <a:off x="685800" y="1714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Pretrained visual features</a:t>
            </a:r>
          </a:p>
        </p:txBody>
      </p:sp>
      <p:sp>
        <p:nvSpPr>
          <p:cNvPr id="5" name="">
            <a:extLst xmlns:a="http://schemas.openxmlformats.org/drawingml/2006/main">
              <a:ext uri="{FF2B5EF4-FFF2-40B4-BE49-F238E27FC236}">
                <a16:creationId xmlns:a16="http://schemas.microsoft.com/office/drawing/2014/main" id="{C2C38BCF-1D11-4A37-9054-605E253EE7E6}"/>
              </a:ext>
            </a:extLst>
          </p:cNvPr>
          <p:cNvSpPr>
            <a:spLocks xmlns:a="http://schemas.openxmlformats.org/drawingml/2006/main" noGrp="1"/>
          </p:cNvSpPr>
          <p:nvPr/>
        </p:nvSpPr>
        <p:spPr>
          <a:xfrm xmlns:a="http://schemas.openxmlformats.org/drawingml/2006/main">
            <a:off x="685800" y="24098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DINOv2 · CLIP · DEAR</a:t>
            </a:r>
          </a:p>
        </p:txBody>
      </p:sp>
      <p:sp>
        <p:nvSpPr>
          <p:cNvPr id="6" name="">
            <a:extLst xmlns:a="http://schemas.openxmlformats.org/drawingml/2006/main">
              <a:ext uri="{FF2B5EF4-FFF2-40B4-BE49-F238E27FC236}">
                <a16:creationId xmlns:a16="http://schemas.microsoft.com/office/drawing/2014/main" id="{E3891AC2-47BA-48B3-A709-60F272632677}"/>
              </a:ext>
            </a:extLst>
          </p:cNvPr>
          <p:cNvSpPr>
            <a:spLocks xmlns:a="http://schemas.openxmlformats.org/drawingml/2006/main" noGrp="1"/>
          </p:cNvSpPr>
          <p:nvPr/>
        </p:nvSpPr>
        <p:spPr>
          <a:xfrm xmlns:a="http://schemas.openxmlformats.org/drawingml/2006/main">
            <a:off x="685800" y="33337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Project adaptation</a:t>
            </a:r>
          </a:p>
        </p:txBody>
      </p:sp>
      <p:sp>
        <p:nvSpPr>
          <p:cNvPr id="7" name="">
            <a:extLst xmlns:a="http://schemas.openxmlformats.org/drawingml/2006/main">
              <a:ext uri="{FF2B5EF4-FFF2-40B4-BE49-F238E27FC236}">
                <a16:creationId xmlns:a16="http://schemas.microsoft.com/office/drawing/2014/main" id="{07F4DD46-2D78-41C4-9ECF-B55D9D4634F0}"/>
              </a:ext>
            </a:extLst>
          </p:cNvPr>
          <p:cNvSpPr>
            <a:spLocks xmlns:a="http://schemas.openxmlformats.org/drawingml/2006/main" noGrp="1"/>
          </p:cNvSpPr>
          <p:nvPr/>
        </p:nvSpPr>
        <p:spPr>
          <a:xfrm xmlns:a="http://schemas.openxmlformats.org/drawingml/2006/main">
            <a:off x="685800" y="40290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Audited data · fitted components · constrained correction</a:t>
            </a:r>
          </a:p>
        </p:txBody>
      </p:sp>
      <p:sp>
        <p:nvSpPr>
          <p:cNvPr id="8" name="">
            <a:extLst xmlns:a="http://schemas.openxmlformats.org/drawingml/2006/main">
              <a:ext uri="{FF2B5EF4-FFF2-40B4-BE49-F238E27FC236}">
                <a16:creationId xmlns:a16="http://schemas.microsoft.com/office/drawing/2014/main" id="{4C7F73F5-659D-4F04-98EF-9AF6E2F32B71}"/>
              </a:ext>
            </a:extLst>
          </p:cNvPr>
          <p:cNvSpPr>
            <a:spLocks xmlns:a="http://schemas.openxmlformats.org/drawingml/2006/main" noGrp="1"/>
          </p:cNvSpPr>
          <p:nvPr/>
        </p:nvSpPr>
        <p:spPr>
          <a:xfrm xmlns:a="http://schemas.openxmlformats.org/drawingml/2006/main">
            <a:off x="685800" y="5191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Validated upload → E92 scores → evidence and uncertainty</a:t>
            </a:r>
          </a:p>
        </p:txBody>
      </p:sp>
    </p:spTree>
    <p:extLst>
      <p:ext uri="{BB962C8B-B14F-4D97-AF65-F5344CB8AC3E}">
        <p14:creationId xmlns:p14="http://schemas.microsoft.com/office/powerpoint/2010/main" val="44625559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C5529A-8EC8-4869-8E99-E51DB77D0A3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Real-image false alerts fell substantially</a:t>
            </a:r>
          </a:p>
        </p:txBody>
      </p:sp>
      <p:sp>
        <p:nvSpPr>
          <p:cNvPr id="2" name="">
            <a:extLst xmlns:a="http://schemas.openxmlformats.org/drawingml/2006/main">
              <a:ext uri="{FF2B5EF4-FFF2-40B4-BE49-F238E27FC236}">
                <a16:creationId xmlns:a16="http://schemas.microsoft.com/office/drawing/2014/main" id="{853E6C22-3CCD-487C-92EA-6F24FD4F1B1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F72AB5C0-F480-41F6-B4A4-35109F83BEB4}"/>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7A9C25C8-0970-44C4-8D5D-62552767869E}"/>
              </a:ext>
            </a:extLst>
          </p:cNvPr>
          <p:cNvSpPr>
            <a:spLocks xmlns:a="http://schemas.openxmlformats.org/drawingml/2006/main" noGrp="1"/>
          </p:cNvSpPr>
          <p:nvPr/>
        </p:nvSpPr>
        <p:spPr>
          <a:xfrm xmlns:a="http://schemas.openxmlformats.org/drawingml/2006/main">
            <a:off x="685800" y="14382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per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343c2c70253e4d92"/>
          </a:graphicData>
        </a:graphic>
      </p:graphicFrame>
      <p:sp>
        <p:nvSpPr>
          <p:cNvPr id="6" name="">
            <a:extLst xmlns:a="http://schemas.openxmlformats.org/drawingml/2006/main">
              <a:ext uri="{FF2B5EF4-FFF2-40B4-BE49-F238E27FC236}">
                <a16:creationId xmlns:a16="http://schemas.microsoft.com/office/drawing/2014/main" id="{6CF92A6B-E925-40D7-8DFD-0EC96CC195FB}"/>
              </a:ext>
            </a:extLst>
          </p:cNvPr>
          <p:cNvSpPr>
            <a:spLocks xmlns:a="http://schemas.openxmlformats.org/drawingml/2006/main" noGrp="1"/>
          </p:cNvSpPr>
          <p:nvPr/>
        </p:nvSpPr>
        <p:spPr>
          <a:xfrm xmlns:a="http://schemas.openxmlformats.org/drawingml/2006/main">
            <a:off x="685800" y="53530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alerts out of 160 real development images.</a:t>
            </a:r>
          </a:p>
        </p:txBody>
      </p:sp>
      <p:sp>
        <p:nvSpPr>
          <p:cNvPr id="7" name="">
            <a:extLst xmlns:a="http://schemas.openxmlformats.org/drawingml/2006/main">
              <a:ext uri="{FF2B5EF4-FFF2-40B4-BE49-F238E27FC236}">
                <a16:creationId xmlns:a16="http://schemas.microsoft.com/office/drawing/2014/main" id="{9CFFF7EB-9CF7-4364-8A99-6580A513A224}"/>
              </a:ext>
            </a:extLst>
          </p:cNvPr>
          <p:cNvSpPr>
            <a:spLocks xmlns:a="http://schemas.openxmlformats.org/drawingml/2006/main" noGrp="1"/>
          </p:cNvSpPr>
          <p:nvPr/>
        </p:nvSpPr>
        <p:spPr>
          <a:xfrm xmlns:a="http://schemas.openxmlformats.org/drawingml/2006/main">
            <a:off x="685800" y="58483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Reused development data · E92 AI detection: 159/160 in each view</a:t>
            </a:r>
          </a:p>
        </p:txBody>
      </p:sp>
    </p:spTree>
    <p:extLst>
      <p:ext uri="{BB962C8B-B14F-4D97-AF65-F5344CB8AC3E}">
        <p14:creationId xmlns:p14="http://schemas.microsoft.com/office/powerpoint/2010/main" val="19725049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4AB9A2-1E8D-4719-A778-5E0C44F6519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20/20 checks did not mean full acceptance</a:t>
            </a:r>
          </a:p>
        </p:txBody>
      </p:sp>
      <p:sp>
        <p:nvSpPr>
          <p:cNvPr id="2" name="">
            <a:extLst xmlns:a="http://schemas.openxmlformats.org/drawingml/2006/main">
              <a:ext uri="{FF2B5EF4-FFF2-40B4-BE49-F238E27FC236}">
                <a16:creationId xmlns:a16="http://schemas.microsoft.com/office/drawing/2014/main" id="{F7283E97-E77A-4C84-BCDC-0B960039071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3F02402F-C9F4-4782-8E91-A3B092B8D30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694FD3AE-0CE5-4085-B07F-60285044D939}"/>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2 separates numeric checks from full acceptance.</a:t>
            </a:r>
          </a:p>
        </p:txBody>
      </p:sp>
      <p:sp>
        <p:nvSpPr>
          <p:cNvPr id="5" name="">
            <a:extLst xmlns:a="http://schemas.openxmlformats.org/drawingml/2006/main">
              <a:ext uri="{FF2B5EF4-FFF2-40B4-BE49-F238E27FC236}">
                <a16:creationId xmlns:a16="http://schemas.microsoft.com/office/drawing/2014/main" id="{8F60D332-6DD2-487C-B6CC-A3312C18596C}"/>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Two distinct acceptance questions.</a:t>
            </a:r>
          </a:p>
        </p:txBody>
      </p:sp>
      <p:graphicFrame>
        <p:nvGraphicFramePr>
          <p:cNvPr id="13" name=""/>
          <p:cNvGraphicFramePr/>
          <p:nvPr/>
        </p:nvGraphicFramePr>
        <p:xfrm>
          <a:off xmlns:a="http://schemas.openxmlformats.org/drawingml/2006/main" x="685800" y="2857500"/>
          <a:ext xmlns:a="http://schemas.openxmlformats.org/drawingml/2006/main" cx="10820400" cy="1952625"/>
        </p:xfrm>
        <a:graphic xmlns:a="http://schemas.openxmlformats.org/drawingml/2006/main">
          <a:graphicData uri="http://schemas.openxmlformats.org/drawingml/2006/table">
            <a:tbl>
              <a:tblPr/>
              <a:tblGrid>
                <a:gridCol w="5619750"/>
                <a:gridCol w="5200650"/>
              </a:tblGrid>
              <a:tr h="650875">
                <a:tc>
                  <a:txBody>
                    <a:bodyPr>
                      <a:noAutofit/>
                    </a:bodyPr>
                    <a:lstStyle/>
                    <a:p>
                      <a:pPr algn="l"/>
                      <a:r>
                        <a:rPr sz="2025" b="1">
                          <a:solidFill>
                            <a:srgbClr val="000000"/>
                          </a:solidFill>
                          <a:latin typeface="Times New Roman"/>
                          <a:ea typeface="Times New Roman"/>
                          <a:cs typeface="Times New Roman"/>
                        </a:rPr>
                        <a:t>Question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E92 outcome</a:t>
                      </a:r>
                    </a:p>
                  </a:txBody>
                  <a:tcPr marL="91440" marR="91440" marT="45720" marB="45720">
                    <a:solidFill>
                      <a:srgbClr val="EEEEEE"/>
                    </a:solidFill>
                  </a:tcPr>
                </a:tc>
              </a:tr>
              <a:tr h="650875">
                <a:tc>
                  <a:txBody>
                    <a:bodyPr>
                      <a:noAutofit/>
                    </a:bodyPr>
                    <a:lstStyle/>
                    <a:p>
                      <a:pPr algn="l"/>
                      <a:r>
                        <a:rPr sz="2025" b="0">
                          <a:solidFill>
                            <a:srgbClr val="000000"/>
                          </a:solidFill>
                          <a:latin typeface="Times New Roman"/>
                          <a:ea typeface="Times New Roman"/>
                          <a:cs typeface="Times New Roman"/>
                        </a:rPr>
                        <a:t>Numerical development criteria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20/20 passed</a:t>
                      </a:r>
                    </a:p>
                  </a:txBody>
                  <a:tcPr marL="91440" marR="91440" marT="45720" marB="45720">
                    <a:solidFill>
                      <a:srgbClr val="FFFFFF"/>
                    </a:solidFill>
                  </a:tcPr>
                </a:tc>
              </a:tr>
              <a:tr h="650875">
                <a:tc>
                  <a:txBody>
                    <a:bodyPr>
                      <a:noAutofit/>
                    </a:bodyPr>
                    <a:lstStyle/>
                    <a:p>
                      <a:pPr algn="l"/>
                      <a:r>
                        <a:rPr sz="2025" b="0">
                          <a:solidFill>
                            <a:srgbClr val="000000"/>
                          </a:solidFill>
                          <a:latin typeface="Times New Roman"/>
                          <a:ea typeface="Times New Roman"/>
                          <a:cs typeface="Times New Roman"/>
                        </a:rPr>
                        <a:t>No newly missed E43-detected AI image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Failed: one original AI image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36EB91D-C66E-4226-B8F6-4573FD7837E8}"/>
              </a:ext>
            </a:extLst>
          </p:cNvPr>
          <p:cNvSpPr>
            <a:spLocks xmlns:a="http://schemas.openxmlformats.org/drawingml/2006/main" noGrp="1"/>
          </p:cNvSpPr>
          <p:nvPr/>
        </p:nvSpPr>
        <p:spPr>
          <a:xfrm xmlns:a="http://schemas.openxmlformats.org/drawingml/2006/main">
            <a:off x="685800" y="51911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2 explains the limit: better totals can hide a new error.</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The checks were correlated and were not 20 independent datasets.</a:t>
            </a:r>
          </a:p>
        </p:txBody>
      </p:sp>
    </p:spTree>
    <p:extLst>
      <p:ext uri="{BB962C8B-B14F-4D97-AF65-F5344CB8AC3E}">
        <p14:creationId xmlns:p14="http://schemas.microsoft.com/office/powerpoint/2010/main" val="9059091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F9F3E2-18ED-4181-8681-6AA067540C3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displayed score is not a probability</a:t>
            </a:r>
          </a:p>
        </p:txBody>
      </p:sp>
      <p:sp>
        <p:nvSpPr>
          <p:cNvPr id="2" name="">
            <a:extLst xmlns:a="http://schemas.openxmlformats.org/drawingml/2006/main">
              <a:ext uri="{FF2B5EF4-FFF2-40B4-BE49-F238E27FC236}">
                <a16:creationId xmlns:a16="http://schemas.microsoft.com/office/drawing/2014/main" id="{CBA7CE62-DF41-4A5B-BD23-98AFB0940FD9}"/>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B5728A43-4F81-4892-8E6A-A9EA10F3E545}"/>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3E1F65EE-332C-4957-86F7-7D50F4DE8590}"/>
              </a:ext>
            </a:extLst>
          </p:cNvPr>
          <p:cNvSpPr>
            <a:spLocks xmlns:a="http://schemas.openxmlformats.org/drawingml/2006/main" noGrp="1"/>
          </p:cNvSpPr>
          <p:nvPr/>
        </p:nvSpPr>
        <p:spPr>
          <a:xfrm xmlns:a="http://schemas.openxmlformats.org/drawingml/2006/main">
            <a:off x="685800" y="15144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3 uses score cuts, not authenticity probabilities.</a:t>
            </a:r>
          </a:p>
        </p:txBody>
      </p:sp>
      <p:sp>
        <p:nvSpPr>
          <p:cNvPr id="5" name="">
            <a:extLst xmlns:a="http://schemas.openxmlformats.org/drawingml/2006/main">
              <a:ext uri="{FF2B5EF4-FFF2-40B4-BE49-F238E27FC236}">
                <a16:creationId xmlns:a16="http://schemas.microsoft.com/office/drawing/2014/main" id="{87998AE8-4ABD-4372-8332-0A60CB6EBE12}"/>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Simplified E92 display rules.</a:t>
            </a:r>
          </a:p>
        </p:txBody>
      </p:sp>
      <p:graphicFrame>
        <p:nvGraphicFramePr>
          <p:cNvPr id="13" name=""/>
          <p:cNvGraphicFramePr/>
          <p:nvPr/>
        </p:nvGraphicFramePr>
        <p:xfrm>
          <a:off xmlns:a="http://schemas.openxmlformats.org/drawingml/2006/main" x="685800" y="2857500"/>
          <a:ext xmlns:a="http://schemas.openxmlformats.org/drawingml/2006/main" cx="10820400" cy="2190750"/>
        </p:xfrm>
        <a:graphic xmlns:a="http://schemas.openxmlformats.org/drawingml/2006/main">
          <a:graphicData uri="http://schemas.openxmlformats.org/drawingml/2006/table">
            <a:tbl>
              <a:tblPr/>
              <a:tblGrid>
                <a:gridCol w="5524500"/>
                <a:gridCol w="5295900"/>
              </a:tblGrid>
              <a:tr h="547688">
                <a:tc>
                  <a:txBody>
                    <a:bodyPr>
                      <a:noAutofit/>
                    </a:bodyPr>
                    <a:lstStyle/>
                    <a:p>
                      <a:pPr algn="l"/>
                      <a:r>
                        <a:rPr sz="2025" b="1">
                          <a:solidFill>
                            <a:srgbClr val="000000"/>
                          </a:solidFill>
                          <a:latin typeface="Times New Roman"/>
                          <a:ea typeface="Times New Roman"/>
                          <a:cs typeface="Times New Roman"/>
                        </a:rPr>
                        <a:t>Evidence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User-facing result</a:t>
                      </a:r>
                    </a:p>
                  </a:txBody>
                  <a:tcPr marL="91440" marR="91440" marT="45720" marB="45720">
                    <a:solidFill>
                      <a:srgbClr val="EEEEEE"/>
                    </a:solidFill>
                  </a:tcPr>
                </a:tc>
              </a:tr>
              <a:tr h="547688">
                <a:tc>
                  <a:txBody>
                    <a:bodyPr>
                      <a:noAutofit/>
                    </a:bodyPr>
                    <a:lstStyle/>
                    <a:p>
                      <a:pPr algn="l"/>
                      <a:r>
                        <a:rPr sz="2025" b="0">
                          <a:solidFill>
                            <a:srgbClr val="000000"/>
                          </a:solidFill>
                          <a:latin typeface="Times New Roman"/>
                          <a:ea typeface="Times New Roman"/>
                          <a:cs typeface="Times New Roman"/>
                        </a:rPr>
                        <a:t>Original score ≥ upper cut (~7.94)</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AI evidence; review warning if needed</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Both views &lt; lower cut (~1.15)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Remaining cases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7323989-919C-4B0C-B567-E162F08FD57C}"/>
              </a:ext>
            </a:extLst>
          </p:cNvPr>
          <p:cNvSpPr>
            <a:spLocks xmlns:a="http://schemas.openxmlformats.org/drawingml/2006/main" noGrp="1"/>
          </p:cNvSpPr>
          <p:nvPr/>
        </p:nvSpPr>
        <p:spPr>
          <a:xfrm xmlns:a="http://schemas.openxmlformats.org/drawingml/2006/main">
            <a:off x="685800" y="53054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3 does not certify authenticity. E43 is advisory.</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Decisions use unrounded scores; 50% is not the boundary.</a:t>
            </a:r>
          </a:p>
        </p:txBody>
      </p:sp>
    </p:spTree>
    <p:extLst>
      <p:ext uri="{BB962C8B-B14F-4D97-AF65-F5344CB8AC3E}">
        <p14:creationId xmlns:p14="http://schemas.microsoft.com/office/powerpoint/2010/main" val="7089847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37768B-FD20-4C68-BF85-09F77FA66430}"/>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Broader checks exposed remaining weaknesses</a:t>
            </a:r>
          </a:p>
        </p:txBody>
      </p:sp>
      <p:sp>
        <p:nvSpPr>
          <p:cNvPr id="2" name="">
            <a:extLst xmlns:a="http://schemas.openxmlformats.org/drawingml/2006/main">
              <a:ext uri="{FF2B5EF4-FFF2-40B4-BE49-F238E27FC236}">
                <a16:creationId xmlns:a16="http://schemas.microsoft.com/office/drawing/2014/main" id="{F3E021D7-5ECA-4927-A06A-1D4D1EB40B7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179382B1-6A20-41DD-B3E1-DC55FCA412BE}"/>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CAB7A648-BFB5-44F2-A9E7-5BB01D3E9E61}"/>
              </a:ext>
            </a:extLst>
          </p:cNvPr>
          <p:cNvSpPr>
            <a:spLocks xmlns:a="http://schemas.openxmlformats.org/drawingml/2006/main" noGrp="1"/>
          </p:cNvSpPr>
          <p:nvPr/>
        </p:nvSpPr>
        <p:spPr>
          <a:xfrm xmlns:a="http://schemas.openxmlformats.org/drawingml/2006/main">
            <a:off x="685800" y="16192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Owner gallery: 206 unique real-image files</a:t>
            </a:r>
          </a:p>
        </p:txBody>
      </p:sp>
      <p:sp>
        <p:nvSpPr>
          <p:cNvPr id="5" name="">
            <a:extLst xmlns:a="http://schemas.openxmlformats.org/drawingml/2006/main">
              <a:ext uri="{FF2B5EF4-FFF2-40B4-BE49-F238E27FC236}">
                <a16:creationId xmlns:a16="http://schemas.microsoft.com/office/drawing/2014/main" id="{48C65385-10BC-4FEF-8471-B3F8B99805AF}"/>
              </a:ext>
            </a:extLst>
          </p:cNvPr>
          <p:cNvSpPr>
            <a:spLocks xmlns:a="http://schemas.openxmlformats.org/drawingml/2006/main" noGrp="1"/>
          </p:cNvSpPr>
          <p:nvPr/>
        </p:nvSpPr>
        <p:spPr>
          <a:xfrm xmlns:a="http://schemas.openxmlformats.org/drawingml/2006/main">
            <a:off x="685800" y="23145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False AI alerts: 9 originals; 18 social-style views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Previously inspected, mostly one phone and correlated scenes</a:t>
            </a:r>
          </a:p>
        </p:txBody>
      </p:sp>
      <p:sp>
        <p:nvSpPr>
          <p:cNvPr id="6" name="">
            <a:extLst xmlns:a="http://schemas.openxmlformats.org/drawingml/2006/main">
              <a:ext uri="{FF2B5EF4-FFF2-40B4-BE49-F238E27FC236}">
                <a16:creationId xmlns:a16="http://schemas.microsoft.com/office/drawing/2014/main" id="{7E4A4BB7-97A8-4285-BD36-903B9354AB8A}"/>
              </a:ext>
            </a:extLst>
          </p:cNvPr>
          <p:cNvSpPr>
            <a:spLocks xmlns:a="http://schemas.openxmlformats.org/drawingml/2006/main" noGrp="1"/>
          </p:cNvSpPr>
          <p:nvPr/>
        </p:nvSpPr>
        <p:spPr>
          <a:xfrm xmlns:a="http://schemas.openxmlformats.org/drawingml/2006/main">
            <a:off x="685800" y="38004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Later research candidates were rejected</a:t>
            </a:r>
          </a:p>
        </p:txBody>
      </p:sp>
      <p:sp>
        <p:nvSpPr>
          <p:cNvPr id="7" name="">
            <a:extLst xmlns:a="http://schemas.openxmlformats.org/drawingml/2006/main">
              <a:ext uri="{FF2B5EF4-FFF2-40B4-BE49-F238E27FC236}">
                <a16:creationId xmlns:a16="http://schemas.microsoft.com/office/drawing/2014/main" id="{E08CC3DE-F9E7-44C2-9209-4244355BBA2D}"/>
              </a:ext>
            </a:extLst>
          </p:cNvPr>
          <p:cNvSpPr>
            <a:spLocks xmlns:a="http://schemas.openxmlformats.org/drawingml/2006/main" noGrp="1"/>
          </p:cNvSpPr>
          <p:nvPr/>
        </p:nvSpPr>
        <p:spPr>
          <a:xfrm xmlns:a="http://schemas.openxmlformats.org/drawingml/2006/main">
            <a:off x="685800" y="44958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Source-fold evaluation failed the complete requirements.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New source-pixel features harmed transported AI recall.</a:t>
            </a:r>
          </a:p>
        </p:txBody>
      </p:sp>
    </p:spTree>
    <p:extLst>
      <p:ext uri="{BB962C8B-B14F-4D97-AF65-F5344CB8AC3E}">
        <p14:creationId xmlns:p14="http://schemas.microsoft.com/office/powerpoint/2010/main" val="118877816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518561-4E4A-4A43-AC6A-917E7A7FDA4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Model2 remains an experimental pilot</a:t>
            </a:r>
          </a:p>
        </p:txBody>
      </p:sp>
      <p:sp>
        <p:nvSpPr>
          <p:cNvPr id="2" name="">
            <a:extLst xmlns:a="http://schemas.openxmlformats.org/drawingml/2006/main">
              <a:ext uri="{FF2B5EF4-FFF2-40B4-BE49-F238E27FC236}">
                <a16:creationId xmlns:a16="http://schemas.microsoft.com/office/drawing/2014/main" id="{0FBEC708-933B-4438-BC84-2E23A9D22A70}"/>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0439F565-344C-45DB-9944-47BA23C4F567}"/>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28C6865D-1F53-4AE5-87F8-164D1298068C}"/>
              </a:ext>
            </a:extLst>
          </p:cNvPr>
          <p:cNvSpPr>
            <a:spLocks xmlns:a="http://schemas.openxmlformats.org/drawingml/2006/main" noGrp="1"/>
          </p:cNvSpPr>
          <p:nvPr/>
        </p:nvSpPr>
        <p:spPr>
          <a:xfrm xmlns:a="http://schemas.openxmlformats.org/drawingml/2006/main">
            <a:off x="685800" y="145732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Table 4 compares edit placement on 16 consumed parents.</a:t>
            </a:r>
          </a:p>
        </p:txBody>
      </p:sp>
      <p:sp>
        <p:nvSpPr>
          <p:cNvPr id="5" name="">
            <a:extLst xmlns:a="http://schemas.openxmlformats.org/drawingml/2006/main">
              <a:ext uri="{FF2B5EF4-FFF2-40B4-BE49-F238E27FC236}">
                <a16:creationId xmlns:a16="http://schemas.microsoft.com/office/drawing/2014/main" id="{803DE041-FCC4-4D77-8BE7-F62BD5BA8C36}"/>
              </a:ext>
            </a:extLst>
          </p:cNvPr>
          <p:cNvSpPr>
            <a:spLocks xmlns:a="http://schemas.openxmlformats.org/drawingml/2006/main" noGrp="1"/>
          </p:cNvSpPr>
          <p:nvPr/>
        </p:nvSpPr>
        <p:spPr>
          <a:xfrm xmlns:a="http://schemas.openxmlformats.org/drawingml/2006/main">
            <a:off x="685800" y="20478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Localization trade-off, original-image condition.</a:t>
            </a:r>
          </a:p>
        </p:txBody>
      </p:sp>
      <p:graphicFrame>
        <p:nvGraphicFramePr>
          <p:cNvPr id="13" name=""/>
          <p:cNvGraphicFramePr/>
          <p:nvPr/>
        </p:nvGraphicFramePr>
        <p:xfrm>
          <a:off xmlns:a="http://schemas.openxmlformats.org/drawingml/2006/main" x="685800" y="2667000"/>
          <a:ext xmlns:a="http://schemas.openxmlformats.org/drawingml/2006/main" cx="10820400" cy="2476500"/>
        </p:xfrm>
        <a:graphic xmlns:a="http://schemas.openxmlformats.org/drawingml/2006/main">
          <a:graphicData uri="http://schemas.openxmlformats.org/drawingml/2006/table">
            <a:tbl>
              <a:tblPr/>
              <a:tblGrid>
                <a:gridCol w="5572125"/>
                <a:gridCol w="2333625"/>
                <a:gridCol w="2914650"/>
              </a:tblGrid>
              <a:tr h="619125">
                <a:tc>
                  <a:txBody>
                    <a:bodyPr>
                      <a:noAutofit/>
                    </a:bodyPr>
                    <a:lstStyle/>
                    <a:p>
                      <a:pPr algn="l"/>
                      <a:r>
                        <a:rPr sz="2025" b="1">
                          <a:solidFill>
                            <a:srgbClr val="000000"/>
                          </a:solidFill>
                          <a:latin typeface="Times New Roman"/>
                          <a:ea typeface="Times New Roman"/>
                          <a:cs typeface="Times New Roman"/>
                        </a:rPr>
                        <a:t>Measure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Earlier head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Two-placement head</a:t>
                      </a:r>
                    </a:p>
                  </a:txBody>
                  <a:tcPr marL="91440" marR="91440" marT="45720" marB="45720">
                    <a:solidFill>
                      <a:srgbClr val="EEEEEE"/>
                    </a:solidFill>
                  </a:tcPr>
                </a:tc>
              </a:tr>
              <a:tr h="619125">
                <a:tc>
                  <a:txBody>
                    <a:bodyPr>
                      <a:noAutofit/>
                    </a:bodyPr>
                    <a:lstStyle/>
                    <a:p>
                      <a:pPr algn="l"/>
                      <a:r>
                        <a:rPr sz="2025" b="0">
                          <a:solidFill>
                            <a:srgbClr val="000000"/>
                          </a:solidFill>
                          <a:latin typeface="Times New Roman"/>
                          <a:ea typeface="Times New Roman"/>
                          <a:cs typeface="Times New Roman"/>
                        </a:rPr>
                        <a:t>Original-placement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0.742</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0.699</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New-placement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0.566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0.638</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Authentic falsely flagged area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17.11%</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25.74%</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595E7B0-7613-47D1-96B8-97D47C62612D}"/>
              </a:ext>
            </a:extLst>
          </p:cNvPr>
          <p:cNvSpPr>
            <a:spLocks xmlns:a="http://schemas.openxmlformats.org/drawingml/2006/main" noGrp="1"/>
          </p:cNvSpPr>
          <p:nvPr/>
        </p:nvSpPr>
        <p:spPr>
          <a:xfrm xmlns:a="http://schemas.openxmlformats.org/drawingml/2006/main">
            <a:off x="685800" y="56007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One editor · adaptive development · candidate rejected</a:t>
            </a:r>
          </a:p>
        </p:txBody>
      </p:sp>
    </p:spTree>
    <p:extLst>
      <p:ext uri="{BB962C8B-B14F-4D97-AF65-F5344CB8AC3E}">
        <p14:creationId xmlns:p14="http://schemas.microsoft.com/office/powerpoint/2010/main" val="3519559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4F1EA8-6B5C-4FBB-BDFB-3BED88C5C70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A traceable prototype was delivered</a:t>
            </a:r>
          </a:p>
        </p:txBody>
      </p:sp>
      <p:sp>
        <p:nvSpPr>
          <p:cNvPr id="2" name="">
            <a:extLst xmlns:a="http://schemas.openxmlformats.org/drawingml/2006/main">
              <a:ext uri="{FF2B5EF4-FFF2-40B4-BE49-F238E27FC236}">
                <a16:creationId xmlns:a16="http://schemas.microsoft.com/office/drawing/2014/main" id="{4AB039BB-4B1D-4007-B53C-1310F248B200}"/>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3A9287A9-7CFC-4046-95F3-E6A869658EB0}"/>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9245BADC-DF04-411B-BA88-7C1B34FA71EA}"/>
              </a:ext>
            </a:extLst>
          </p:cNvPr>
          <p:cNvSpPr>
            <a:spLocks xmlns:a="http://schemas.openxmlformats.org/drawingml/2006/main" noGrp="1"/>
          </p:cNvSpPr>
          <p:nvPr/>
        </p:nvSpPr>
        <p:spPr>
          <a:xfrm xmlns:a="http://schemas.openxmlformats.org/drawingml/2006/main">
            <a:off x="685800" y="16287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Local web demonstration</a:t>
            </a:r>
          </a:p>
        </p:txBody>
      </p:sp>
      <p:sp>
        <p:nvSpPr>
          <p:cNvPr id="5" name="">
            <a:extLst xmlns:a="http://schemas.openxmlformats.org/drawingml/2006/main">
              <a:ext uri="{FF2B5EF4-FFF2-40B4-BE49-F238E27FC236}">
                <a16:creationId xmlns:a16="http://schemas.microsoft.com/office/drawing/2014/main" id="{F5F5F69D-0F69-45BB-BACC-9F50D2F3D3D2}"/>
              </a:ext>
            </a:extLst>
          </p:cNvPr>
          <p:cNvSpPr>
            <a:spLocks xmlns:a="http://schemas.openxmlformats.org/drawingml/2006/main" noGrp="1"/>
          </p:cNvSpPr>
          <p:nvPr/>
        </p:nvSpPr>
        <p:spPr>
          <a:xfrm xmlns:a="http://schemas.openxmlformats.org/drawingml/2006/main">
            <a:off x="685800" y="22669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Validated uploads · clear uncertainty · guarded inference</a:t>
            </a:r>
          </a:p>
        </p:txBody>
      </p:sp>
      <p:sp>
        <p:nvSpPr>
          <p:cNvPr id="6" name="">
            <a:extLst xmlns:a="http://schemas.openxmlformats.org/drawingml/2006/main">
              <a:ext uri="{FF2B5EF4-FFF2-40B4-BE49-F238E27FC236}">
                <a16:creationId xmlns:a16="http://schemas.microsoft.com/office/drawing/2014/main" id="{1536FB50-1327-497E-AE82-672DCF12CA91}"/>
              </a:ext>
            </a:extLst>
          </p:cNvPr>
          <p:cNvSpPr>
            <a:spLocks xmlns:a="http://schemas.openxmlformats.org/drawingml/2006/main" noGrp="1"/>
          </p:cNvSpPr>
          <p:nvPr/>
        </p:nvSpPr>
        <p:spPr>
          <a:xfrm xmlns:a="http://schemas.openxmlformats.org/drawingml/2006/main">
            <a:off x="685800" y="3429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Reproducible engineering</a:t>
            </a:r>
          </a:p>
        </p:txBody>
      </p:sp>
      <p:sp>
        <p:nvSpPr>
          <p:cNvPr id="7" name="">
            <a:extLst xmlns:a="http://schemas.openxmlformats.org/drawingml/2006/main">
              <a:ext uri="{FF2B5EF4-FFF2-40B4-BE49-F238E27FC236}">
                <a16:creationId xmlns:a16="http://schemas.microsoft.com/office/drawing/2014/main" id="{A7DED9F2-DB52-43ED-BF34-F0F28161152F}"/>
              </a:ext>
            </a:extLst>
          </p:cNvPr>
          <p:cNvSpPr>
            <a:spLocks xmlns:a="http://schemas.openxmlformats.org/drawingml/2006/main" noGrp="1"/>
          </p:cNvSpPr>
          <p:nvPr/>
        </p:nvSpPr>
        <p:spPr>
          <a:xfrm xmlns:a="http://schemas.openxmlformats.org/drawingml/2006/main">
            <a:off x="685800" y="4067175"/>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Pinned artifacts · experiment receipts · dataset provenance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Git history · automated software checks</a:t>
            </a:r>
          </a:p>
        </p:txBody>
      </p:sp>
      <p:sp>
        <p:nvSpPr>
          <p:cNvPr id="8" name="">
            <a:extLst xmlns:a="http://schemas.openxmlformats.org/drawingml/2006/main">
              <a:ext uri="{FF2B5EF4-FFF2-40B4-BE49-F238E27FC236}">
                <a16:creationId xmlns:a16="http://schemas.microsoft.com/office/drawing/2014/main" id="{7538B775-78EE-4572-86A4-77977C5B4EA2}"/>
              </a:ext>
            </a:extLst>
          </p:cNvPr>
          <p:cNvSpPr>
            <a:spLocks xmlns:a="http://schemas.openxmlformats.org/drawingml/2006/main" noGrp="1"/>
          </p:cNvSpPr>
          <p:nvPr/>
        </p:nvSpPr>
        <p:spPr>
          <a:xfrm xmlns:a="http://schemas.openxmlformats.org/drawingml/2006/main">
            <a:off x="685800" y="55149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Latest recorded checkpoint: 1,245 Python tests passed.</a:t>
            </a:r>
          </a:p>
        </p:txBody>
      </p:sp>
    </p:spTree>
    <p:extLst>
      <p:ext uri="{BB962C8B-B14F-4D97-AF65-F5344CB8AC3E}">
        <p14:creationId xmlns:p14="http://schemas.microsoft.com/office/powerpoint/2010/main" val="146482253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F7593E-21E7-4C8D-8512-4CD557924C5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What the project achieved—and did not</a:t>
            </a:r>
          </a:p>
        </p:txBody>
      </p:sp>
      <p:sp>
        <p:nvSpPr>
          <p:cNvPr id="2" name="">
            <a:extLst xmlns:a="http://schemas.openxmlformats.org/drawingml/2006/main">
              <a:ext uri="{FF2B5EF4-FFF2-40B4-BE49-F238E27FC236}">
                <a16:creationId xmlns:a16="http://schemas.microsoft.com/office/drawing/2014/main" id="{60F15548-646C-48F0-88F5-F77C35D0451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D92B5CFB-60BE-4816-9779-7E359FF040C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D7BE49FC-9513-427B-9A07-15368C9983E6}"/>
              </a:ext>
            </a:extLst>
          </p:cNvPr>
          <p:cNvSpPr>
            <a:spLocks xmlns:a="http://schemas.openxmlformats.org/drawingml/2006/main" noGrp="1"/>
          </p:cNvSpPr>
          <p:nvPr/>
        </p:nvSpPr>
        <p:spPr>
          <a:xfrm xmlns:a="http://schemas.openxmlformats.org/drawingml/2006/main">
            <a:off x="685800" y="1381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5 separates implementation success from scientific proof.</a:t>
            </a:r>
          </a:p>
        </p:txBody>
      </p:sp>
      <p:sp>
        <p:nvSpPr>
          <p:cNvPr id="5" name="">
            <a:extLst xmlns:a="http://schemas.openxmlformats.org/drawingml/2006/main">
              <a:ext uri="{FF2B5EF4-FFF2-40B4-BE49-F238E27FC236}">
                <a16:creationId xmlns:a16="http://schemas.microsoft.com/office/drawing/2014/main" id="{F423B9B4-C4ED-40E1-9640-1E7AF9BC9CA9}"/>
              </a:ext>
            </a:extLst>
          </p:cNvPr>
          <p:cNvSpPr>
            <a:spLocks xmlns:a="http://schemas.openxmlformats.org/drawingml/2006/main" noGrp="1"/>
          </p:cNvSpPr>
          <p:nvPr/>
        </p:nvSpPr>
        <p:spPr>
          <a:xfrm xmlns:a="http://schemas.openxmlformats.org/drawingml/2006/main">
            <a:off x="685800" y="20002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5. Evidence-supported outcome.</a:t>
            </a:r>
          </a:p>
        </p:txBody>
      </p:sp>
      <p:graphicFrame>
        <p:nvGraphicFramePr>
          <p:cNvPr id="13" name=""/>
          <p:cNvGraphicFramePr/>
          <p:nvPr/>
        </p:nvGraphicFramePr>
        <p:xfrm>
          <a:off xmlns:a="http://schemas.openxmlformats.org/drawingml/2006/main" x="685800" y="2619375"/>
          <a:ext xmlns:a="http://schemas.openxmlformats.org/drawingml/2006/main" cx="10820400" cy="2667000"/>
        </p:xfrm>
        <a:graphic xmlns:a="http://schemas.openxmlformats.org/drawingml/2006/main">
          <a:graphicData uri="http://schemas.openxmlformats.org/drawingml/2006/table">
            <a:tbl>
              <a:tblPr/>
              <a:tblGrid>
                <a:gridCol w="5410200"/>
                <a:gridCol w="5410200"/>
              </a:tblGrid>
              <a:tr h="533400">
                <a:tc>
                  <a:txBody>
                    <a:bodyPr>
                      <a:noAutofit/>
                    </a:bodyPr>
                    <a:lstStyle/>
                    <a:p>
                      <a:pPr algn="l"/>
                      <a:r>
                        <a:rPr sz="2025" b="1">
                          <a:solidFill>
                            <a:srgbClr val="000000"/>
                          </a:solidFill>
                          <a:latin typeface="Times New Roman"/>
                          <a:ea typeface="Times New Roman"/>
                          <a:cs typeface="Times New Roman"/>
                        </a:rPr>
                        <a:t>Achieved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Still unproven</a:t>
                      </a:r>
                    </a:p>
                  </a:txBody>
                  <a:tcPr marL="91440" marR="91440" marT="45720" marB="45720">
                    <a:solidFill>
                      <a:srgbClr val="EEEEEE"/>
                    </a:solidFill>
                  </a:tcPr>
                </a:tc>
              </a:tr>
              <a:tr h="533400">
                <a:tc>
                  <a:txBody>
                    <a:bodyPr>
                      <a:noAutofit/>
                    </a:bodyPr>
                    <a:lstStyle/>
                    <a:p>
                      <a:pPr algn="l"/>
                      <a:r>
                        <a:rPr sz="2025" b="0">
                          <a:solidFill>
                            <a:srgbClr val="000000"/>
                          </a:solidFill>
                          <a:latin typeface="Times New Roman"/>
                          <a:ea typeface="Times New Roman"/>
                          <a:cs typeface="Times New Roman"/>
                        </a:rPr>
                        <a:t>Working student research demo</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Universal detection</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Fewer development false alerts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final-test success</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Auditable corrections and rejected candidates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Calibrated authenticity probability</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Controlled localization experiments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Reliable AI-edit localization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4E7EC87-9AD2-4646-A415-8BA6FE74CBDA}"/>
              </a:ext>
            </a:extLst>
          </p:cNvPr>
          <p:cNvSpPr>
            <a:spLocks xmlns:a="http://schemas.openxmlformats.org/drawingml/2006/main" noGrp="1"/>
          </p:cNvSpPr>
          <p:nvPr/>
        </p:nvSpPr>
        <p:spPr>
          <a:xfrm xmlns:a="http://schemas.openxmlformats.org/drawingml/2006/main">
            <a:off x="685800" y="563880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A credible student prototype with clearly stated limits.</a:t>
            </a:r>
          </a:p>
        </p:txBody>
      </p:sp>
    </p:spTree>
    <p:extLst>
      <p:ext uri="{BB962C8B-B14F-4D97-AF65-F5344CB8AC3E}">
        <p14:creationId xmlns:p14="http://schemas.microsoft.com/office/powerpoint/2010/main" val="16104923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C2CE30-9CA1-48B0-A680-4BA7DBE1918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13. The next step is stronger evidence</a:t>
            </a:r>
          </a:p>
        </p:txBody>
      </p:sp>
      <p:sp>
        <p:nvSpPr>
          <p:cNvPr id="2" name="">
            <a:extLst xmlns:a="http://schemas.openxmlformats.org/drawingml/2006/main">
              <a:ext uri="{FF2B5EF4-FFF2-40B4-BE49-F238E27FC236}">
                <a16:creationId xmlns:a16="http://schemas.microsoft.com/office/drawing/2014/main" id="{A7381CEA-6B41-4BCD-A6E5-A1429FB25C4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26CD19FF-BC94-472A-BA71-BB54EBC37E5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13</a:t>
            </a:r>
          </a:p>
        </p:txBody>
      </p:sp>
      <p:sp>
        <p:nvSpPr>
          <p:cNvPr id="4" name="">
            <a:extLst xmlns:a="http://schemas.openxmlformats.org/drawingml/2006/main">
              <a:ext uri="{FF2B5EF4-FFF2-40B4-BE49-F238E27FC236}">
                <a16:creationId xmlns:a16="http://schemas.microsoft.com/office/drawing/2014/main" id="{83B6F238-0D41-4F5C-810A-B0EC9B6453EF}"/>
              </a:ext>
            </a:extLst>
          </p:cNvPr>
          <p:cNvSpPr>
            <a:spLocks xmlns:a="http://schemas.openxmlformats.org/drawingml/2006/main" noGrp="1"/>
          </p:cNvSpPr>
          <p:nvPr/>
        </p:nvSpPr>
        <p:spPr>
          <a:xfrm xmlns:a="http://schemas.openxmlformats.org/drawingml/2006/main">
            <a:off x="685800" y="16859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Independent sources and resolved ancestry</a:t>
            </a:r>
          </a:p>
        </p:txBody>
      </p:sp>
      <p:sp>
        <p:nvSpPr>
          <p:cNvPr id="5" name="">
            <a:extLst xmlns:a="http://schemas.openxmlformats.org/drawingml/2006/main">
              <a:ext uri="{FF2B5EF4-FFF2-40B4-BE49-F238E27FC236}">
                <a16:creationId xmlns:a16="http://schemas.microsoft.com/office/drawing/2014/main" id="{120F8BD5-1211-44C1-B0A2-92101DD09685}"/>
              </a:ext>
            </a:extLst>
          </p:cNvPr>
          <p:cNvSpPr>
            <a:spLocks xmlns:a="http://schemas.openxmlformats.org/drawingml/2006/main" noGrp="1"/>
          </p:cNvSpPr>
          <p:nvPr/>
        </p:nvSpPr>
        <p:spPr>
          <a:xfrm xmlns:a="http://schemas.openxmlformats.org/drawingml/2006/main">
            <a:off x="685800" y="26289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Separate calibration, fixed costs and locked evaluation</a:t>
            </a:r>
          </a:p>
        </p:txBody>
      </p:sp>
      <p:sp>
        <p:nvSpPr>
          <p:cNvPr id="6" name="">
            <a:extLst xmlns:a="http://schemas.openxmlformats.org/drawingml/2006/main">
              <a:ext uri="{FF2B5EF4-FFF2-40B4-BE49-F238E27FC236}">
                <a16:creationId xmlns:a16="http://schemas.microsoft.com/office/drawing/2014/main" id="{9F9572EE-A11B-45D1-BC5B-6EE3D6D1DDFE}"/>
              </a:ext>
            </a:extLst>
          </p:cNvPr>
          <p:cNvSpPr>
            <a:spLocks xmlns:a="http://schemas.openxmlformats.org/drawingml/2006/main" noGrp="1"/>
          </p:cNvSpPr>
          <p:nvPr/>
        </p:nvSpPr>
        <p:spPr>
          <a:xfrm xmlns:a="http://schemas.openxmlformats.org/drawingml/2006/main">
            <a:off x="685800" y="3571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Broader cameras, generators, editors and processing</a:t>
            </a:r>
          </a:p>
        </p:txBody>
      </p:sp>
      <p:sp>
        <p:nvSpPr>
          <p:cNvPr id="7" name="">
            <a:extLst xmlns:a="http://schemas.openxmlformats.org/drawingml/2006/main">
              <a:ext uri="{FF2B5EF4-FFF2-40B4-BE49-F238E27FC236}">
                <a16:creationId xmlns:a16="http://schemas.microsoft.com/office/drawing/2014/main" id="{475AD438-C5A0-4932-8A59-6F44E2BE93F5}"/>
              </a:ext>
            </a:extLst>
          </p:cNvPr>
          <p:cNvSpPr>
            <a:spLocks xmlns:a="http://schemas.openxmlformats.org/drawingml/2006/main" noGrp="1"/>
          </p:cNvSpPr>
          <p:nvPr/>
        </p:nvSpPr>
        <p:spPr>
          <a:xfrm xmlns:a="http://schemas.openxmlformats.org/drawingml/2006/main">
            <a:off x="685800" y="49815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My central lesson: verify what a score actually proves.</a:t>
            </a:r>
          </a:p>
        </p:txBody>
      </p:sp>
    </p:spTree>
    <p:extLst>
      <p:ext uri="{BB962C8B-B14F-4D97-AF65-F5344CB8AC3E}">
        <p14:creationId xmlns:p14="http://schemas.microsoft.com/office/powerpoint/2010/main" val="21717315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74F17EC-1A57-412C-BA73-A31DD1807401}"/>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14. Selected references: detection and data</a:t>
            </a:r>
          </a:p>
        </p:txBody>
      </p:sp>
      <p:sp>
        <p:nvSpPr>
          <p:cNvPr id="2" name="">
            <a:extLst xmlns:a="http://schemas.openxmlformats.org/drawingml/2006/main">
              <a:ext uri="{FF2B5EF4-FFF2-40B4-BE49-F238E27FC236}">
                <a16:creationId xmlns:a16="http://schemas.microsoft.com/office/drawing/2014/main" id="{E4C0477B-4ABD-410E-8D46-3EF339D86CD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04960E9F-D08B-4F8E-9423-35B6C8856CFB}"/>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14</a:t>
            </a:r>
          </a:p>
        </p:txBody>
      </p:sp>
      <p:sp>
        <p:nvSpPr>
          <p:cNvPr id="4" name="">
            <a:extLst xmlns:a="http://schemas.openxmlformats.org/drawingml/2006/main">
              <a:ext uri="{FF2B5EF4-FFF2-40B4-BE49-F238E27FC236}">
                <a16:creationId xmlns:a16="http://schemas.microsoft.com/office/drawing/2014/main" id="{4153BFDA-2496-496D-9D6A-C81F7CC39CB7}"/>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Wang et al. (2020)</a:t>
            </a:r>
          </a:p>
        </p:txBody>
      </p:sp>
      <p:sp>
        <p:nvSpPr>
          <p:cNvPr id="5" name="">
            <a:extLst xmlns:a="http://schemas.openxmlformats.org/drawingml/2006/main">
              <a:ext uri="{FF2B5EF4-FFF2-40B4-BE49-F238E27FC236}">
                <a16:creationId xmlns:a16="http://schemas.microsoft.com/office/drawing/2014/main" id="{363578EA-496D-45AF-9181-2C91EFB22F50}"/>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CNN-generated images are surprisingly easy to spot… for now. CVPR.</a:t>
            </a:r>
          </a:p>
        </p:txBody>
      </p:sp>
      <p:sp>
        <p:nvSpPr>
          <p:cNvPr id="6" name="">
            <a:extLst xmlns:a="http://schemas.openxmlformats.org/drawingml/2006/main">
              <a:ext uri="{FF2B5EF4-FFF2-40B4-BE49-F238E27FC236}">
                <a16:creationId xmlns:a16="http://schemas.microsoft.com/office/drawing/2014/main" id="{CA7777D2-E9AE-49DE-B955-428BB699F3F5}"/>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Ojha et al. (2023)</a:t>
            </a:r>
          </a:p>
        </p:txBody>
      </p:sp>
      <p:sp>
        <p:nvSpPr>
          <p:cNvPr id="7" name="">
            <a:extLst xmlns:a="http://schemas.openxmlformats.org/drawingml/2006/main">
              <a:ext uri="{FF2B5EF4-FFF2-40B4-BE49-F238E27FC236}">
                <a16:creationId xmlns:a16="http://schemas.microsoft.com/office/drawing/2014/main" id="{05721B50-A75F-4489-B9D2-FCE1CFD5C8A6}"/>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Towards universal fake image detectors. CVPR.</a:t>
            </a:r>
          </a:p>
        </p:txBody>
      </p:sp>
      <p:sp>
        <p:nvSpPr>
          <p:cNvPr id="8" name="">
            <a:extLst xmlns:a="http://schemas.openxmlformats.org/drawingml/2006/main">
              <a:ext uri="{FF2B5EF4-FFF2-40B4-BE49-F238E27FC236}">
                <a16:creationId xmlns:a16="http://schemas.microsoft.com/office/drawing/2014/main" id="{B0BB03E1-6DED-408B-AE42-B57CF31E6EC7}"/>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Grommelt et al. (2024)</a:t>
            </a:r>
          </a:p>
        </p:txBody>
      </p:sp>
      <p:sp>
        <p:nvSpPr>
          <p:cNvPr id="9" name="">
            <a:extLst xmlns:a="http://schemas.openxmlformats.org/drawingml/2006/main">
              <a:ext uri="{FF2B5EF4-FFF2-40B4-BE49-F238E27FC236}">
                <a16:creationId xmlns:a16="http://schemas.microsoft.com/office/drawing/2014/main" id="{2AF0889A-29E4-46BC-AE33-A561E3C86A4A}"/>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Fake or JPEG? arXiv:2403.17608.</a:t>
            </a:r>
          </a:p>
        </p:txBody>
      </p:sp>
      <p:sp>
        <p:nvSpPr>
          <p:cNvPr id="10" name="">
            <a:extLst xmlns:a="http://schemas.openxmlformats.org/drawingml/2006/main">
              <a:ext uri="{FF2B5EF4-FFF2-40B4-BE49-F238E27FC236}">
                <a16:creationId xmlns:a16="http://schemas.microsoft.com/office/drawing/2014/main" id="{2D372846-4FB2-49C0-A0D0-B3C14C7E0F83}"/>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Abdelhamed et al. (2018)</a:t>
            </a:r>
          </a:p>
        </p:txBody>
      </p:sp>
      <p:sp>
        <p:nvSpPr>
          <p:cNvPr id="11" name="">
            <a:extLst xmlns:a="http://schemas.openxmlformats.org/drawingml/2006/main">
              <a:ext uri="{FF2B5EF4-FFF2-40B4-BE49-F238E27FC236}">
                <a16:creationId xmlns:a16="http://schemas.microsoft.com/office/drawing/2014/main" id="{DE848AF9-047F-4D3A-A3CF-D93823F83E8A}"/>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A high-quality denoising dataset for smartphone cameras. CVPR.</a:t>
            </a:r>
          </a:p>
        </p:txBody>
      </p:sp>
      <p:sp>
        <p:nvSpPr>
          <p:cNvPr id="12" name="">
            <a:extLst xmlns:a="http://schemas.openxmlformats.org/drawingml/2006/main">
              <a:ext uri="{FF2B5EF4-FFF2-40B4-BE49-F238E27FC236}">
                <a16:creationId xmlns:a16="http://schemas.microsoft.com/office/drawing/2014/main" id="{FBCAD16E-D83A-4C48-BBF1-A158BA53912B}"/>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Chen et al. (2018)</a:t>
            </a:r>
          </a:p>
        </p:txBody>
      </p:sp>
      <p:sp>
        <p:nvSpPr>
          <p:cNvPr id="13" name="">
            <a:extLst xmlns:a="http://schemas.openxmlformats.org/drawingml/2006/main">
              <a:ext uri="{FF2B5EF4-FFF2-40B4-BE49-F238E27FC236}">
                <a16:creationId xmlns:a16="http://schemas.microsoft.com/office/drawing/2014/main" id="{4BB33A28-06A8-4F34-9B86-ACD5DDB8C80A}"/>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to see in the dark. CVPR.</a:t>
            </a:r>
          </a:p>
        </p:txBody>
      </p:sp>
      <p:sp>
        <p:nvSpPr>
          <p:cNvPr id="14" name="">
            <a:extLst xmlns:a="http://schemas.openxmlformats.org/drawingml/2006/main">
              <a:ext uri="{FF2B5EF4-FFF2-40B4-BE49-F238E27FC236}">
                <a16:creationId xmlns:a16="http://schemas.microsoft.com/office/drawing/2014/main" id="{EC87A5B4-2C73-41D2-8275-BC0DFB83E340}"/>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Keleş (2026)</a:t>
            </a:r>
          </a:p>
        </p:txBody>
      </p:sp>
      <p:sp>
        <p:nvSpPr>
          <p:cNvPr id="15" name="">
            <a:extLst xmlns:a="http://schemas.openxmlformats.org/drawingml/2006/main">
              <a:ext uri="{FF2B5EF4-FFF2-40B4-BE49-F238E27FC236}">
                <a16:creationId xmlns:a16="http://schemas.microsoft.com/office/drawing/2014/main" id="{FF6C464A-6D17-4F21-91A4-552BC65513AF}"/>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PixelProof research records, source commit 497d45c. GitHub.</a:t>
            </a:r>
          </a:p>
        </p:txBody>
      </p:sp>
    </p:spTree>
    <p:extLst>
      <p:ext uri="{BB962C8B-B14F-4D97-AF65-F5344CB8AC3E}">
        <p14:creationId xmlns:p14="http://schemas.microsoft.com/office/powerpoint/2010/main" val="45098323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3D7D9FD-8F9A-4635-A600-C3672CE00A3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15. Selected references: features and evaluation</a:t>
            </a:r>
          </a:p>
        </p:txBody>
      </p:sp>
      <p:sp>
        <p:nvSpPr>
          <p:cNvPr id="2" name="">
            <a:extLst xmlns:a="http://schemas.openxmlformats.org/drawingml/2006/main">
              <a:ext uri="{FF2B5EF4-FFF2-40B4-BE49-F238E27FC236}">
                <a16:creationId xmlns:a16="http://schemas.microsoft.com/office/drawing/2014/main" id="{05A9D58F-9B64-4FEB-B379-4EDF1214FD6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23376D67-1884-49DE-A081-F913CD28789B}"/>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15</a:t>
            </a:r>
          </a:p>
        </p:txBody>
      </p:sp>
      <p:sp>
        <p:nvSpPr>
          <p:cNvPr id="4" name="">
            <a:extLst xmlns:a="http://schemas.openxmlformats.org/drawingml/2006/main">
              <a:ext uri="{FF2B5EF4-FFF2-40B4-BE49-F238E27FC236}">
                <a16:creationId xmlns:a16="http://schemas.microsoft.com/office/drawing/2014/main" id="{B9620528-715C-400B-A912-A36C93DE7FB6}"/>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13462330-6CF8-4D76-861F-9B6F245AB8CA}"/>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transferable visual models from natural language supervision. PMLR.</a:t>
            </a:r>
          </a:p>
        </p:txBody>
      </p:sp>
      <p:sp>
        <p:nvSpPr>
          <p:cNvPr id="6" name="">
            <a:extLst xmlns:a="http://schemas.openxmlformats.org/drawingml/2006/main">
              <a:ext uri="{FF2B5EF4-FFF2-40B4-BE49-F238E27FC236}">
                <a16:creationId xmlns:a16="http://schemas.microsoft.com/office/drawing/2014/main" id="{0A296BA6-290B-40E0-BC1E-B9FD189B2CE5}"/>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5CEEDB66-EE01-4B7A-9B6E-961096146D13}"/>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7C7D0032-ED39-44B1-9CDB-6462FDE39458}"/>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FC538E28-D3CA-4783-B6C8-2659B4F0D4A6}"/>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D9854DC1-D53C-431E-9E5E-A138F77AECF2}"/>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Guo et al. (2017)</a:t>
            </a:r>
          </a:p>
        </p:txBody>
      </p:sp>
      <p:sp>
        <p:nvSpPr>
          <p:cNvPr id="11" name="">
            <a:extLst xmlns:a="http://schemas.openxmlformats.org/drawingml/2006/main">
              <a:ext uri="{FF2B5EF4-FFF2-40B4-BE49-F238E27FC236}">
                <a16:creationId xmlns:a16="http://schemas.microsoft.com/office/drawing/2014/main" id="{37753342-C9CE-479E-8037-02333005A771}"/>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On calibration of modern neural networks. PMLR.</a:t>
            </a:r>
          </a:p>
        </p:txBody>
      </p:sp>
      <p:sp>
        <p:nvSpPr>
          <p:cNvPr id="12" name="">
            <a:extLst xmlns:a="http://schemas.openxmlformats.org/drawingml/2006/main">
              <a:ext uri="{FF2B5EF4-FFF2-40B4-BE49-F238E27FC236}">
                <a16:creationId xmlns:a16="http://schemas.microsoft.com/office/drawing/2014/main" id="{4DCDB921-F851-4079-AEAE-8A8B6D41114F}"/>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Dwork et al. (2015)</a:t>
            </a:r>
          </a:p>
        </p:txBody>
      </p:sp>
      <p:sp>
        <p:nvSpPr>
          <p:cNvPr id="13" name="">
            <a:extLst xmlns:a="http://schemas.openxmlformats.org/drawingml/2006/main">
              <a:ext uri="{FF2B5EF4-FFF2-40B4-BE49-F238E27FC236}">
                <a16:creationId xmlns:a16="http://schemas.microsoft.com/office/drawing/2014/main" id="{815E7C60-8F14-4510-A7C4-4AAAE15CF130}"/>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Generalization in adaptive data analysis and holdout reuse. NeurIPS.</a:t>
            </a:r>
          </a:p>
        </p:txBody>
      </p:sp>
      <p:sp>
        <p:nvSpPr>
          <p:cNvPr id="14" name="">
            <a:extLst xmlns:a="http://schemas.openxmlformats.org/drawingml/2006/main">
              <a:ext uri="{FF2B5EF4-FFF2-40B4-BE49-F238E27FC236}">
                <a16:creationId xmlns:a16="http://schemas.microsoft.com/office/drawing/2014/main" id="{E88C9D0B-3AA6-4CD2-8135-903DAFD8B10D}"/>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Türk Telekom (2026a, 2026b)</a:t>
            </a:r>
          </a:p>
        </p:txBody>
      </p:sp>
      <p:sp>
        <p:nvSpPr>
          <p:cNvPr id="15" name="">
            <a:extLst xmlns:a="http://schemas.openxmlformats.org/drawingml/2006/main">
              <a:ext uri="{FF2B5EF4-FFF2-40B4-BE49-F238E27FC236}">
                <a16:creationId xmlns:a16="http://schemas.microsoft.com/office/drawing/2014/main" id="{C1A4D76D-CF99-4341-A412-A1A6FC2957F3}"/>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2025 Annual Report; corporate About Us page.</a:t>
            </a:r>
          </a:p>
        </p:txBody>
      </p:sp>
    </p:spTree>
    <p:extLst>
      <p:ext uri="{BB962C8B-B14F-4D97-AF65-F5344CB8AC3E}">
        <p14:creationId xmlns:p14="http://schemas.microsoft.com/office/powerpoint/2010/main" val="12997782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2026-09-24T22:53:23.5150000Z</dcterms:created>
  <dcterms:modified xsi:type="dcterms:W3CDTF">2026-09-24T22:53:23.5150000Z</dcterms:modified>
</coreProperties>
</file>