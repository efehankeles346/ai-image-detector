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9f7cb6a9ef474a" /><Relationship Type="http://schemas.openxmlformats.org/officeDocument/2006/relationships/extended-properties" Target="/docProps/app.xml" Id="R479ac8d994cd4a32" /><Relationship Type="http://schemas.openxmlformats.org/officeDocument/2006/relationships/officeDocument" Target="/ppt/presentation.xml" Id="R9f2d7c5f2d5d4999" /></Relationships>
</file>

<file path=ppt/presentation.xml><?xml version="1.0" encoding="utf-8"?>
<p:presentation xmlns:p="http://schemas.openxmlformats.org/presentationml/2006/main">
  <p:sldMasterIdLst>
    <p:sldMasterId xmlns:r="http://schemas.openxmlformats.org/officeDocument/2006/relationships" id="2147483648" r:id="Rf44af0c99a824c00"/>
  </p:sldMasterIdLst>
  <p:notesMasterIdLst>
    <p:notesMasterId xmlns:r="http://schemas.openxmlformats.org/officeDocument/2006/relationships" r:id="Rd1c259d8f8c64919"/>
  </p:notesMasterIdLst>
  <p:sldIdLst>
    <p:sldId xmlns:r="http://schemas.openxmlformats.org/officeDocument/2006/relationships" id="256" r:id="Re39c120c63484e3f"/>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64cf7e34c774b09" /><Relationship Type="http://schemas.openxmlformats.org/officeDocument/2006/relationships/slideMaster" Target="/ppt/slideMasters/slideMaster1.xml" Id="Rf44af0c99a824c00" /><Relationship Type="http://schemas.openxmlformats.org/officeDocument/2006/relationships/notesMaster" Target="/ppt/notesMasters/notesMaster1.xml" Id="Rd1c259d8f8c64919" /><Relationship Type="http://schemas.openxmlformats.org/officeDocument/2006/relationships/presProps" Target="/ppt/presProps.xml" Id="R32c1506cc0734dde" /><Relationship Type="http://schemas.openxmlformats.org/officeDocument/2006/relationships/tableStyles" Target="/ppt/tableStyles.xml" Id="R5d9202a4e8704f9c" /><Relationship Type="http://schemas.openxmlformats.org/officeDocument/2006/relationships/slide" Target="/ppt/slides/slide1.xml" Id="Re39c120c63484e3f"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20d5be386ab4af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bf90ee470c420f" /><Relationship Type="http://schemas.openxmlformats.org/officeDocument/2006/relationships/notesMaster" Target="/ppt/notesMasters/notesMaster1.xml" Id="R4bd1e2c1e5524f4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Standalone internship digest. Original and social-style views use the same 320 development parents: 160 real and 160 AI. Social-style means long-side cap 1080 followed by JPEG75. E92 newly missed one original AI image caught by E43, so full acceptance failed despite the numeric milestone. Model2 remains experimental. The student confirmed the internship office as Fatih Sultan Mehmet Mah., Balkan Cad. No:49, 34771 Ümraniye / İstanbul on 25 September 2026. Supervisor: Önder Çelebi, Director of the Planning and Development Directorate. Submission date: [TO COMPLETE]. Full sources and limitations are in the report.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95ff275dd504a2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bc2159ff4ca43b1" /><Relationship Type="http://schemas.openxmlformats.org/officeDocument/2006/relationships/slideLayout" Target="/ppt/slideLayouts/slideLayout1.xml" Id="Recf145c4cfa643d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cf145c4cfa643d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791631e44fd4657" /><Relationship Type="http://schemas.openxmlformats.org/officeDocument/2006/relationships/notesSlide" Target="/ppt/notesSlides/notesSlide1.xml" Id="Rd63c82df73ed4b59"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BDD094B3-EB9D-458C-B591-4523D99DC62D}"/>
              </a:ext>
            </a:extLst>
          </p:cNvPr>
          <p:cNvSpPr>
            <a:spLocks xmlns:a="http://schemas.openxmlformats.org/drawingml/2006/main" noGrp="1"/>
          </p:cNvSpPr>
          <p:nvPr/>
        </p:nvSpPr>
        <p:spPr>
          <a:xfrm xmlns:a="http://schemas.openxmlformats.org/drawingml/2006/main">
            <a:off x="685800" y="400050"/>
            <a:ext cx="108204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3150" b="1">
                <a:solidFill>
                  <a:srgbClr val="000000"/>
                </a:solidFill>
                <a:latin typeface="Times New Roman"/>
                <a:ea typeface="Times New Roman"/>
                <a:cs typeface="Times New Roman"/>
              </a:defRPr>
            </a:pPr>
            <a:r>
              <a:rPr sz="3150" b="1">
                <a:solidFill>
                  <a:srgbClr val="000000"/>
                </a:solidFill>
                <a:latin typeface="Times New Roman"/>
                <a:ea typeface="Times New Roman"/>
                <a:cs typeface="Times New Roman"/>
              </a:rPr>
              <a:t>1. PixelProof: AI Image Detection</a:t>
            </a:r>
          </a:p>
        </p:txBody>
      </p:sp>
      <p:sp>
        <p:nvSpPr>
          <p:cNvPr id="2" name="">
            <a:extLst xmlns:a="http://schemas.openxmlformats.org/drawingml/2006/main">
              <a:ext uri="{FF2B5EF4-FFF2-40B4-BE49-F238E27FC236}">
                <a16:creationId xmlns:a16="http://schemas.microsoft.com/office/drawing/2014/main" id="{6A63E18D-5475-4D87-9E6A-0CA948A972EF}"/>
              </a:ext>
            </a:extLst>
          </p:cNvPr>
          <p:cNvSpPr>
            <a:spLocks xmlns:a="http://schemas.openxmlformats.org/drawingml/2006/main" noGrp="1"/>
          </p:cNvSpPr>
          <p:nvPr/>
        </p:nvSpPr>
        <p:spPr>
          <a:xfrm xmlns:a="http://schemas.openxmlformats.org/drawingml/2006/main">
            <a:off x="685800" y="6305550"/>
            <a:ext cx="1009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CS395 digest · source snapshot 497d45c · research prototype</a:t>
            </a:r>
          </a:p>
        </p:txBody>
      </p:sp>
      <p:sp>
        <p:nvSpPr>
          <p:cNvPr id="3" name="">
            <a:extLst xmlns:a="http://schemas.openxmlformats.org/drawingml/2006/main">
              <a:ext uri="{FF2B5EF4-FFF2-40B4-BE49-F238E27FC236}">
                <a16:creationId xmlns:a16="http://schemas.microsoft.com/office/drawing/2014/main" id="{D9727248-7D57-4437-B73A-515990BCE3AC}"/>
              </a:ext>
            </a:extLst>
          </p:cNvPr>
          <p:cNvSpPr>
            <a:spLocks xmlns:a="http://schemas.openxmlformats.org/drawingml/2006/main" noGrp="1"/>
          </p:cNvSpPr>
          <p:nvPr/>
        </p:nvSpPr>
        <p:spPr>
          <a:xfrm xmlns:a="http://schemas.openxmlformats.org/drawingml/2006/main">
            <a:off x="10953750" y="6305550"/>
            <a:ext cx="571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1350" b="0">
                <a:solidFill>
                  <a:srgbClr val="000000"/>
                </a:solidFill>
                <a:latin typeface="Times New Roman"/>
                <a:ea typeface="Times New Roman"/>
                <a:cs typeface="Times New Roman"/>
              </a:defRPr>
            </a:pPr>
            <a:r>
              <a:rPr sz="1350" b="0">
                <a:solidFill>
                  <a:srgbClr val="000000"/>
                </a:solidFill>
                <a:latin typeface="Times New Roman"/>
                <a:ea typeface="Times New Roman"/>
                <a:cs typeface="Times New Roman"/>
              </a:rPr>
              <a:t>1</a:t>
            </a:r>
          </a:p>
        </p:txBody>
      </p:sp>
      <p:sp>
        <p:nvSpPr>
          <p:cNvPr id="4" name="">
            <a:extLst xmlns:a="http://schemas.openxmlformats.org/drawingml/2006/main">
              <a:ext uri="{FF2B5EF4-FFF2-40B4-BE49-F238E27FC236}">
                <a16:creationId xmlns:a16="http://schemas.microsoft.com/office/drawing/2014/main" id="{B20AF241-8FA2-42AA-AEC4-059A304BA118}"/>
              </a:ext>
            </a:extLst>
          </p:cNvPr>
          <p:cNvSpPr>
            <a:spLocks xmlns:a="http://schemas.openxmlformats.org/drawingml/2006/main" noGrp="1"/>
          </p:cNvSpPr>
          <p:nvPr/>
        </p:nvSpPr>
        <p:spPr>
          <a:xfrm xmlns:a="http://schemas.openxmlformats.org/drawingml/2006/main">
            <a:off x="685800" y="1400175"/>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1">
                <a:solidFill>
                  <a:srgbClr val="000000"/>
                </a:solidFill>
                <a:latin typeface="Times New Roman"/>
                <a:ea typeface="Times New Roman"/>
                <a:cs typeface="Times New Roman"/>
              </a:defRPr>
            </a:pPr>
            <a:r>
              <a:rPr sz="2175" b="1">
                <a:solidFill>
                  <a:srgbClr val="000000"/>
                </a:solidFill>
                <a:latin typeface="Times New Roman"/>
                <a:ea typeface="Times New Roman"/>
                <a:cs typeface="Times New Roman"/>
              </a:rPr>
              <a:t>Türk Telekom · Efe Han Keleş · Computer Science and Engineering</a:t>
            </a:r>
          </a:p>
        </p:txBody>
      </p:sp>
      <p:sp>
        <p:nvSpPr>
          <p:cNvPr id="5" name="">
            <a:extLst xmlns:a="http://schemas.openxmlformats.org/drawingml/2006/main">
              <a:ext uri="{FF2B5EF4-FFF2-40B4-BE49-F238E27FC236}">
                <a16:creationId xmlns:a16="http://schemas.microsoft.com/office/drawing/2014/main" id="{BA926C58-7CA4-4368-AA4A-D77C28C31533}"/>
              </a:ext>
            </a:extLst>
          </p:cNvPr>
          <p:cNvSpPr>
            <a:spLocks xmlns:a="http://schemas.openxmlformats.org/drawingml/2006/main" noGrp="1"/>
          </p:cNvSpPr>
          <p:nvPr/>
        </p:nvSpPr>
        <p:spPr>
          <a:xfrm xmlns:a="http://schemas.openxmlformats.org/drawingml/2006/main">
            <a:off x="685800" y="20097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025" b="0">
                <a:solidFill>
                  <a:srgbClr val="000000"/>
                </a:solidFill>
                <a:latin typeface="Times New Roman"/>
                <a:ea typeface="Times New Roman"/>
                <a:cs typeface="Times New Roman"/>
              </a:defRPr>
            </a:pPr>
            <a:r>
              <a:rPr sz="2025" b="0">
                <a:solidFill>
                  <a:srgbClr val="000000"/>
                </a:solidFill>
                <a:latin typeface="Times New Roman"/>
                <a:ea typeface="Times New Roman"/>
                <a:cs typeface="Times New Roman"/>
              </a:rPr>
              <a:t>20 July–18 September 2026 · 40 approved internship days</a:t>
            </a:r>
          </a:p>
        </p:txBody>
      </p:sp>
      <p:sp>
        <p:nvSpPr>
          <p:cNvPr id="6" name="">
            <a:extLst xmlns:a="http://schemas.openxmlformats.org/drawingml/2006/main">
              <a:ext uri="{FF2B5EF4-FFF2-40B4-BE49-F238E27FC236}">
                <a16:creationId xmlns:a16="http://schemas.microsoft.com/office/drawing/2014/main" id="{3F8CC671-1B9A-40DE-AF79-7CE5B3AA28F6}"/>
              </a:ext>
            </a:extLst>
          </p:cNvPr>
          <p:cNvSpPr>
            <a:spLocks xmlns:a="http://schemas.openxmlformats.org/drawingml/2006/main" noGrp="1"/>
          </p:cNvSpPr>
          <p:nvPr/>
        </p:nvSpPr>
        <p:spPr>
          <a:xfrm xmlns:a="http://schemas.openxmlformats.org/drawingml/2006/main">
            <a:off x="685800" y="2428875"/>
            <a:ext cx="108204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Internship office: Fatih Sultan Mehmet Mah., Balkan Cad. No:49,</a:t>
            </a:r>
          </a:p>
          <a:p xmlns:a="http://schemas.openxmlformats.org/drawingml/2006/main">
            <a:pPr algn="l">
              <a:defRPr sz="1800" b="0">
                <a:solidFill>
                  <a:srgbClr val="000000"/>
                </a:solidFill>
                <a:latin typeface="Times New Roman"/>
                <a:ea typeface="Times New Roman"/>
                <a:cs typeface="Times New Roman"/>
              </a:defRPr>
            </a:pPr>
            <a:r>
              <a:rPr sz="1800" b="0">
                <a:solidFill>
                  <a:srgbClr val="000000"/>
                </a:solidFill>
                <a:latin typeface="Times New Roman"/>
                <a:ea typeface="Times New Roman"/>
                <a:cs typeface="Times New Roman"/>
              </a:rPr>
              <a:t>34771 Ümraniye / İstanbul</a:t>
            </a:r>
          </a:p>
        </p:txBody>
      </p:sp>
      <p:sp>
        <p:nvSpPr>
          <p:cNvPr id="7" name="">
            <a:extLst xmlns:a="http://schemas.openxmlformats.org/drawingml/2006/main">
              <a:ext uri="{FF2B5EF4-FFF2-40B4-BE49-F238E27FC236}">
                <a16:creationId xmlns:a16="http://schemas.microsoft.com/office/drawing/2014/main" id="{0C277339-B1C0-4B92-B2E1-7F5707C94710}"/>
              </a:ext>
            </a:extLst>
          </p:cNvPr>
          <p:cNvSpPr>
            <a:spLocks xmlns:a="http://schemas.openxmlformats.org/drawingml/2006/main" noGrp="1"/>
          </p:cNvSpPr>
          <p:nvPr/>
        </p:nvSpPr>
        <p:spPr>
          <a:xfrm xmlns:a="http://schemas.openxmlformats.org/drawingml/2006/main">
            <a:off x="685800" y="3124200"/>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Objective</a:t>
            </a:r>
          </a:p>
        </p:txBody>
      </p:sp>
      <p:sp>
        <p:nvSpPr>
          <p:cNvPr id="8" name="">
            <a:extLst xmlns:a="http://schemas.openxmlformats.org/drawingml/2006/main">
              <a:ext uri="{FF2B5EF4-FFF2-40B4-BE49-F238E27FC236}">
                <a16:creationId xmlns:a16="http://schemas.microsoft.com/office/drawing/2014/main" id="{046AABC4-1A54-4ADE-A4D2-3A1321AD0813}"/>
              </a:ext>
            </a:extLst>
          </p:cNvPr>
          <p:cNvSpPr>
            <a:spLocks xmlns:a="http://schemas.openxmlformats.org/drawingml/2006/main" noGrp="1"/>
          </p:cNvSpPr>
          <p:nvPr/>
        </p:nvSpPr>
        <p:spPr>
          <a:xfrm xmlns:a="http://schemas.openxmlformats.org/drawingml/2006/main">
            <a:off x="3429000" y="3124200"/>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Detect AI-image evidence while reducing false alerts;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explore localization of AI edits.</a:t>
            </a:r>
          </a:p>
        </p:txBody>
      </p:sp>
      <p:sp>
        <p:nvSpPr>
          <p:cNvPr id="9" name="">
            <a:extLst xmlns:a="http://schemas.openxmlformats.org/drawingml/2006/main">
              <a:ext uri="{FF2B5EF4-FFF2-40B4-BE49-F238E27FC236}">
                <a16:creationId xmlns:a16="http://schemas.microsoft.com/office/drawing/2014/main" id="{4353ED43-3E16-4B23-B838-2350418E750B}"/>
              </a:ext>
            </a:extLst>
          </p:cNvPr>
          <p:cNvSpPr>
            <a:spLocks xmlns:a="http://schemas.openxmlformats.org/drawingml/2006/main" noGrp="1"/>
          </p:cNvSpPr>
          <p:nvPr/>
        </p:nvSpPr>
        <p:spPr>
          <a:xfrm xmlns:a="http://schemas.openxmlformats.org/drawingml/2006/main">
            <a:off x="685800" y="4238625"/>
            <a:ext cx="2476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Deliverables</a:t>
            </a:r>
          </a:p>
        </p:txBody>
      </p:sp>
      <p:sp>
        <p:nvSpPr>
          <p:cNvPr id="10" name="">
            <a:extLst xmlns:a="http://schemas.openxmlformats.org/drawingml/2006/main">
              <a:ext uri="{FF2B5EF4-FFF2-40B4-BE49-F238E27FC236}">
                <a16:creationId xmlns:a16="http://schemas.microsoft.com/office/drawing/2014/main" id="{707AB4D4-DE00-497A-8A2A-C84A512D97A2}"/>
              </a:ext>
            </a:extLst>
          </p:cNvPr>
          <p:cNvSpPr>
            <a:spLocks xmlns:a="http://schemas.openxmlformats.org/drawingml/2006/main" noGrp="1"/>
          </p:cNvSpPr>
          <p:nvPr/>
        </p:nvSpPr>
        <p:spPr>
          <a:xfrm xmlns:a="http://schemas.openxmlformats.org/drawingml/2006/main">
            <a:off x="3429000" y="4238625"/>
            <a:ext cx="8048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E92 research model, guarded local demo and traceable records.</a:t>
            </a:r>
          </a:p>
          <a:p xmlns:a="http://schemas.openxmlformats.org/drawingml/2006/main">
            <a:pPr algn="l">
              <a:defRPr sz="2175" b="0">
                <a:solidFill>
                  <a:srgbClr val="000000"/>
                </a:solidFill>
                <a:latin typeface="Times New Roman"/>
                <a:ea typeface="Times New Roman"/>
                <a:cs typeface="Times New Roman"/>
              </a:defRPr>
            </a:pPr>
            <a:r>
              <a:rPr sz="2175" b="0">
                <a:solidFill>
                  <a:srgbClr val="000000"/>
                </a:solidFill>
                <a:latin typeface="Times New Roman"/>
                <a:ea typeface="Times New Roman"/>
                <a:cs typeface="Times New Roman"/>
              </a:rPr>
              <a:t>Experimental Model2 evaluator.</a:t>
            </a:r>
          </a:p>
        </p:txBody>
      </p:sp>
      <p:sp>
        <p:nvSpPr>
          <p:cNvPr id="11" name="">
            <a:extLst xmlns:a="http://schemas.openxmlformats.org/drawingml/2006/main">
              <a:ext uri="{FF2B5EF4-FFF2-40B4-BE49-F238E27FC236}">
                <a16:creationId xmlns:a16="http://schemas.microsoft.com/office/drawing/2014/main" id="{19D0F27B-F84D-411C-89DA-C392EAF4D1FC}"/>
              </a:ext>
            </a:extLst>
          </p:cNvPr>
          <p:cNvSpPr>
            <a:spLocks xmlns:a="http://schemas.openxmlformats.org/drawingml/2006/main" noGrp="1"/>
          </p:cNvSpPr>
          <p:nvPr/>
        </p:nvSpPr>
        <p:spPr>
          <a:xfrm xmlns:a="http://schemas.openxmlformats.org/drawingml/2006/main">
            <a:off x="685800" y="5095875"/>
            <a:ext cx="24765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Development</a:t>
            </a:r>
          </a:p>
          <a:p xmlns:a="http://schemas.openxmlformats.org/drawingml/2006/main">
            <a:pPr algn="l">
              <a:defRPr sz="2250" b="1">
                <a:solidFill>
                  <a:srgbClr val="000000"/>
                </a:solidFill>
                <a:latin typeface="Times New Roman"/>
                <a:ea typeface="Times New Roman"/>
                <a:cs typeface="Times New Roman"/>
              </a:defRPr>
            </a:pPr>
            <a:r>
              <a:rPr sz="2250" b="1">
                <a:solidFill>
                  <a:srgbClr val="000000"/>
                </a:solidFill>
                <a:latin typeface="Times New Roman"/>
                <a:ea typeface="Times New Roman"/>
                <a:cs typeface="Times New Roman"/>
              </a:rPr>
              <a:t>result</a:t>
            </a:r>
          </a:p>
        </p:txBody>
      </p:sp>
      <p:sp>
        <p:nvSpPr>
          <p:cNvPr id="12" name="">
            <a:extLst xmlns:a="http://schemas.openxmlformats.org/drawingml/2006/main">
              <a:ext uri="{FF2B5EF4-FFF2-40B4-BE49-F238E27FC236}">
                <a16:creationId xmlns:a16="http://schemas.microsoft.com/office/drawing/2014/main" id="{788E38D5-B17D-4EF6-A4D4-187818D0F6E8}"/>
              </a:ext>
            </a:extLst>
          </p:cNvPr>
          <p:cNvSpPr>
            <a:spLocks xmlns:a="http://schemas.openxmlformats.org/drawingml/2006/main" noGrp="1"/>
          </p:cNvSpPr>
          <p:nvPr/>
        </p:nvSpPr>
        <p:spPr>
          <a:xfrm xmlns:a="http://schemas.openxmlformats.org/drawingml/2006/main">
            <a:off x="3429000" y="5095875"/>
            <a:ext cx="8048625"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Reused data: 159/160 AI detected in each condition.</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Real false alerts: 0/160 original; 14/160 processed.</a:t>
            </a:r>
          </a:p>
          <a:p xmlns:a="http://schemas.openxmlformats.org/drawingml/2006/main">
            <a:pPr algn="l">
              <a:defRPr sz="1875" b="0">
                <a:solidFill>
                  <a:srgbClr val="000000"/>
                </a:solidFill>
                <a:latin typeface="Times New Roman"/>
                <a:ea typeface="Times New Roman"/>
                <a:cs typeface="Times New Roman"/>
              </a:defRPr>
            </a:pPr>
            <a:r>
              <a:rPr sz="1875" b="0">
                <a:solidFill>
                  <a:srgbClr val="000000"/>
                </a:solidFill>
                <a:latin typeface="Times New Roman"/>
                <a:ea typeface="Times New Roman"/>
                <a:cs typeface="Times New Roman"/>
              </a:rPr>
              <a:t>20/20 checks; one new AI miss blocked full acceptance.</a:t>
            </a:r>
          </a:p>
        </p:txBody>
      </p:sp>
      <p:sp>
        <p:nvSpPr>
          <p:cNvPr id="13" name="">
            <a:extLst xmlns:a="http://schemas.openxmlformats.org/drawingml/2006/main">
              <a:ext uri="{FF2B5EF4-FFF2-40B4-BE49-F238E27FC236}">
                <a16:creationId xmlns:a16="http://schemas.microsoft.com/office/drawing/2014/main" id="{BCEBA3BE-8278-4DD9-8460-2B7E8C1265CE}"/>
              </a:ext>
            </a:extLst>
          </p:cNvPr>
          <p:cNvSpPr>
            <a:spLocks xmlns:a="http://schemas.openxmlformats.org/drawingml/2006/main" noGrp="1"/>
          </p:cNvSpPr>
          <p:nvPr/>
        </p:nvSpPr>
        <p:spPr>
          <a:xfrm xmlns:a="http://schemas.openxmlformats.org/drawingml/2006/main">
            <a:off x="685800" y="5981700"/>
            <a:ext cx="10820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l">
              <a:defRPr sz="1500" b="0">
                <a:solidFill>
                  <a:srgbClr val="000000"/>
                </a:solidFill>
                <a:latin typeface="Times New Roman"/>
                <a:ea typeface="Times New Roman"/>
                <a:cs typeface="Times New Roman"/>
              </a:defRPr>
            </a:pPr>
            <a:r>
              <a:rPr sz="1500" b="0">
                <a:solidFill>
                  <a:srgbClr val="000000"/>
                </a:solidFill>
                <a:latin typeface="Times New Roman"/>
                <a:ea typeface="Times New Roman"/>
                <a:cs typeface="Times New Roman"/>
              </a:rPr>
              <a:t>Supervisor: Önder Çelebi, Director · Submission date: [TO COMPLETE]</a:t>
            </a:r>
          </a:p>
        </p:txBody>
      </p:sp>
    </p:spTree>
    <p:extLst>
      <p:ext uri="{BB962C8B-B14F-4D97-AF65-F5344CB8AC3E}">
        <p14:creationId xmlns:p14="http://schemas.microsoft.com/office/powerpoint/2010/main" val="22680617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2026-09-26T16:15:23.8470000Z</dcterms:created>
  <dcterms:modified xsi:type="dcterms:W3CDTF">2026-09-26T16:15:23.8470000Z</dcterms:modified>
</coreProperties>
</file>