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d46eb55b3304605" /><Relationship Type="http://schemas.openxmlformats.org/officeDocument/2006/relationships/extended-properties" Target="/docProps/app.xml" Id="R1bbc6c56d75f4950" /><Relationship Type="http://schemas.openxmlformats.org/officeDocument/2006/relationships/officeDocument" Target="/ppt/presentation.xml" Id="Rc285faa9c7f34b2b" /></Relationships>
</file>

<file path=ppt/presentation.xml><?xml version="1.0" encoding="utf-8"?>
<p:presentation xmlns:p="http://schemas.openxmlformats.org/presentationml/2006/main">
  <p:sldMasterIdLst>
    <p:sldMasterId xmlns:r="http://schemas.openxmlformats.org/officeDocument/2006/relationships" id="2147483648" r:id="Ra45f460cb2e9424a"/>
  </p:sldMasterIdLst>
  <p:notesMasterIdLst>
    <p:notesMasterId xmlns:r="http://schemas.openxmlformats.org/officeDocument/2006/relationships" r:id="Rf4cadce86bcf4f8f"/>
  </p:notesMasterIdLst>
  <p:sldIdLst>
    <p:sldId xmlns:r="http://schemas.openxmlformats.org/officeDocument/2006/relationships" id="256" r:id="Rabe4ed7808d8475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b44d9d751574189" /><Relationship Type="http://schemas.openxmlformats.org/officeDocument/2006/relationships/slideMaster" Target="/ppt/slideMasters/slideMaster1.xml" Id="Ra45f460cb2e9424a" /><Relationship Type="http://schemas.openxmlformats.org/officeDocument/2006/relationships/notesMaster" Target="/ppt/notesMasters/notesMaster1.xml" Id="Rf4cadce86bcf4f8f" /><Relationship Type="http://schemas.openxmlformats.org/officeDocument/2006/relationships/presProps" Target="/ppt/presProps.xml" Id="R056fc6b0f26a4891" /><Relationship Type="http://schemas.openxmlformats.org/officeDocument/2006/relationships/tableStyles" Target="/ppt/tableStyles.xml" Id="R42bca8a1d3a94763" /><Relationship Type="http://schemas.openxmlformats.org/officeDocument/2006/relationships/slide" Target="/ppt/slides/slide1.xml" Id="Rabe4ed7808d8475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bda134ea3a642f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4a185fe780d44b8" /><Relationship Type="http://schemas.openxmlformats.org/officeDocument/2006/relationships/notesMaster" Target="/ppt/notesMasters/notesMaster1.xml" Id="Rc86231761b3f40e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Standalone internship digest. Original and social-style views use the same 320 development parents: 160 real and 160 AI. Social-style means long-side cap 1080 followed by JPEG75. E92 newly missed one original AI image caught by E43, so full acceptance failed despite the numeric milestone. Model2 remains experimental. The actual internship office/address is intentionally deferred by the student. Supervisor: Önder Çelebi. Full sources and limitations are in the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59c70d4049543e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0ca938e3c3d44bf" /><Relationship Type="http://schemas.openxmlformats.org/officeDocument/2006/relationships/slideLayout" Target="/ppt/slideLayouts/slideLayout1.xml" Id="R86b2a5c3ede4466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6b2a5c3ede4466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98de6347e4d48b5" /><Relationship Type="http://schemas.openxmlformats.org/officeDocument/2006/relationships/notesSlide" Target="/ppt/notesSlides/notesSlide1.xml" Id="Re78501ed0e1845ef"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9A8DAAC-8270-4E95-826D-4A733D166E12}"/>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1. PixelProof: AI Image Detection</a:t>
            </a:r>
          </a:p>
        </p:txBody>
      </p:sp>
      <p:sp>
        <p:nvSpPr>
          <p:cNvPr id="2" name="">
            <a:extLst xmlns:a="http://schemas.openxmlformats.org/drawingml/2006/main">
              <a:ext uri="{FF2B5EF4-FFF2-40B4-BE49-F238E27FC236}">
                <a16:creationId xmlns:a16="http://schemas.microsoft.com/office/drawing/2014/main" id="{E2F059C6-AD6D-4709-8219-A9C21DABB47F}"/>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CS395 digest · source snapshot 497d45c · research prototype</a:t>
            </a:r>
          </a:p>
        </p:txBody>
      </p:sp>
      <p:sp>
        <p:nvSpPr>
          <p:cNvPr id="3" name="">
            <a:extLst xmlns:a="http://schemas.openxmlformats.org/drawingml/2006/main">
              <a:ext uri="{FF2B5EF4-FFF2-40B4-BE49-F238E27FC236}">
                <a16:creationId xmlns:a16="http://schemas.microsoft.com/office/drawing/2014/main" id="{58261A81-EA3D-4B39-9DB3-D32AAE2B3FB7}"/>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1</a:t>
            </a:r>
          </a:p>
        </p:txBody>
      </p:sp>
      <p:sp>
        <p:nvSpPr>
          <p:cNvPr id="4" name="">
            <a:extLst xmlns:a="http://schemas.openxmlformats.org/drawingml/2006/main">
              <a:ext uri="{FF2B5EF4-FFF2-40B4-BE49-F238E27FC236}">
                <a16:creationId xmlns:a16="http://schemas.microsoft.com/office/drawing/2014/main" id="{1363D21A-734B-4B10-AD57-0FA0B7B0093A}"/>
              </a:ext>
            </a:extLst>
          </p:cNvPr>
          <p:cNvSpPr>
            <a:spLocks xmlns:a="http://schemas.openxmlformats.org/drawingml/2006/main" noGrp="1"/>
          </p:cNvSpPr>
          <p:nvPr/>
        </p:nvSpPr>
        <p:spPr>
          <a:xfrm xmlns:a="http://schemas.openxmlformats.org/drawingml/2006/main">
            <a:off x="685800" y="140017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000000"/>
                </a:solidFill>
                <a:latin typeface="Times New Roman"/>
                <a:ea typeface="Times New Roman"/>
                <a:cs typeface="Times New Roman"/>
              </a:defRPr>
            </a:pPr>
            <a:r>
              <a:rPr sz="2175" b="1">
                <a:solidFill>
                  <a:srgbClr val="000000"/>
                </a:solidFill>
                <a:latin typeface="Times New Roman"/>
                <a:ea typeface="Times New Roman"/>
                <a:cs typeface="Times New Roman"/>
              </a:rPr>
              <a:t>Türk Telekom · Efe Han Keleş · Computer Science and Engineering</a:t>
            </a:r>
          </a:p>
        </p:txBody>
      </p:sp>
      <p:sp>
        <p:nvSpPr>
          <p:cNvPr id="5" name="">
            <a:extLst xmlns:a="http://schemas.openxmlformats.org/drawingml/2006/main">
              <a:ext uri="{FF2B5EF4-FFF2-40B4-BE49-F238E27FC236}">
                <a16:creationId xmlns:a16="http://schemas.microsoft.com/office/drawing/2014/main" id="{154D73CA-42DB-4AAD-BB45-0E7732FA5950}"/>
              </a:ext>
            </a:extLst>
          </p:cNvPr>
          <p:cNvSpPr>
            <a:spLocks xmlns:a="http://schemas.openxmlformats.org/drawingml/2006/main" noGrp="1"/>
          </p:cNvSpPr>
          <p:nvPr/>
        </p:nvSpPr>
        <p:spPr>
          <a:xfrm xmlns:a="http://schemas.openxmlformats.org/drawingml/2006/main">
            <a:off x="685800" y="2009775"/>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025" b="0">
                <a:solidFill>
                  <a:srgbClr val="000000"/>
                </a:solidFill>
                <a:latin typeface="Times New Roman"/>
                <a:ea typeface="Times New Roman"/>
                <a:cs typeface="Times New Roman"/>
              </a:defRPr>
            </a:pPr>
            <a:r>
              <a:rPr sz="2025" b="0">
                <a:solidFill>
                  <a:srgbClr val="000000"/>
                </a:solidFill>
                <a:latin typeface="Times New Roman"/>
                <a:ea typeface="Times New Roman"/>
                <a:cs typeface="Times New Roman"/>
              </a:rPr>
              <a:t>20 July–18 September 2026 · 40 approved internship days</a:t>
            </a:r>
          </a:p>
          <a:p xmlns:a="http://schemas.openxmlformats.org/drawingml/2006/main">
            <a:pPr algn="l">
              <a:defRPr sz="2025" b="0">
                <a:solidFill>
                  <a:srgbClr val="000000"/>
                </a:solidFill>
                <a:latin typeface="Times New Roman"/>
                <a:ea typeface="Times New Roman"/>
                <a:cs typeface="Times New Roman"/>
              </a:defRPr>
            </a:pPr>
            <a:r>
              <a:rPr sz="2025" b="0">
                <a:solidFill>
                  <a:srgbClr val="000000"/>
                </a:solidFill>
                <a:latin typeface="Times New Roman"/>
                <a:ea typeface="Times New Roman"/>
                <a:cs typeface="Times New Roman"/>
              </a:rPr>
              <a:t>Internship office/address: [TO COMPLETE]</a:t>
            </a:r>
          </a:p>
        </p:txBody>
      </p:sp>
      <p:sp>
        <p:nvSpPr>
          <p:cNvPr id="6" name="">
            <a:extLst xmlns:a="http://schemas.openxmlformats.org/drawingml/2006/main">
              <a:ext uri="{FF2B5EF4-FFF2-40B4-BE49-F238E27FC236}">
                <a16:creationId xmlns:a16="http://schemas.microsoft.com/office/drawing/2014/main" id="{A1D1E9B0-AEE7-48A0-AA33-2D0029C75750}"/>
              </a:ext>
            </a:extLst>
          </p:cNvPr>
          <p:cNvSpPr>
            <a:spLocks xmlns:a="http://schemas.openxmlformats.org/drawingml/2006/main" noGrp="1"/>
          </p:cNvSpPr>
          <p:nvPr/>
        </p:nvSpPr>
        <p:spPr>
          <a:xfrm xmlns:a="http://schemas.openxmlformats.org/drawingml/2006/main">
            <a:off x="685800" y="3124200"/>
            <a:ext cx="2476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1">
                <a:solidFill>
                  <a:srgbClr val="000000"/>
                </a:solidFill>
                <a:latin typeface="Times New Roman"/>
                <a:ea typeface="Times New Roman"/>
                <a:cs typeface="Times New Roman"/>
              </a:defRPr>
            </a:pPr>
            <a:r>
              <a:rPr sz="2250" b="1">
                <a:solidFill>
                  <a:srgbClr val="000000"/>
                </a:solidFill>
                <a:latin typeface="Times New Roman"/>
                <a:ea typeface="Times New Roman"/>
                <a:cs typeface="Times New Roman"/>
              </a:rPr>
              <a:t>Objective</a:t>
            </a:r>
          </a:p>
        </p:txBody>
      </p:sp>
      <p:sp>
        <p:nvSpPr>
          <p:cNvPr id="7" name="">
            <a:extLst xmlns:a="http://schemas.openxmlformats.org/drawingml/2006/main">
              <a:ext uri="{FF2B5EF4-FFF2-40B4-BE49-F238E27FC236}">
                <a16:creationId xmlns:a16="http://schemas.microsoft.com/office/drawing/2014/main" id="{CE871CA0-FD57-4CD8-8277-BC7586692235}"/>
              </a:ext>
            </a:extLst>
          </p:cNvPr>
          <p:cNvSpPr>
            <a:spLocks xmlns:a="http://schemas.openxmlformats.org/drawingml/2006/main" noGrp="1"/>
          </p:cNvSpPr>
          <p:nvPr/>
        </p:nvSpPr>
        <p:spPr>
          <a:xfrm xmlns:a="http://schemas.openxmlformats.org/drawingml/2006/main">
            <a:off x="3429000" y="3124200"/>
            <a:ext cx="8048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0">
                <a:solidFill>
                  <a:srgbClr val="000000"/>
                </a:solidFill>
                <a:latin typeface="Times New Roman"/>
                <a:ea typeface="Times New Roman"/>
                <a:cs typeface="Times New Roman"/>
              </a:defRPr>
            </a:pPr>
            <a:r>
              <a:rPr sz="2175" b="0">
                <a:solidFill>
                  <a:srgbClr val="000000"/>
                </a:solidFill>
                <a:latin typeface="Times New Roman"/>
                <a:ea typeface="Times New Roman"/>
                <a:cs typeface="Times New Roman"/>
              </a:rPr>
              <a:t>Detect AI-image evidence while reducing false alerts;</a:t>
            </a:r>
          </a:p>
          <a:p xmlns:a="http://schemas.openxmlformats.org/drawingml/2006/main">
            <a:pPr algn="l">
              <a:defRPr sz="2175" b="0">
                <a:solidFill>
                  <a:srgbClr val="000000"/>
                </a:solidFill>
                <a:latin typeface="Times New Roman"/>
                <a:ea typeface="Times New Roman"/>
                <a:cs typeface="Times New Roman"/>
              </a:defRPr>
            </a:pPr>
            <a:r>
              <a:rPr sz="2175" b="0">
                <a:solidFill>
                  <a:srgbClr val="000000"/>
                </a:solidFill>
                <a:latin typeface="Times New Roman"/>
                <a:ea typeface="Times New Roman"/>
                <a:cs typeface="Times New Roman"/>
              </a:rPr>
              <a:t>explore localization of AI edits.</a:t>
            </a:r>
          </a:p>
        </p:txBody>
      </p:sp>
      <p:sp>
        <p:nvSpPr>
          <p:cNvPr id="8" name="">
            <a:extLst xmlns:a="http://schemas.openxmlformats.org/drawingml/2006/main">
              <a:ext uri="{FF2B5EF4-FFF2-40B4-BE49-F238E27FC236}">
                <a16:creationId xmlns:a16="http://schemas.microsoft.com/office/drawing/2014/main" id="{7E9B3586-806D-4BD5-B589-F56103CC04C2}"/>
              </a:ext>
            </a:extLst>
          </p:cNvPr>
          <p:cNvSpPr>
            <a:spLocks xmlns:a="http://schemas.openxmlformats.org/drawingml/2006/main" noGrp="1"/>
          </p:cNvSpPr>
          <p:nvPr/>
        </p:nvSpPr>
        <p:spPr>
          <a:xfrm xmlns:a="http://schemas.openxmlformats.org/drawingml/2006/main">
            <a:off x="685800" y="4238625"/>
            <a:ext cx="2476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1">
                <a:solidFill>
                  <a:srgbClr val="000000"/>
                </a:solidFill>
                <a:latin typeface="Times New Roman"/>
                <a:ea typeface="Times New Roman"/>
                <a:cs typeface="Times New Roman"/>
              </a:defRPr>
            </a:pPr>
            <a:r>
              <a:rPr sz="2250" b="1">
                <a:solidFill>
                  <a:srgbClr val="000000"/>
                </a:solidFill>
                <a:latin typeface="Times New Roman"/>
                <a:ea typeface="Times New Roman"/>
                <a:cs typeface="Times New Roman"/>
              </a:rPr>
              <a:t>Deliverables</a:t>
            </a:r>
          </a:p>
        </p:txBody>
      </p:sp>
      <p:sp>
        <p:nvSpPr>
          <p:cNvPr id="9" name="">
            <a:extLst xmlns:a="http://schemas.openxmlformats.org/drawingml/2006/main">
              <a:ext uri="{FF2B5EF4-FFF2-40B4-BE49-F238E27FC236}">
                <a16:creationId xmlns:a16="http://schemas.microsoft.com/office/drawing/2014/main" id="{3B28677D-DB64-43F8-B114-48067B0798C8}"/>
              </a:ext>
            </a:extLst>
          </p:cNvPr>
          <p:cNvSpPr>
            <a:spLocks xmlns:a="http://schemas.openxmlformats.org/drawingml/2006/main" noGrp="1"/>
          </p:cNvSpPr>
          <p:nvPr/>
        </p:nvSpPr>
        <p:spPr>
          <a:xfrm xmlns:a="http://schemas.openxmlformats.org/drawingml/2006/main">
            <a:off x="3429000" y="4238625"/>
            <a:ext cx="8048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0">
                <a:solidFill>
                  <a:srgbClr val="000000"/>
                </a:solidFill>
                <a:latin typeface="Times New Roman"/>
                <a:ea typeface="Times New Roman"/>
                <a:cs typeface="Times New Roman"/>
              </a:defRPr>
            </a:pPr>
            <a:r>
              <a:rPr sz="2175" b="0">
                <a:solidFill>
                  <a:srgbClr val="000000"/>
                </a:solidFill>
                <a:latin typeface="Times New Roman"/>
                <a:ea typeface="Times New Roman"/>
                <a:cs typeface="Times New Roman"/>
              </a:rPr>
              <a:t>E92 research model, guarded local demo and traceable records.</a:t>
            </a:r>
          </a:p>
          <a:p xmlns:a="http://schemas.openxmlformats.org/drawingml/2006/main">
            <a:pPr algn="l">
              <a:defRPr sz="2175" b="0">
                <a:solidFill>
                  <a:srgbClr val="000000"/>
                </a:solidFill>
                <a:latin typeface="Times New Roman"/>
                <a:ea typeface="Times New Roman"/>
                <a:cs typeface="Times New Roman"/>
              </a:defRPr>
            </a:pPr>
            <a:r>
              <a:rPr sz="2175" b="0">
                <a:solidFill>
                  <a:srgbClr val="000000"/>
                </a:solidFill>
                <a:latin typeface="Times New Roman"/>
                <a:ea typeface="Times New Roman"/>
                <a:cs typeface="Times New Roman"/>
              </a:rPr>
              <a:t>Experimental Model2 evaluator.</a:t>
            </a:r>
          </a:p>
        </p:txBody>
      </p:sp>
      <p:sp>
        <p:nvSpPr>
          <p:cNvPr id="10" name="">
            <a:extLst xmlns:a="http://schemas.openxmlformats.org/drawingml/2006/main">
              <a:ext uri="{FF2B5EF4-FFF2-40B4-BE49-F238E27FC236}">
                <a16:creationId xmlns:a16="http://schemas.microsoft.com/office/drawing/2014/main" id="{0760C359-19C6-467A-BC6E-ABE1E8FE2084}"/>
              </a:ext>
            </a:extLst>
          </p:cNvPr>
          <p:cNvSpPr>
            <a:spLocks xmlns:a="http://schemas.openxmlformats.org/drawingml/2006/main" noGrp="1"/>
          </p:cNvSpPr>
          <p:nvPr/>
        </p:nvSpPr>
        <p:spPr>
          <a:xfrm xmlns:a="http://schemas.openxmlformats.org/drawingml/2006/main">
            <a:off x="685800" y="5267325"/>
            <a:ext cx="2476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1">
                <a:solidFill>
                  <a:srgbClr val="000000"/>
                </a:solidFill>
                <a:latin typeface="Times New Roman"/>
                <a:ea typeface="Times New Roman"/>
                <a:cs typeface="Times New Roman"/>
              </a:defRPr>
            </a:pPr>
            <a:r>
              <a:rPr sz="2250" b="1">
                <a:solidFill>
                  <a:srgbClr val="000000"/>
                </a:solidFill>
                <a:latin typeface="Times New Roman"/>
                <a:ea typeface="Times New Roman"/>
                <a:cs typeface="Times New Roman"/>
              </a:rPr>
              <a:t>Measured result</a:t>
            </a:r>
          </a:p>
        </p:txBody>
      </p:sp>
      <p:sp>
        <p:nvSpPr>
          <p:cNvPr id="11" name="">
            <a:extLst xmlns:a="http://schemas.openxmlformats.org/drawingml/2006/main">
              <a:ext uri="{FF2B5EF4-FFF2-40B4-BE49-F238E27FC236}">
                <a16:creationId xmlns:a16="http://schemas.microsoft.com/office/drawing/2014/main" id="{F012DFDB-5D16-40E0-AD79-2E973FF44C83}"/>
              </a:ext>
            </a:extLst>
          </p:cNvPr>
          <p:cNvSpPr>
            <a:spLocks xmlns:a="http://schemas.openxmlformats.org/drawingml/2006/main" noGrp="1"/>
          </p:cNvSpPr>
          <p:nvPr/>
        </p:nvSpPr>
        <p:spPr>
          <a:xfrm xmlns:a="http://schemas.openxmlformats.org/drawingml/2006/main">
            <a:off x="3429000" y="5267325"/>
            <a:ext cx="8048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0">
                <a:solidFill>
                  <a:srgbClr val="000000"/>
                </a:solidFill>
                <a:latin typeface="Times New Roman"/>
                <a:ea typeface="Times New Roman"/>
                <a:cs typeface="Times New Roman"/>
              </a:defRPr>
            </a:pPr>
            <a:r>
              <a:rPr sz="1875" b="0">
                <a:solidFill>
                  <a:srgbClr val="000000"/>
                </a:solidFill>
                <a:latin typeface="Times New Roman"/>
                <a:ea typeface="Times New Roman"/>
                <a:cs typeface="Times New Roman"/>
              </a:rPr>
              <a:t>159/160 AI detected in each development view; real false alerts 0/160</a:t>
            </a:r>
          </a:p>
          <a:p xmlns:a="http://schemas.openxmlformats.org/drawingml/2006/main">
            <a:pPr algn="l">
              <a:defRPr sz="1875" b="0">
                <a:solidFill>
                  <a:srgbClr val="000000"/>
                </a:solidFill>
                <a:latin typeface="Times New Roman"/>
                <a:ea typeface="Times New Roman"/>
                <a:cs typeface="Times New Roman"/>
              </a:defRPr>
            </a:pPr>
            <a:r>
              <a:rPr sz="1875" b="0">
                <a:solidFill>
                  <a:srgbClr val="000000"/>
                </a:solidFill>
                <a:latin typeface="Times New Roman"/>
                <a:ea typeface="Times New Roman"/>
                <a:cs typeface="Times New Roman"/>
              </a:rPr>
              <a:t>and 14/160. Numeric checks 20/20; full acceptance failed. Not universal.</a:t>
            </a:r>
          </a:p>
        </p:txBody>
      </p:sp>
    </p:spTree>
    <p:extLst>
      <p:ext uri="{BB962C8B-B14F-4D97-AF65-F5344CB8AC3E}">
        <p14:creationId xmlns:p14="http://schemas.microsoft.com/office/powerpoint/2010/main" val="144747344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2026-09-24T22:53:25.9340000Z</dcterms:created>
  <dcterms:modified xsi:type="dcterms:W3CDTF">2026-09-24T22:53:25.9340000Z</dcterms:modified>
</coreProperties>
</file>