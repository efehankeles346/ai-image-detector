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381c5474ef49e9" /><Relationship Type="http://schemas.openxmlformats.org/officeDocument/2006/relationships/extended-properties" Target="/docProps/app.xml" Id="Rc4194eac52b444fa" /><Relationship Type="http://schemas.openxmlformats.org/officeDocument/2006/relationships/officeDocument" Target="/ppt/presentation.xml" Id="R0466acfba8c5418a" /></Relationships>
</file>

<file path=ppt/presentation.xml><?xml version="1.0" encoding="utf-8"?>
<p:presentation xmlns:p="http://schemas.openxmlformats.org/presentationml/2006/main">
  <p:sldMasterIdLst>
    <p:sldMasterId xmlns:r="http://schemas.openxmlformats.org/officeDocument/2006/relationships" id="2147483648" r:id="R21a639a9a87d4142"/>
  </p:sldMasterIdLst>
  <p:notesMasterIdLst>
    <p:notesMasterId xmlns:r="http://schemas.openxmlformats.org/officeDocument/2006/relationships" r:id="Rf87b118b807443af"/>
  </p:notesMasterIdLst>
  <p:sldIdLst>
    <p:sldId xmlns:r="http://schemas.openxmlformats.org/officeDocument/2006/relationships" id="256" r:id="R19872ef58fb04d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fe80ccb6624083" /><Relationship Type="http://schemas.openxmlformats.org/officeDocument/2006/relationships/slideMaster" Target="/ppt/slideMasters/slideMaster1.xml" Id="R21a639a9a87d4142" /><Relationship Type="http://schemas.openxmlformats.org/officeDocument/2006/relationships/notesMaster" Target="/ppt/notesMasters/notesMaster1.xml" Id="Rf87b118b807443af" /><Relationship Type="http://schemas.openxmlformats.org/officeDocument/2006/relationships/presProps" Target="/ppt/presProps.xml" Id="R310815d1b6104133" /><Relationship Type="http://schemas.openxmlformats.org/officeDocument/2006/relationships/tableStyles" Target="/ppt/tableStyles.xml" Id="R81ce39f93d874651" /><Relationship Type="http://schemas.openxmlformats.org/officeDocument/2006/relationships/slide" Target="/ppt/slides/slide1.xml" Id="R19872ef58fb04d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c4062c0b0d4b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5facf653154f92" /><Relationship Type="http://schemas.openxmlformats.org/officeDocument/2006/relationships/notesMaster" Target="/ppt/notesMasters/notesMaster1.xml" Id="Rb6a02f24855044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Standalone internship digest. Original and social-style views use the same 320 development parents: 160 real and 160 AI. Social-style means long-side cap 1080 followed by JPEG75. E92 newly missed one original AI image caught by E43, so full acceptance failed despite the numeric milestone. Model2 remains experimental. The student confirmed the internship office as Fatih Sultan Mehmet Mah., Balkan Cad. No:49, 34771 Ümraniye / İstanbul on 25 September 2026. Supervisor: Önder Çelebi, Director of the Planning and Development Directorate. Submission date: [TO COMPLETE]. Full sources and limitations are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19c398713445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94ca4b029a64c79" /><Relationship Type="http://schemas.openxmlformats.org/officeDocument/2006/relationships/slideLayout" Target="/ppt/slideLayouts/slideLayout1.xml" Id="Rd9e61be0d6be46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e61be0d6be46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0a756a53ae941c6" /><Relationship Type="http://schemas.openxmlformats.org/officeDocument/2006/relationships/notesSlide" Target="/ppt/notesSlides/notesSlide1.xml" Id="R0d8765ef8b67429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A7D2BD2-C763-471C-A77C-876B6AB31833}"/>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15C8F830-F9A9-4EB8-86EF-F74DE44BEA4E}"/>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CS395 digest · source snapshot 497d45c · research prototype</a:t>
            </a:r>
          </a:p>
        </p:txBody>
      </p:sp>
      <p:sp>
        <p:nvSpPr>
          <p:cNvPr id="3" name="">
            <a:extLst xmlns:a="http://schemas.openxmlformats.org/drawingml/2006/main">
              <a:ext uri="{FF2B5EF4-FFF2-40B4-BE49-F238E27FC236}">
                <a16:creationId xmlns:a16="http://schemas.microsoft.com/office/drawing/2014/main" id="{335DEF6B-2FD1-4533-AD32-52D2525E67CA}"/>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BD8B91EE-F464-494A-9928-29A2F4F8D8BE}"/>
              </a:ext>
            </a:extLst>
          </p:cNvPr>
          <p:cNvSpPr>
            <a:spLocks xmlns:a="http://schemas.openxmlformats.org/drawingml/2006/main" noGrp="1"/>
          </p:cNvSpPr>
          <p:nvPr/>
        </p:nvSpPr>
        <p:spPr>
          <a:xfrm xmlns:a="http://schemas.openxmlformats.org/drawingml/2006/main">
            <a:off x="685800" y="14001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Türk Telekom · Efe Han Keleş · Computer Science and Engineering</a:t>
            </a:r>
          </a:p>
        </p:txBody>
      </p:sp>
      <p:sp>
        <p:nvSpPr>
          <p:cNvPr id="5" name="">
            <a:extLst xmlns:a="http://schemas.openxmlformats.org/drawingml/2006/main">
              <a:ext uri="{FF2B5EF4-FFF2-40B4-BE49-F238E27FC236}">
                <a16:creationId xmlns:a16="http://schemas.microsoft.com/office/drawing/2014/main" id="{E16A51AB-EE96-4884-B673-C80BF8CC9AA1}"/>
              </a:ext>
            </a:extLst>
          </p:cNvPr>
          <p:cNvSpPr>
            <a:spLocks xmlns:a="http://schemas.openxmlformats.org/drawingml/2006/main" noGrp="1"/>
          </p:cNvSpPr>
          <p:nvPr/>
        </p:nvSpPr>
        <p:spPr>
          <a:xfrm xmlns:a="http://schemas.openxmlformats.org/drawingml/2006/main">
            <a:off x="685800" y="20097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20 July–18 September 2026 · 40 approved internship days</a:t>
            </a:r>
          </a:p>
        </p:txBody>
      </p:sp>
      <p:sp>
        <p:nvSpPr>
          <p:cNvPr id="6" name="">
            <a:extLst xmlns:a="http://schemas.openxmlformats.org/drawingml/2006/main">
              <a:ext uri="{FF2B5EF4-FFF2-40B4-BE49-F238E27FC236}">
                <a16:creationId xmlns:a16="http://schemas.microsoft.com/office/drawing/2014/main" id="{F9905DC5-7F31-45FE-8CCF-D7D93BECB558}"/>
              </a:ext>
            </a:extLst>
          </p:cNvPr>
          <p:cNvSpPr>
            <a:spLocks xmlns:a="http://schemas.openxmlformats.org/drawingml/2006/main" noGrp="1"/>
          </p:cNvSpPr>
          <p:nvPr/>
        </p:nvSpPr>
        <p:spPr>
          <a:xfrm xmlns:a="http://schemas.openxmlformats.org/drawingml/2006/main">
            <a:off x="685800" y="2428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Internship office: Fatih Sultan Mehmet Mah., Balkan Cad. No:49,</a:t>
            </a:r>
          </a:p>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34771 Ümraniye / İstanbul</a:t>
            </a:r>
          </a:p>
        </p:txBody>
      </p:sp>
      <p:sp>
        <p:nvSpPr>
          <p:cNvPr id="7" name="">
            <a:extLst xmlns:a="http://schemas.openxmlformats.org/drawingml/2006/main">
              <a:ext uri="{FF2B5EF4-FFF2-40B4-BE49-F238E27FC236}">
                <a16:creationId xmlns:a16="http://schemas.microsoft.com/office/drawing/2014/main" id="{39EDC497-9944-45B3-8261-F435207A4FBC}"/>
              </a:ext>
            </a:extLst>
          </p:cNvPr>
          <p:cNvSpPr>
            <a:spLocks xmlns:a="http://schemas.openxmlformats.org/drawingml/2006/main" noGrp="1"/>
          </p:cNvSpPr>
          <p:nvPr/>
        </p:nvSpPr>
        <p:spPr>
          <a:xfrm xmlns:a="http://schemas.openxmlformats.org/drawingml/2006/main">
            <a:off x="685800" y="312420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Objective</a:t>
            </a:r>
          </a:p>
        </p:txBody>
      </p:sp>
      <p:sp>
        <p:nvSpPr>
          <p:cNvPr id="8" name="">
            <a:extLst xmlns:a="http://schemas.openxmlformats.org/drawingml/2006/main">
              <a:ext uri="{FF2B5EF4-FFF2-40B4-BE49-F238E27FC236}">
                <a16:creationId xmlns:a16="http://schemas.microsoft.com/office/drawing/2014/main" id="{A3B5DDDA-A79C-4FC7-8D41-ACDA272E87A7}"/>
              </a:ext>
            </a:extLst>
          </p:cNvPr>
          <p:cNvSpPr>
            <a:spLocks xmlns:a="http://schemas.openxmlformats.org/drawingml/2006/main" noGrp="1"/>
          </p:cNvSpPr>
          <p:nvPr/>
        </p:nvSpPr>
        <p:spPr>
          <a:xfrm xmlns:a="http://schemas.openxmlformats.org/drawingml/2006/main">
            <a:off x="3429000" y="3124200"/>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Detect AI-image evidence while reducing false alerts;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explore localization of AI edits.</a:t>
            </a:r>
          </a:p>
        </p:txBody>
      </p:sp>
      <p:sp>
        <p:nvSpPr>
          <p:cNvPr id="9" name="">
            <a:extLst xmlns:a="http://schemas.openxmlformats.org/drawingml/2006/main">
              <a:ext uri="{FF2B5EF4-FFF2-40B4-BE49-F238E27FC236}">
                <a16:creationId xmlns:a16="http://schemas.microsoft.com/office/drawing/2014/main" id="{400E44E6-A0CE-4F1D-B815-ED2A820810C9}"/>
              </a:ext>
            </a:extLst>
          </p:cNvPr>
          <p:cNvSpPr>
            <a:spLocks xmlns:a="http://schemas.openxmlformats.org/drawingml/2006/main" noGrp="1"/>
          </p:cNvSpPr>
          <p:nvPr/>
        </p:nvSpPr>
        <p:spPr>
          <a:xfrm xmlns:a="http://schemas.openxmlformats.org/drawingml/2006/main">
            <a:off x="685800" y="4238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Deliverables</a:t>
            </a:r>
          </a:p>
        </p:txBody>
      </p:sp>
      <p:sp>
        <p:nvSpPr>
          <p:cNvPr id="10" name="">
            <a:extLst xmlns:a="http://schemas.openxmlformats.org/drawingml/2006/main">
              <a:ext uri="{FF2B5EF4-FFF2-40B4-BE49-F238E27FC236}">
                <a16:creationId xmlns:a16="http://schemas.microsoft.com/office/drawing/2014/main" id="{A55DBA3C-8E08-401B-A51F-C173BB9577DC}"/>
              </a:ext>
            </a:extLst>
          </p:cNvPr>
          <p:cNvSpPr>
            <a:spLocks xmlns:a="http://schemas.openxmlformats.org/drawingml/2006/main" noGrp="1"/>
          </p:cNvSpPr>
          <p:nvPr/>
        </p:nvSpPr>
        <p:spPr>
          <a:xfrm xmlns:a="http://schemas.openxmlformats.org/drawingml/2006/main">
            <a:off x="3429000" y="4238625"/>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E92 research model, guarded local demo and traceable records.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Experimental Model2 evaluator.</a:t>
            </a:r>
          </a:p>
        </p:txBody>
      </p:sp>
      <p:sp>
        <p:nvSpPr>
          <p:cNvPr id="11" name="">
            <a:extLst xmlns:a="http://schemas.openxmlformats.org/drawingml/2006/main">
              <a:ext uri="{FF2B5EF4-FFF2-40B4-BE49-F238E27FC236}">
                <a16:creationId xmlns:a16="http://schemas.microsoft.com/office/drawing/2014/main" id="{0A2684EF-822D-4B3C-A2D8-9B0357CA4CD2}"/>
              </a:ext>
            </a:extLst>
          </p:cNvPr>
          <p:cNvSpPr>
            <a:spLocks xmlns:a="http://schemas.openxmlformats.org/drawingml/2006/main" noGrp="1"/>
          </p:cNvSpPr>
          <p:nvPr/>
        </p:nvSpPr>
        <p:spPr>
          <a:xfrm xmlns:a="http://schemas.openxmlformats.org/drawingml/2006/main">
            <a:off x="685800" y="52673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Measured result</a:t>
            </a:r>
          </a:p>
        </p:txBody>
      </p:sp>
      <p:sp>
        <p:nvSpPr>
          <p:cNvPr id="12" name="">
            <a:extLst xmlns:a="http://schemas.openxmlformats.org/drawingml/2006/main">
              <a:ext uri="{FF2B5EF4-FFF2-40B4-BE49-F238E27FC236}">
                <a16:creationId xmlns:a16="http://schemas.microsoft.com/office/drawing/2014/main" id="{5379593B-3B9C-4D97-9112-B95E931F6344}"/>
              </a:ext>
            </a:extLst>
          </p:cNvPr>
          <p:cNvSpPr>
            <a:spLocks xmlns:a="http://schemas.openxmlformats.org/drawingml/2006/main" noGrp="1"/>
          </p:cNvSpPr>
          <p:nvPr/>
        </p:nvSpPr>
        <p:spPr>
          <a:xfrm xmlns:a="http://schemas.openxmlformats.org/drawingml/2006/main">
            <a:off x="3429000" y="5267325"/>
            <a:ext cx="804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159/160 AI detected in each development view; real false alerts 0/160</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and 14/160. Numeric checks 20/20; full acceptance failed. Not universal.</a:t>
            </a:r>
          </a:p>
        </p:txBody>
      </p:sp>
      <p:sp>
        <p:nvSpPr>
          <p:cNvPr id="13" name="">
            <a:extLst xmlns:a="http://schemas.openxmlformats.org/drawingml/2006/main">
              <a:ext uri="{FF2B5EF4-FFF2-40B4-BE49-F238E27FC236}">
                <a16:creationId xmlns:a16="http://schemas.microsoft.com/office/drawing/2014/main" id="{A0235FD0-DB72-4295-A20C-589F8998FF6C}"/>
              </a:ext>
            </a:extLst>
          </p:cNvPr>
          <p:cNvSpPr>
            <a:spLocks xmlns:a="http://schemas.openxmlformats.org/drawingml/2006/main" noGrp="1"/>
          </p:cNvSpPr>
          <p:nvPr/>
        </p:nvSpPr>
        <p:spPr>
          <a:xfrm xmlns:a="http://schemas.openxmlformats.org/drawingml/2006/main">
            <a:off x="685800" y="598170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000000"/>
                </a:solidFill>
                <a:latin typeface="Times New Roman"/>
                <a:ea typeface="Times New Roman"/>
                <a:cs typeface="Times New Roman"/>
              </a:defRPr>
            </a:pPr>
            <a:r>
              <a:rPr sz="1500" b="0">
                <a:solidFill>
                  <a:srgbClr val="000000"/>
                </a:solidFill>
                <a:latin typeface="Times New Roman"/>
                <a:ea typeface="Times New Roman"/>
                <a:cs typeface="Times New Roman"/>
              </a:rPr>
              <a:t>Supervisor: Önder Çelebi, Director · Submission date: [TO COMPLETE]</a:t>
            </a:r>
          </a:p>
        </p:txBody>
      </p:sp>
    </p:spTree>
    <p:extLst>
      <p:ext uri="{BB962C8B-B14F-4D97-AF65-F5344CB8AC3E}">
        <p14:creationId xmlns:p14="http://schemas.microsoft.com/office/powerpoint/2010/main" val="12603936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2026-09-26T14:54:11.3840000Z</dcterms:created>
  <dcterms:modified xsi:type="dcterms:W3CDTF">2026-09-26T14:54:11.3840000Z</dcterms:modified>
</coreProperties>
</file>