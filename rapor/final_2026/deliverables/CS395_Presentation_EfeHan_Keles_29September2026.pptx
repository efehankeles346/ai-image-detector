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03a4bc1c6b94600" /><Relationship Type="http://schemas.openxmlformats.org/officeDocument/2006/relationships/extended-properties" Target="/docProps/app.xml" Id="R44ca5aa3fa5b497f" /><Relationship Type="http://schemas.openxmlformats.org/officeDocument/2006/relationships/officeDocument" Target="/ppt/presentation.xml" Id="Rae2b438d7d7d4eda" /></Relationships>
</file>

<file path=ppt/presentation.xml><?xml version="1.0" encoding="utf-8"?>
<p:presentation xmlns:p="http://schemas.openxmlformats.org/presentationml/2006/main">
  <p:sldMasterIdLst>
    <p:sldMasterId xmlns:r="http://schemas.openxmlformats.org/officeDocument/2006/relationships" id="2147483648" r:id="R7a2f37c4097f482f"/>
  </p:sldMasterIdLst>
  <p:notesMasterIdLst>
    <p:notesMasterId xmlns:r="http://schemas.openxmlformats.org/officeDocument/2006/relationships" r:id="Rda752303644a4470"/>
  </p:notesMasterIdLst>
  <p:sldIdLst>
    <p:sldId xmlns:r="http://schemas.openxmlformats.org/officeDocument/2006/relationships" id="256" r:id="R96336b47d96c45b0"/>
    <p:sldId xmlns:r="http://schemas.openxmlformats.org/officeDocument/2006/relationships" id="257" r:id="R7de0d6b2fdbc48dd"/>
    <p:sldId xmlns:r="http://schemas.openxmlformats.org/officeDocument/2006/relationships" id="258" r:id="R624ccb093e9a49f6"/>
    <p:sldId xmlns:r="http://schemas.openxmlformats.org/officeDocument/2006/relationships" id="259" r:id="R1daac745951f4ebf"/>
    <p:sldId xmlns:r="http://schemas.openxmlformats.org/officeDocument/2006/relationships" id="260" r:id="Re44f5b3e7e2c474a"/>
    <p:sldId xmlns:r="http://schemas.openxmlformats.org/officeDocument/2006/relationships" id="261" r:id="R4af992e66385495a"/>
    <p:sldId xmlns:r="http://schemas.openxmlformats.org/officeDocument/2006/relationships" id="262" r:id="Rc43c903c60f24f7a"/>
    <p:sldId xmlns:r="http://schemas.openxmlformats.org/officeDocument/2006/relationships" id="263" r:id="Rfcb5affcd94e4441"/>
    <p:sldId xmlns:r="http://schemas.openxmlformats.org/officeDocument/2006/relationships" id="264" r:id="R6a51f5d66b754c94"/>
    <p:sldId xmlns:r="http://schemas.openxmlformats.org/officeDocument/2006/relationships" id="265" r:id="Rda47178a76a14348"/>
    <p:sldId xmlns:r="http://schemas.openxmlformats.org/officeDocument/2006/relationships" id="266" r:id="Rb0933235d226480b"/>
    <p:sldId xmlns:r="http://schemas.openxmlformats.org/officeDocument/2006/relationships" id="267" r:id="Rfe33e3ee624f4e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5ad0ca324b240b1" /><Relationship Type="http://schemas.openxmlformats.org/officeDocument/2006/relationships/slideMaster" Target="/ppt/slideMasters/slideMaster1.xml" Id="R7a2f37c4097f482f" /><Relationship Type="http://schemas.openxmlformats.org/officeDocument/2006/relationships/notesMaster" Target="/ppt/notesMasters/notesMaster1.xml" Id="Rda752303644a4470" /><Relationship Type="http://schemas.openxmlformats.org/officeDocument/2006/relationships/presProps" Target="/ppt/presProps.xml" Id="R56a542bf26dd43e3" /><Relationship Type="http://schemas.openxmlformats.org/officeDocument/2006/relationships/tableStyles" Target="/ppt/tableStyles.xml" Id="R4ae9bc9e7c6749fa" /><Relationship Type="http://schemas.openxmlformats.org/officeDocument/2006/relationships/slide" Target="/ppt/slides/slide1.xml" Id="R96336b47d96c45b0" /><Relationship Type="http://schemas.openxmlformats.org/officeDocument/2006/relationships/slide" Target="/ppt/slides/slide2.xml" Id="R7de0d6b2fdbc48dd" /><Relationship Type="http://schemas.openxmlformats.org/officeDocument/2006/relationships/slide" Target="/ppt/slides/slide3.xml" Id="R624ccb093e9a49f6" /><Relationship Type="http://schemas.openxmlformats.org/officeDocument/2006/relationships/slide" Target="/ppt/slides/slide4.xml" Id="R1daac745951f4ebf" /><Relationship Type="http://schemas.openxmlformats.org/officeDocument/2006/relationships/slide" Target="/ppt/slides/slide5.xml" Id="Re44f5b3e7e2c474a" /><Relationship Type="http://schemas.openxmlformats.org/officeDocument/2006/relationships/slide" Target="/ppt/slides/slide6.xml" Id="R4af992e66385495a" /><Relationship Type="http://schemas.openxmlformats.org/officeDocument/2006/relationships/slide" Target="/ppt/slides/slide7.xml" Id="Rc43c903c60f24f7a" /><Relationship Type="http://schemas.openxmlformats.org/officeDocument/2006/relationships/slide" Target="/ppt/slides/slide8.xml" Id="Rfcb5affcd94e4441" /><Relationship Type="http://schemas.openxmlformats.org/officeDocument/2006/relationships/slide" Target="/ppt/slides/slide9.xml" Id="R6a51f5d66b754c94" /><Relationship Type="http://schemas.openxmlformats.org/officeDocument/2006/relationships/slide" Target="/ppt/slides/slide10.xml" Id="Rda47178a76a14348" /><Relationship Type="http://schemas.openxmlformats.org/officeDocument/2006/relationships/slide" Target="/ppt/slides/slide11.xml" Id="Rb0933235d226480b" /><Relationship Type="http://schemas.openxmlformats.org/officeDocument/2006/relationships/slide" Target="/ppt/slides/slide12.xml" Id="Rfe33e3ee624f4e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c7c3054e36b48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015c9aebb0244de" /><Relationship Type="http://schemas.openxmlformats.org/officeDocument/2006/relationships/notesMaster" Target="/ppt/notesMasters/notesMaster1.xml" Id="Reeb6e990390d42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d16ba622d74513" /><Relationship Type="http://schemas.openxmlformats.org/officeDocument/2006/relationships/notesMaster" Target="/ppt/notesMasters/notesMaster1.xml" Id="R211628634a2347a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42a9b706ee1462c" /><Relationship Type="http://schemas.openxmlformats.org/officeDocument/2006/relationships/notesMaster" Target="/ppt/notesMasters/notesMaster1.xml" Id="R256202ed46d649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0a38c55b664dc3" /><Relationship Type="http://schemas.openxmlformats.org/officeDocument/2006/relationships/notesMaster" Target="/ppt/notesMasters/notesMaster1.xml" Id="R99924ab20c9e4a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106251adc12f43af" /><Relationship Type="http://schemas.openxmlformats.org/officeDocument/2006/relationships/notesMaster" Target="/ppt/notesMasters/notesMaster1.xml" Id="R57fb2cbcfbd147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937c25d1104d4f29" /><Relationship Type="http://schemas.openxmlformats.org/officeDocument/2006/relationships/notesMaster" Target="/ppt/notesMasters/notesMaster1.xml" Id="Ra9fc09300005483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9816dd8b0244847" /><Relationship Type="http://schemas.openxmlformats.org/officeDocument/2006/relationships/notesMaster" Target="/ppt/notesMasters/notesMaster1.xml" Id="R654917f55adc404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b231c9b16645fe" /><Relationship Type="http://schemas.openxmlformats.org/officeDocument/2006/relationships/notesMaster" Target="/ppt/notesMasters/notesMaster1.xml" Id="R29dab5c802284ba6" /></Relationships>
</file>

<file path=ppt/notesSlides/_rels/notesSlide9.xml.rels>&#65279;<?xml version="1.0" encoding="utf-8"?><Relationships xmlns="http://schemas.openxmlformats.org/package/2006/relationships"><Relationship Type="http://schemas.openxmlformats.org/officeDocument/2006/relationships/slide" Target="/ppt/slides/slide9.xml" Id="R88bd76b22fae43ce" /><Relationship Type="http://schemas.openxmlformats.org/officeDocument/2006/relationships/notesMaster" Target="/ppt/notesMasters/notesMaster1.xml" Id="Rc8cbf4163e2749a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f08632b71049fb" /><Relationship Type="http://schemas.openxmlformats.org/officeDocument/2006/relationships/notesMaster" Target="/ppt/notesMasters/notesMaster1.xml" Id="R30fecfa66a804b4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50cbb19e184fc3" /><Relationship Type="http://schemas.openxmlformats.org/officeDocument/2006/relationships/notesMaster" Target="/ppt/notesMasters/notesMaster1.xml" Id="R936d6390b82c4c1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52b1c2cf9a48b0" /><Relationship Type="http://schemas.openxmlformats.org/officeDocument/2006/relationships/notesMaster" Target="/ppt/notesMasters/notesMaster1.xml" Id="R77d6a39d86c449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35 seconds.</a:t>
            </a:r>
          </a:p>
          <a:p xmlns:a="http://schemas.openxmlformats.org/drawingml/2006/main">
            <a:r>
              <a:t/>
            </a:r>
          </a:p>
          <a:p xmlns:a="http://schemas.openxmlformats.org/drawingml/2006/main">
            <a:r>
              <a:t>My internship project was PixelProof, a research prototype for AI image detection. I worked individually at Türk Telekom and asked my supervisor and mentors for advice. The main goal was to reduce false AI warnings on real photographs while keeping useful AI detection. I built a local demonstration and recorded both improvements and failed experiments. I will explain the method, the main result and the limits of that result.</a:t>
            </a:r>
          </a:p>
          <a:p xmlns:a="http://schemas.openxmlformats.org/drawingml/2006/main">
            <a:r>
              <a:t/>
            </a:r>
          </a:p>
          <a:p xmlns:a="http://schemas.openxmlformats.org/drawingml/2006/main">
            <a:r>
              <a:t>Sources and optional detail (not spoken): Student-confirmed internship information. Report Sections 1, 3.1 and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50 seconds.</a:t>
            </a:r>
          </a:p>
          <a:p xmlns:a="http://schemas.openxmlformats.org/drawingml/2006/main">
            <a:r>
              <a:t/>
            </a:r>
          </a:p>
          <a:p xmlns:a="http://schemas.openxmlformats.org/drawingml/2006/main">
            <a:r>
              <a:t>The project has two important errors. A false positive means that a real photograph receives an AI warning. A false negative means that an AI image escapes detection. Lowering one error can increase the other, so I measured both. The harder question was whether the detector could work when the camera, generator or image processing changed. That is generalization. Model1 deals with the whole image. A smaller second module, Model2, explores where a local AI edit might be.</a:t>
            </a:r>
          </a:p>
          <a:p xmlns:a="http://schemas.openxmlformats.org/drawingml/2006/main">
            <a:r>
              <a:t/>
            </a:r>
          </a:p>
          <a:p xmlns:a="http://schemas.openxmlformats.org/drawingml/2006/main">
            <a:r>
              <a:t>Sources and optional detail (not spoken): Report Sections 3.3 and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65 seconds.</a:t>
            </a:r>
          </a:p>
          <a:p xmlns:a="http://schemas.openxmlformats.org/drawingml/2006/main">
            <a:r>
              <a:t/>
            </a:r>
          </a:p>
          <a:p xmlns:a="http://schemas.openxmlformats.org/drawingml/2006/main">
            <a:r>
              <a:t>At first, a pretrained ResNet model reached almost ninety-eight percent accuracy on familiar test images. But its accuracy fell to about twenty-five percent on a separate collection. These are historical results, and later auditing found problems in that external benchmark too. The lesson was still clear: one high score was not enough. I checked input resolution, found reversed labels in later datasets and repaired a procedure that used evaluation data to choose a threshold. These corrections changed some earlier conclusions. I kept the corrections in the records instead of reporting only the best numbers.</a:t>
            </a:r>
          </a:p>
          <a:p xmlns:a="http://schemas.openxmlformats.org/drawingml/2006/main">
            <a:r>
              <a:t/>
            </a:r>
          </a:p>
          <a:p xmlns:a="http://schemas.openxmlformats.org/drawingml/2006/main">
            <a:r>
              <a:t>Sources and optional detail (not spoken): Keleş (2026), E1–E6, E10, E19b–E19c and E27. No independent final-performance claim from Table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75 seconds.</a:t>
            </a:r>
          </a:p>
          <a:p xmlns:a="http://schemas.openxmlformats.org/drawingml/2006/main">
            <a:r>
              <a:t/>
            </a:r>
          </a:p>
          <a:p xmlns:a="http://schemas.openxmlformats.org/drawingml/2006/main">
            <a:r>
              <a:t>I used transfer learning, which means reusing knowledge from existing models. The pretrained components convert the image into numerical descriptions called features. Their weights remain fixed. The project trains smaller components to use those features and adjust the detection score. This is more practical than training a large visual model from the beginning. The current demo model is called E92. My work covered choosing experiments, organizing data, reviewing results and building the application. I used AI coding assistance for implementation and documentation. After each experiment, the plan and logs recorded what worked, what failed and the next decision.</a:t>
            </a:r>
          </a:p>
          <a:p xmlns:a="http://schemas.openxmlformats.org/drawingml/2006/main">
            <a:r>
              <a:t/>
            </a:r>
          </a:p>
          <a:p xmlns:a="http://schemas.openxmlformats.org/drawingml/2006/main">
            <a:r>
              <a:t>Sources and optional detail (not spoken): Radford et al. (2021), https://proceedings.mlr.press/v139/radford21a.html; Oquab et al. (2024), https://arxiv.org/abs/2304.07193; Kim et al. (2026), https://arxiv.org/abs/2606.10309v2; Keleş (2026), E51–E92. Published component benchmarks are not PixelProof guarantees.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60 seconds.</a:t>
            </a:r>
          </a:p>
          <a:p xmlns:a="http://schemas.openxmlformats.org/drawingml/2006/main">
            <a:r>
              <a:t/>
            </a:r>
          </a:p>
          <a:p xmlns:a="http://schemas.openxmlformats.org/drawingml/2006/main">
            <a:r>
              <a:t>E92 learned from twelve thousand two hundred sixty-nine training images. Each image had four processing versions, giving forty-nine thousand seventy-six training views. A compressed copy is still related to its original, so views are not independent photographs. The development collection was separate from training and contained one hundred sixty real images and one hundred sixty AI images. We used it repeatedly to compare candidates. That makes it useful for development, but limits its value as a final test. The downloaded archive size is also different from the number of images actually admitted to a particular experiment.</a:t>
            </a:r>
          </a:p>
          <a:p xmlns:a="http://schemas.openxmlformats.org/drawingml/2006/main">
            <a:r>
              <a:t/>
            </a:r>
          </a:p>
          <a:p xmlns:a="http://schemas.openxmlformats.org/drawingml/2006/main">
            <a:r>
              <a:t>Sources and optional detail (not spoken): Keleş (2026), E92 training and E66 development records. Report Section 4.5.3. The real development images cover ten SIDD scenes; the AI groups are two previously seen families.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80 seconds.</a:t>
            </a:r>
          </a:p>
          <a:p xmlns:a="http://schemas.openxmlformats.org/drawingml/2006/main">
            <a:r>
              <a:t/>
            </a:r>
          </a:p>
          <a:p xmlns:a="http://schemas.openxmlformats.org/drawingml/2006/main">
            <a:r>
              <a:t>Figure 1 shows the main improvement. For real original images, false warnings fell from sixty-eight to zero out of one hundred sixty. After resizing and JPEG compression, they fell from sixty-eight to fourteen. The current model detected one hundred fifty-nine of one hundred sixty AI images in each condition. This is a useful improvement on these images. It does not mean that every new photograph will work. The comparisons use the same development images, and the real photographs come from only ten scenes. Also, these are results for each view separately. The website combines two views into one displayed outcome, which I will explain shortly.</a:t>
            </a:r>
          </a:p>
          <a:p xmlns:a="http://schemas.openxmlformats.org/drawingml/2006/main">
            <a:r>
              <a:t/>
            </a:r>
          </a:p>
          <a:p xmlns:a="http://schemas.openxmlformats.org/drawingml/2006/main">
            <a:r>
              <a:t>Sources and optional detail (not spoken): Keleş (2026), evidence/e92_development.json. Transformation: long-side cap 1080 followed by JPEG quality 75. SIDD scene diversity: Abdelhamed et al. (2018), https://abdokamel.github.io/sidd/.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60 seconds.</a:t>
            </a:r>
          </a:p>
          <a:p xmlns:a="http://schemas.openxmlformats.org/drawingml/2006/main">
            <a:r>
              <a:t/>
            </a:r>
          </a:p>
          <a:p xmlns:a="http://schemas.openxmlformats.org/drawingml/2006/main">
            <a:r>
              <a:t>Twenty out of twenty means ten numerical checks applied to two processing conditions. It does not mean twenty independent datasets or perfect classification. A separate rule required us to keep every AI image that the earlier model had detected. E92 newly missed one of those original AI images. Therefore it did not pass full acceptance, even though the overall numbers improved. We also reused the development set while making decisions. A stronger claim would need a final evaluation that had not influenced those decisions. This is why I describe E92 as a research prototype.</a:t>
            </a:r>
          </a:p>
          <a:p xmlns:a="http://schemas.openxmlformats.org/drawingml/2006/main">
            <a:r>
              <a:t/>
            </a:r>
          </a:p>
          <a:p xmlns:a="http://schemas.openxmlformats.org/drawingml/2006/main">
            <a:r>
              <a:t>Sources and optional detail (not spoken): Keleş (2026), E92 acceptance report. Dwork et al. (2015), https://proceedings.neurips.cc/paper/2015/hash/bad5f33780c42f2588878a9d07405083-Abstract.html. The 20 criteria are project-defined and correlated.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55 seconds.</a:t>
            </a:r>
          </a:p>
          <a:p xmlns:a="http://schemas.openxmlformats.org/drawingml/2006/main">
            <a:r>
              <a:t/>
            </a:r>
          </a:p>
          <a:p xmlns:a="http://schemas.openxmlformats.org/drawingml/2006/main">
            <a:r>
              <a:t>The demo lets a user upload an image and read a simple result. It can report AI evidence, no clear AI evidence or uncertainty. The displayed score describes the detector response. It is not a verified probability that the image is AI. A low score therefore cannot prove that the photograph is authentic. Comparing the original with a processed copy helps reveal unstable responses. The software also validates uploads and checks model artifacts. These guards improve application behavior, while detection reliability still needs separate evaluation.</a:t>
            </a:r>
          </a:p>
          <a:p xmlns:a="http://schemas.openxmlformats.org/drawingml/2006/main">
            <a:r>
              <a:t/>
            </a:r>
          </a:p>
          <a:p xmlns:a="http://schemas.openxmlformats.org/drawingml/2006/main">
            <a:r>
              <a:t>Sources and optional detail (not spoken): Report Section 4.5.6 and current-policy audit. Guo et al. (2017), https://proceedings.mlr.press/v70/guo17a.html. Optional Q&amp;A: upper score cut ~7.94; lower ~1.15. Original ≥ upper retains AI alert, both E92 views &lt; lower give no clear evidence, other cases uncertain. E43 is advisory. Paired development outcomes: real 139 clear/21 uncertain/0 AI; AI 159 alerts/1 uncertain.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60 seconds.</a:t>
            </a:r>
          </a:p>
          <a:p xmlns:a="http://schemas.openxmlformats.org/drawingml/2006/main">
            <a:r>
              <a:t/>
            </a:r>
          </a:p>
          <a:p xmlns:a="http://schemas.openxmlformats.org/drawingml/2006/main">
            <a:r>
              <a:t>Model2 asks where an AI edit is located. We found datasets, but source overlap and unclear masks prevented building a broad, validated training set. In our Stable Diffusion pilot, asking for a local edit also changed pixels outside the selected region. We therefore pasted only the generated region into the original and kept comparison controls. This gave us sixteen controlled examples from one editor, not broad coverage. Later training helped a new edit placement but harmed the original placement and increased false markings on real images. I rejected that candidate. These data and evaluation limits kept Model2 experimental.</a:t>
            </a:r>
          </a:p>
          <a:p xmlns:a="http://schemas.openxmlformats.org/drawingml/2006/main">
            <a:r>
              <a:t/>
            </a:r>
          </a:p>
          <a:p xmlns:a="http://schemas.openxmlformats.org/drawingml/2006/main">
            <a:r>
              <a:t>Sources and optional detail (not spoken): Keleş (2026), E105/E109/E117, E122/E127 and E129–E135. Optional Q&amp;A: 506/512 CocoGlide originals overlap protected ancestry; not proof of historical weight contamination. DiffSeg30k: 201 partial, 224 full-positive and 87 empty masks. E127: 11 accepted of 16 attempts, mean 99.9417% outside pixels changed and outside MAE 9.79/255; pixel change is not semantic change. Exact composites preserve outside pixels but introduce possible seam cues. E129 later passed all 16 engineering checks. E135 original/new-placement AUC .74→.70 / .57→.64; authentic false area 17.11%→25.74%. No ChatGPT pixel experiment or universal impossibility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60 seconds.</a:t>
            </a:r>
          </a:p>
          <a:p xmlns:a="http://schemas.openxmlformats.org/drawingml/2006/main">
            <a:r>
              <a:t/>
            </a:r>
          </a:p>
          <a:p xmlns:a="http://schemas.openxmlformats.org/drawingml/2006/main">
            <a:r>
              <a:t>The internship produced a working local prototype, trained adaptation components and a record of experiments and corrections. The strongest measured gain was fewer false warnings on the defined development collection. Broader reliability remains unresolved. For example, the owner gallery still produced false warnings and had already influenced development. The next step is evaluation on independent sources with fixed decision rules. Model2 needs broader controls too. Personally, I learned how to manage an individual project, narrow its scope and explain what the evidence supports. Building a working demo was useful, but understanding its limits was just as important. Thank you.</a:t>
            </a:r>
          </a:p>
          <a:p xmlns:a="http://schemas.openxmlformats.org/drawingml/2006/main">
            <a:r>
              <a:t/>
            </a:r>
          </a:p>
          <a:p xmlns:a="http://schemas.openxmlformats.org/drawingml/2006/main">
            <a:r>
              <a:t>Sources and optional detail (not spoken): Keleş (2026), E95, E139, E146–E152. Optional Q&amp;A: E92 gallery false alerts 9/206 originals, 18/206 processed. Earlier E43 comprehensive E49 test failed 11/20 on 2,000 parents; it is not E92 final performance. No production rollout or measured company impact.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seconds.</a:t>
            </a:r>
          </a:p>
          <a:p xmlns:a="http://schemas.openxmlformats.org/drawingml/2006/main">
            <a:r>
              <a:t/>
            </a:r>
          </a:p>
          <a:p xmlns:a="http://schemas.openxmlformats.org/drawingml/2006/main">
            <a:r>
              <a:t>Reference appendix. The report provides the full bibliography.</a:t>
            </a:r>
          </a:p>
          <a:p xmlns:a="http://schemas.openxmlformats.org/drawingml/2006/main">
            <a:r>
              <a:t/>
            </a:r>
          </a:p>
          <a:p xmlns:a="http://schemas.openxmlformats.org/drawingml/2006/main">
            <a:r>
              <a:t>Sources and optional detail (not spoken): https://proceedings.mlr.press/v139/radford21a.html</a:t>
            </a:r>
          </a:p>
          <a:p xmlns:a="http://schemas.openxmlformats.org/drawingml/2006/main">
            <a:r>
              <a:t>https://arxiv.org/abs/2304.07193</a:t>
            </a:r>
          </a:p>
          <a:p xmlns:a="http://schemas.openxmlformats.org/drawingml/2006/main">
            <a:r>
              <a:t>https://arxiv.org/abs/2606.10309v2</a:t>
            </a:r>
          </a:p>
          <a:p xmlns:a="http://schemas.openxmlformats.org/drawingml/2006/main">
            <a:r>
              <a:t>https://arxiv.org/abs/2302.10174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time: 0 seconds.</a:t>
            </a:r>
          </a:p>
          <a:p xmlns:a="http://schemas.openxmlformats.org/drawingml/2006/main">
            <a:r>
              <a:t/>
            </a:r>
          </a:p>
          <a:p xmlns:a="http://schemas.openxmlformats.org/drawingml/2006/main">
            <a:r>
              <a:t>Reference appendix. The report gives fourteen full entries. These slides list the sources most relevant to the short talk.</a:t>
            </a:r>
          </a:p>
          <a:p xmlns:a="http://schemas.openxmlformats.org/drawingml/2006/main">
            <a:r>
              <a:t/>
            </a:r>
          </a:p>
          <a:p xmlns:a="http://schemas.openxmlformats.org/drawingml/2006/main">
            <a:r>
              <a:t>Sources and optional detail (not spoken): https://abdokamel.github.io/sidd/</a:t>
            </a:r>
          </a:p>
          <a:p xmlns:a="http://schemas.openxmlformats.org/drawingml/2006/main">
            <a:r>
              <a:t>https://proceedings.mlr.press/v70/guo17a.html</a:t>
            </a:r>
          </a:p>
          <a:p xmlns:a="http://schemas.openxmlformats.org/drawingml/2006/main">
            <a:r>
              <a:t>https://proceedings.neurips.cc/paper/2015/hash/bad5f33780c42f2588878a9d07405083-Abstract.html</a:t>
            </a:r>
          </a:p>
          <a:p xmlns:a="http://schemas.openxmlformats.org/drawingml/2006/main">
            <a:r>
              <a:t>https://github.com/EfeHanKeles346/ai-image-detector/tree/497d45c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1985ca11f94f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c0998fbb964240" /><Relationship Type="http://schemas.openxmlformats.org/officeDocument/2006/relationships/slideLayout" Target="/ppt/slideLayouts/slideLayout1.xml" Id="Ra0e38f0d1bb44c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e38f0d1bb44c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9fbb9422eaf438d" /><Relationship Type="http://schemas.openxmlformats.org/officeDocument/2006/relationships/notesSlide" Target="/ppt/notesSlides/notesSlide1.xml" Id="R87508f9939be4a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d8f5494cae4798" /><Relationship Type="http://schemas.openxmlformats.org/officeDocument/2006/relationships/notesSlide" Target="/ppt/notesSlides/notesSlide2.xml" Id="Raaba875ff5ab48b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bcf5705c776454b" /><Relationship Type="http://schemas.openxmlformats.org/officeDocument/2006/relationships/notesSlide" Target="/ppt/notesSlides/notesSlide3.xml" Id="R4a8e5c5e1d914f0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ef53d0045f42bc" /><Relationship Type="http://schemas.openxmlformats.org/officeDocument/2006/relationships/notesSlide" Target="/ppt/notesSlides/notesSlide4.xml" Id="R79d4e4f3387b451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d88d2eba35478b" /><Relationship Type="http://schemas.openxmlformats.org/officeDocument/2006/relationships/notesSlide" Target="/ppt/notesSlides/notesSlide5.xml" Id="R38a4dceec0464b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3f0fa6e593749dc" /><Relationship Type="http://schemas.openxmlformats.org/officeDocument/2006/relationships/chart" Target="/ppt/slides/charts/chart1.xml" Id="Rdf260e3c03544a0d" /><Relationship Type="http://schemas.openxmlformats.org/officeDocument/2006/relationships/notesSlide" Target="/ppt/notesSlides/notesSlide6.xml" Id="R082160dd55ec46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e7ef34c104b41da" /><Relationship Type="http://schemas.openxmlformats.org/officeDocument/2006/relationships/notesSlide" Target="/ppt/notesSlides/notesSlide7.xml" Id="R9a176c7ac3e94bf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ce18034d03465f" /><Relationship Type="http://schemas.openxmlformats.org/officeDocument/2006/relationships/notesSlide" Target="/ppt/notesSlides/notesSlide8.xml" Id="R968b3e3b26654b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d02af45302d4acb" /><Relationship Type="http://schemas.openxmlformats.org/officeDocument/2006/relationships/notesSlide" Target="/ppt/notesSlides/notesSlide9.xml" Id="R9c58a8a1d60c41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6b123ca62154460" /><Relationship Type="http://schemas.openxmlformats.org/officeDocument/2006/relationships/notesSlide" Target="/ppt/notesSlides/notesSlide10.xml" Id="R219dadfe778f40d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0a3c250175c442f" /><Relationship Type="http://schemas.openxmlformats.org/officeDocument/2006/relationships/notesSlide" Target="/ppt/notesSlides/notesSlide11.xml" Id="Rbb2a02834f2545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8d56e584d8741b2" /><Relationship Type="http://schemas.openxmlformats.org/officeDocument/2006/relationships/notesSlide" Target="/ppt/notesSlides/notesSlide12.xml" Id="R05fbc04c83b34f8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Earlier model E43</c:v>
          </c:tx>
          <c:spPr>
            <a:solidFill xmlns:a="http://schemas.openxmlformats.org/drawingml/2006/main">
              <a:srgbClr val="DDDDDD"/>
            </a:solidFill>
          </c:spPr>
          <c:cat>
            <c:strRef>
              <c:f>'Chart Data'!$A$2:$A$3</c:f>
              <c:strCache>
                <c:ptCount val="2"/>
                <c:pt idx="0">
                  <c:v>Original</c:v>
                </c:pt>
                <c:pt idx="1">
                  <c:v>Resized + JPEG75</c:v>
                </c:pt>
              </c:strCache>
            </c:strRef>
          </c:cat>
          <c:val>
            <c:numRef>
              <c:f>'Chart Data'!$B$2:$B$3</c:f>
              <c:numCache>
                <c:formatCode>General</c:formatCode>
                <c:ptCount val="2"/>
                <c:pt idx="0">
                  <c:v>68</c:v>
                </c:pt>
                <c:pt idx="1">
                  <c:v>68</c:v>
                </c:pt>
              </c:numCache>
            </c:numRef>
          </c:val>
        </c:ser>
        <c:ser>
          <c:idx val="1"/>
          <c:order val="1"/>
          <c:tx>
            <c:v>Current model E92</c:v>
          </c:tx>
          <c:spPr>
            <a:solidFill xmlns:a="http://schemas.openxmlformats.org/drawingml/2006/main">
              <a:srgbClr val="444444"/>
            </a:solidFill>
          </c:spPr>
          <c:cat>
            <c:strRef>
              <c:f>'Chart Data'!$C$2:$C$3</c:f>
              <c:strCache>
                <c:ptCount val="2"/>
                <c:pt idx="0">
                  <c:v>Original</c:v>
                </c:pt>
                <c:pt idx="1">
                  <c:v>Resized + JPEG75</c:v>
                </c:pt>
              </c:strCache>
            </c:strRef>
          </c:cat>
          <c:val>
            <c:numRef>
              <c:f>'Chart Data'!$D$2:$D$3</c:f>
              <c:numCache>
                <c:formatCode>General</c:formatCode>
                <c:ptCount val="2"/>
                <c:pt idx="0">
                  <c:v>0</c:v>
                </c:pt>
                <c:pt idx="1">
                  <c:v>14</c:v>
                </c:pt>
              </c:numCache>
            </c:numRef>
          </c:val>
        </c:ser>
        <c:dLbls>
          <c:txPr>
            <a:bodyPr xmlns:a="http://schemas.openxmlformats.org/drawingml/2006/main" anchorCtr="1"/>
            <a:lstStyle xmlns:a="http://schemas.openxmlformats.org/drawingml/2006/main"/>
            <a:p xmlns:a="http://schemas.openxmlformats.org/drawingml/2006/main">
              <a:pPr>
                <a:defRPr sz="1875">
                  <a:solidFill>
                    <a:srgbClr val="000000"/>
                  </a:solidFill>
                  <a:latin typeface="Times New Roman"/>
                  <a:ea typeface="Times New Roman"/>
                  <a:cs typeface="Times New Roman"/>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000000"/>
                </a:solidFill>
                <a:latin typeface="Times New Roman"/>
                <a:ea typeface="Times New Roman"/>
                <a:cs typeface="Times New Roman"/>
              </a:defRPr>
            </a:pPr>
          </a:p>
        </c:txPr>
        <c:crossAx val="48672768"/>
      </c:catAx>
      <c:valAx>
        <c:axId val="48672768"/>
        <c:scaling>
          <c:orientation val="minMax"/>
          <c:max val="80"/>
          <c:min val="0"/>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000000"/>
                </a:solidFill>
                <a:latin typeface="Times New Roman"/>
                <a:ea typeface="Times New Roman"/>
                <a:cs typeface="Times New Roman"/>
              </a:defRPr>
            </a:pPr>
          </a:p>
        </c:txPr>
        <c:crossAx val="48650112"/>
        <c:crossBetween val="between"/>
        <c:majorUnit val="20"/>
      </c:valAx>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000000"/>
              </a:solidFill>
              <a:latin typeface="Times New Roman"/>
              <a:ea typeface="Times New Roman"/>
              <a:cs typeface="Times New Roman"/>
            </a:defRPr>
          </a:pPr>
        </a:p>
      </c:txPr>
    </c:legend>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35EAF9B-FF6F-497B-B17D-2E2617796B87}"/>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 PixelProof AI image detection</a:t>
            </a:r>
          </a:p>
        </p:txBody>
      </p:sp>
      <p:sp>
        <p:nvSpPr>
          <p:cNvPr id="2" name="">
            <a:extLst xmlns:a="http://schemas.openxmlformats.org/drawingml/2006/main">
              <a:ext uri="{FF2B5EF4-FFF2-40B4-BE49-F238E27FC236}">
                <a16:creationId xmlns:a16="http://schemas.microsoft.com/office/drawing/2014/main" id="{183E9280-11CB-4961-9AAF-BE65A0FB4869}"/>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22827097-1E0C-4D5F-AB56-239205620919}"/>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a:t>
            </a:r>
          </a:p>
        </p:txBody>
      </p:sp>
      <p:sp>
        <p:nvSpPr>
          <p:cNvPr id="4" name="">
            <a:extLst xmlns:a="http://schemas.openxmlformats.org/drawingml/2006/main">
              <a:ext uri="{FF2B5EF4-FFF2-40B4-BE49-F238E27FC236}">
                <a16:creationId xmlns:a16="http://schemas.microsoft.com/office/drawing/2014/main" id="{7D30B8DB-15AB-4B34-95D1-532E17C6D04C}"/>
              </a:ext>
            </a:extLst>
          </p:cNvPr>
          <p:cNvSpPr>
            <a:spLocks xmlns:a="http://schemas.openxmlformats.org/drawingml/2006/main" noGrp="1"/>
          </p:cNvSpPr>
          <p:nvPr/>
        </p:nvSpPr>
        <p:spPr>
          <a:xfrm xmlns:a="http://schemas.openxmlformats.org/drawingml/2006/main">
            <a:off x="685800" y="188595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000000"/>
                </a:solidFill>
                <a:latin typeface="Times New Roman"/>
                <a:ea typeface="Times New Roman"/>
                <a:cs typeface="Times New Roman"/>
              </a:defRPr>
            </a:pPr>
            <a:r>
              <a:rPr sz="3000" b="1">
                <a:solidFill>
                  <a:srgbClr val="000000"/>
                </a:solidFill>
                <a:latin typeface="Times New Roman"/>
                <a:ea typeface="Times New Roman"/>
                <a:cs typeface="Times New Roman"/>
              </a:rPr>
              <a:t>Reducing false AI warnings on real photographs</a:t>
            </a:r>
          </a:p>
        </p:txBody>
      </p:sp>
      <p:sp>
        <p:nvSpPr>
          <p:cNvPr id="5" name="">
            <a:extLst xmlns:a="http://schemas.openxmlformats.org/drawingml/2006/main">
              <a:ext uri="{FF2B5EF4-FFF2-40B4-BE49-F238E27FC236}">
                <a16:creationId xmlns:a16="http://schemas.microsoft.com/office/drawing/2014/main" id="{FF6C0B09-1B52-4AAF-A095-D38043CECB1A}"/>
              </a:ext>
            </a:extLst>
          </p:cNvPr>
          <p:cNvSpPr>
            <a:spLocks xmlns:a="http://schemas.openxmlformats.org/drawingml/2006/main" noGrp="1"/>
          </p:cNvSpPr>
          <p:nvPr/>
        </p:nvSpPr>
        <p:spPr>
          <a:xfrm xmlns:a="http://schemas.openxmlformats.org/drawingml/2006/main">
            <a:off x="685800" y="3190875"/>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Efe Han Keleş</a:t>
            </a:r>
          </a:p>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CS395 internship at Türk Telekom</a:t>
            </a:r>
          </a:p>
        </p:txBody>
      </p:sp>
      <p:sp>
        <p:nvSpPr>
          <p:cNvPr id="6" name="">
            <a:extLst xmlns:a="http://schemas.openxmlformats.org/drawingml/2006/main">
              <a:ext uri="{FF2B5EF4-FFF2-40B4-BE49-F238E27FC236}">
                <a16:creationId xmlns:a16="http://schemas.microsoft.com/office/drawing/2014/main" id="{0A1B8247-A1B3-49F6-9262-D2DBEE91E7B5}"/>
              </a:ext>
            </a:extLst>
          </p:cNvPr>
          <p:cNvSpPr>
            <a:spLocks xmlns:a="http://schemas.openxmlformats.org/drawingml/2006/main" noGrp="1"/>
          </p:cNvSpPr>
          <p:nvPr/>
        </p:nvSpPr>
        <p:spPr>
          <a:xfrm xmlns:a="http://schemas.openxmlformats.org/drawingml/2006/main">
            <a:off x="685800" y="43053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20 July–18 September 2026</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40 approved internship days</a:t>
            </a:r>
          </a:p>
        </p:txBody>
      </p:sp>
      <p:sp>
        <p:nvSpPr>
          <p:cNvPr id="7" name="">
            <a:extLst xmlns:a="http://schemas.openxmlformats.org/drawingml/2006/main">
              <a:ext uri="{FF2B5EF4-FFF2-40B4-BE49-F238E27FC236}">
                <a16:creationId xmlns:a16="http://schemas.microsoft.com/office/drawing/2014/main" id="{00474F51-976A-4D76-88DA-D106AE19E0F0}"/>
              </a:ext>
            </a:extLst>
          </p:cNvPr>
          <p:cNvSpPr>
            <a:spLocks xmlns:a="http://schemas.openxmlformats.org/drawingml/2006/main" noGrp="1"/>
          </p:cNvSpPr>
          <p:nvPr/>
        </p:nvSpPr>
        <p:spPr>
          <a:xfrm xmlns:a="http://schemas.openxmlformats.org/drawingml/2006/main">
            <a:off x="685800" y="52197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Supervisor: Önder Çelebi, Director</a:t>
            </a:r>
          </a:p>
          <a:p xmlns:a="http://schemas.openxmlformats.org/drawingml/2006/main">
            <a:pPr algn="l">
              <a:defRPr sz="1875" b="0">
                <a:solidFill>
                  <a:srgbClr val="000000"/>
                </a:solidFill>
                <a:latin typeface="Times New Roman"/>
                <a:ea typeface="Times New Roman"/>
                <a:cs typeface="Times New Roman"/>
              </a:defRPr>
            </a:pPr>
            <a:r>
              <a:rPr sz="1875" b="0">
                <a:solidFill>
                  <a:srgbClr val="000000"/>
                </a:solidFill>
                <a:latin typeface="Times New Roman"/>
                <a:ea typeface="Times New Roman"/>
                <a:cs typeface="Times New Roman"/>
              </a:rPr>
              <a:t>Planning and Development Directorate</a:t>
            </a:r>
          </a:p>
        </p:txBody>
      </p:sp>
      <p:sp>
        <p:nvSpPr>
          <p:cNvPr id="8" name="">
            <a:extLst xmlns:a="http://schemas.openxmlformats.org/drawingml/2006/main">
              <a:ext uri="{FF2B5EF4-FFF2-40B4-BE49-F238E27FC236}">
                <a16:creationId xmlns:a16="http://schemas.microsoft.com/office/drawing/2014/main" id="{B00B6E7E-6A6B-45DC-B9AA-9836AB333642}"/>
              </a:ext>
            </a:extLst>
          </p:cNvPr>
          <p:cNvSpPr>
            <a:spLocks xmlns:a="http://schemas.openxmlformats.org/drawingml/2006/main" noGrp="1"/>
          </p:cNvSpPr>
          <p:nvPr/>
        </p:nvSpPr>
        <p:spPr>
          <a:xfrm xmlns:a="http://schemas.openxmlformats.org/drawingml/2006/main">
            <a:off x="685800" y="5924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000000"/>
                </a:solidFill>
                <a:latin typeface="Times New Roman"/>
                <a:ea typeface="Times New Roman"/>
                <a:cs typeface="Times New Roman"/>
              </a:defRPr>
            </a:pPr>
            <a:r>
              <a:rPr sz="1650" b="0">
                <a:solidFill>
                  <a:srgbClr val="000000"/>
                </a:solidFill>
                <a:latin typeface="Times New Roman"/>
                <a:ea typeface="Times New Roman"/>
                <a:cs typeface="Times New Roman"/>
              </a:rPr>
              <a:t>Submission date: 29 September 2026</a:t>
            </a:r>
          </a:p>
        </p:txBody>
      </p:sp>
    </p:spTree>
    <p:extLst>
      <p:ext uri="{BB962C8B-B14F-4D97-AF65-F5344CB8AC3E}">
        <p14:creationId xmlns:p14="http://schemas.microsoft.com/office/powerpoint/2010/main" val="12971108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A7E2DB6-31EE-4CD6-BDC2-31237BF05E78}"/>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2. The problem and objective</a:t>
            </a:r>
          </a:p>
        </p:txBody>
      </p:sp>
      <p:sp>
        <p:nvSpPr>
          <p:cNvPr id="2" name="">
            <a:extLst xmlns:a="http://schemas.openxmlformats.org/drawingml/2006/main">
              <a:ext uri="{FF2B5EF4-FFF2-40B4-BE49-F238E27FC236}">
                <a16:creationId xmlns:a16="http://schemas.microsoft.com/office/drawing/2014/main" id="{C881F7C9-26C4-4B28-8B13-5BE19A49FDC2}"/>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56B38471-2433-4DFE-97FD-61EDA3979868}"/>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2</a:t>
            </a:r>
          </a:p>
        </p:txBody>
      </p:sp>
      <p:sp>
        <p:nvSpPr>
          <p:cNvPr id="4" name="">
            <a:extLst xmlns:a="http://schemas.openxmlformats.org/drawingml/2006/main">
              <a:ext uri="{FF2B5EF4-FFF2-40B4-BE49-F238E27FC236}">
                <a16:creationId xmlns:a16="http://schemas.microsoft.com/office/drawing/2014/main" id="{603E2276-A160-4D0B-82BC-570CE3C5C79E}"/>
              </a:ext>
            </a:extLst>
          </p:cNvPr>
          <p:cNvSpPr>
            <a:spLocks xmlns:a="http://schemas.openxmlformats.org/drawingml/2006/main" noGrp="1"/>
          </p:cNvSpPr>
          <p:nvPr/>
        </p:nvSpPr>
        <p:spPr>
          <a:xfrm xmlns:a="http://schemas.openxmlformats.org/drawingml/2006/main">
            <a:off x="685800" y="1714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A real photograph can receive a false AI warning.</a:t>
            </a:r>
          </a:p>
        </p:txBody>
      </p:sp>
      <p:sp>
        <p:nvSpPr>
          <p:cNvPr id="5" name="">
            <a:extLst xmlns:a="http://schemas.openxmlformats.org/drawingml/2006/main">
              <a:ext uri="{FF2B5EF4-FFF2-40B4-BE49-F238E27FC236}">
                <a16:creationId xmlns:a16="http://schemas.microsoft.com/office/drawing/2014/main" id="{E56FFC58-545B-46EF-9DC9-9C445D410313}"/>
              </a:ext>
            </a:extLst>
          </p:cNvPr>
          <p:cNvSpPr>
            <a:spLocks xmlns:a="http://schemas.openxmlformats.org/drawingml/2006/main" noGrp="1"/>
          </p:cNvSpPr>
          <p:nvPr/>
        </p:nvSpPr>
        <p:spPr>
          <a:xfrm xmlns:a="http://schemas.openxmlformats.org/drawingml/2006/main">
            <a:off x="685800" y="28956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An AI image can also escape detection.</a:t>
            </a:r>
          </a:p>
        </p:txBody>
      </p:sp>
      <p:sp>
        <p:nvSpPr>
          <p:cNvPr id="6" name="">
            <a:extLst xmlns:a="http://schemas.openxmlformats.org/drawingml/2006/main">
              <a:ext uri="{FF2B5EF4-FFF2-40B4-BE49-F238E27FC236}">
                <a16:creationId xmlns:a16="http://schemas.microsoft.com/office/drawing/2014/main" id="{7323C1BC-0E71-4554-98E3-0AB63E4734AE}"/>
              </a:ext>
            </a:extLst>
          </p:cNvPr>
          <p:cNvSpPr>
            <a:spLocks xmlns:a="http://schemas.openxmlformats.org/drawingml/2006/main" noGrp="1"/>
          </p:cNvSpPr>
          <p:nvPr/>
        </p:nvSpPr>
        <p:spPr>
          <a:xfrm xmlns:a="http://schemas.openxmlformats.org/drawingml/2006/main">
            <a:off x="685800" y="430530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0">
                <a:solidFill>
                  <a:srgbClr val="000000"/>
                </a:solidFill>
                <a:latin typeface="Times New Roman"/>
                <a:ea typeface="Times New Roman"/>
                <a:cs typeface="Times New Roman"/>
              </a:defRPr>
            </a:pPr>
            <a:r>
              <a:rPr sz="2550" b="0">
                <a:solidFill>
                  <a:srgbClr val="000000"/>
                </a:solidFill>
                <a:latin typeface="Times New Roman"/>
                <a:ea typeface="Times New Roman"/>
                <a:cs typeface="Times New Roman"/>
              </a:rPr>
              <a:t>The objective was to reduce the first error</a:t>
            </a:r>
          </a:p>
          <a:p xmlns:a="http://schemas.openxmlformats.org/drawingml/2006/main">
            <a:pPr algn="l">
              <a:defRPr sz="2550" b="0">
                <a:solidFill>
                  <a:srgbClr val="000000"/>
                </a:solidFill>
                <a:latin typeface="Times New Roman"/>
                <a:ea typeface="Times New Roman"/>
                <a:cs typeface="Times New Roman"/>
              </a:defRPr>
            </a:pPr>
            <a:r>
              <a:rPr sz="2550" b="0">
                <a:solidFill>
                  <a:srgbClr val="000000"/>
                </a:solidFill>
                <a:latin typeface="Times New Roman"/>
                <a:ea typeface="Times New Roman"/>
                <a:cs typeface="Times New Roman"/>
              </a:rPr>
              <a:t>without creating new misses.</a:t>
            </a:r>
          </a:p>
        </p:txBody>
      </p:sp>
    </p:spTree>
    <p:extLst>
      <p:ext uri="{BB962C8B-B14F-4D97-AF65-F5344CB8AC3E}">
        <p14:creationId xmlns:p14="http://schemas.microsoft.com/office/powerpoint/2010/main" val="18336257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827A1C6-BF7C-48E8-A1B4-E5848D316D92}"/>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3. Early accuracy did not transfer</a:t>
            </a:r>
          </a:p>
        </p:txBody>
      </p:sp>
      <p:sp>
        <p:nvSpPr>
          <p:cNvPr id="2" name="">
            <a:extLst xmlns:a="http://schemas.openxmlformats.org/drawingml/2006/main">
              <a:ext uri="{FF2B5EF4-FFF2-40B4-BE49-F238E27FC236}">
                <a16:creationId xmlns:a16="http://schemas.microsoft.com/office/drawing/2014/main" id="{FB96AD7C-1A30-40BC-98DA-E38553969D2F}"/>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0A37E177-2B8E-4E7F-B7F2-EFBC1BD0CED1}"/>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3</a:t>
            </a:r>
          </a:p>
        </p:txBody>
      </p:sp>
      <p:sp>
        <p:nvSpPr>
          <p:cNvPr id="4" name="">
            <a:extLst xmlns:a="http://schemas.openxmlformats.org/drawingml/2006/main">
              <a:ext uri="{FF2B5EF4-FFF2-40B4-BE49-F238E27FC236}">
                <a16:creationId xmlns:a16="http://schemas.microsoft.com/office/drawing/2014/main" id="{1E239B37-EB86-478A-BE9A-39B408A26957}"/>
              </a:ext>
            </a:extLst>
          </p:cNvPr>
          <p:cNvSpPr>
            <a:spLocks xmlns:a="http://schemas.openxmlformats.org/drawingml/2006/main" noGrp="1"/>
          </p:cNvSpPr>
          <p:nvPr/>
        </p:nvSpPr>
        <p:spPr>
          <a:xfrm xmlns:a="http://schemas.openxmlformats.org/drawingml/2006/main">
            <a:off x="685800" y="158115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Table 1 shows the first major warning.</a:t>
            </a:r>
          </a:p>
        </p:txBody>
      </p:sp>
      <p:sp>
        <p:nvSpPr>
          <p:cNvPr id="5" name="">
            <a:extLst xmlns:a="http://schemas.openxmlformats.org/drawingml/2006/main">
              <a:ext uri="{FF2B5EF4-FFF2-40B4-BE49-F238E27FC236}">
                <a16:creationId xmlns:a16="http://schemas.microsoft.com/office/drawing/2014/main" id="{62D65B91-ADF5-474C-9DD6-221D12AA17FF}"/>
              </a:ext>
            </a:extLst>
          </p:cNvPr>
          <p:cNvSpPr>
            <a:spLocks xmlns:a="http://schemas.openxmlformats.org/drawingml/2006/main" noGrp="1"/>
          </p:cNvSpPr>
          <p:nvPr/>
        </p:nvSpPr>
        <p:spPr>
          <a:xfrm xmlns:a="http://schemas.openxmlformats.org/drawingml/2006/main">
            <a:off x="685800" y="2238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1. Historical ResNet-18 accuracy.</a:t>
            </a:r>
          </a:p>
        </p:txBody>
      </p:sp>
      <p:graphicFrame>
        <p:nvGraphicFramePr>
          <p:cNvPr id="13" name=""/>
          <p:cNvGraphicFramePr/>
          <p:nvPr/>
        </p:nvGraphicFramePr>
        <p:xfrm>
          <a:off xmlns:a="http://schemas.openxmlformats.org/drawingml/2006/main" x="685800" y="2857500"/>
          <a:ext xmlns:a="http://schemas.openxmlformats.org/drawingml/2006/main" cx="10820400" cy="2000250"/>
        </p:xfrm>
        <a:graphic xmlns:a="http://schemas.openxmlformats.org/drawingml/2006/main">
          <a:graphicData uri="http://schemas.openxmlformats.org/drawingml/2006/table">
            <a:tbl>
              <a:tblPr/>
              <a:tblGrid>
                <a:gridCol w="7524750"/>
                <a:gridCol w="3295650"/>
              </a:tblGrid>
              <a:tr h="666750">
                <a:tc>
                  <a:txBody>
                    <a:bodyPr>
                      <a:noAutofit/>
                    </a:bodyPr>
                    <a:lstStyle/>
                    <a:p>
                      <a:pPr algn="l"/>
                      <a:r>
                        <a:rPr sz="2025" b="1">
                          <a:solidFill>
                            <a:srgbClr val="000000"/>
                          </a:solidFill>
                          <a:latin typeface="Times New Roman"/>
                          <a:ea typeface="Times New Roman"/>
                          <a:cs typeface="Times New Roman"/>
                        </a:rPr>
                        <a:t>Image collection</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Accuracy</a:t>
                      </a:r>
                    </a:p>
                  </a:txBody>
                  <a:tcPr marL="91440" marR="91440" marT="45720" marB="45720">
                    <a:solidFill>
                      <a:srgbClr val="EEEEEE"/>
                    </a:solidFill>
                  </a:tcPr>
                </a:tc>
              </a:tr>
              <a:tr h="666750">
                <a:tc>
                  <a:txBody>
                    <a:bodyPr>
                      <a:noAutofit/>
                    </a:bodyPr>
                    <a:lstStyle/>
                    <a:p>
                      <a:pPr algn="l"/>
                      <a:r>
                        <a:rPr sz="2025" b="0">
                          <a:solidFill>
                            <a:srgbClr val="000000"/>
                          </a:solidFill>
                          <a:latin typeface="Times New Roman"/>
                          <a:ea typeface="Times New Roman"/>
                          <a:cs typeface="Times New Roman"/>
                        </a:rPr>
                        <a:t>Familiar test images</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97.66%</a:t>
                      </a:r>
                    </a:p>
                  </a:txBody>
                  <a:tcPr marL="91440" marR="91440" marT="45720" marB="45720">
                    <a:solidFill>
                      <a:srgbClr val="FFFFFF"/>
                    </a:solidFill>
                  </a:tcPr>
                </a:tc>
              </a:tr>
              <a:tr h="666750">
                <a:tc>
                  <a:txBody>
                    <a:bodyPr>
                      <a:noAutofit/>
                    </a:bodyPr>
                    <a:lstStyle/>
                    <a:p>
                      <a:pPr algn="l"/>
                      <a:r>
                        <a:rPr sz="2025" b="0">
                          <a:solidFill>
                            <a:srgbClr val="000000"/>
                          </a:solidFill>
                          <a:latin typeface="Times New Roman"/>
                          <a:ea typeface="Times New Roman"/>
                          <a:cs typeface="Times New Roman"/>
                        </a:rPr>
                        <a:t>Separate external collection</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25.2%</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CDFC605-5EF9-41D5-80AB-D4D135A5200B}"/>
              </a:ext>
            </a:extLst>
          </p:cNvPr>
          <p:cNvSpPr>
            <a:spLocks xmlns:a="http://schemas.openxmlformats.org/drawingml/2006/main" noGrp="1"/>
          </p:cNvSpPr>
          <p:nvPr/>
        </p:nvSpPr>
        <p:spPr>
          <a:xfrm xmlns:a="http://schemas.openxmlformats.org/drawingml/2006/main">
            <a:off x="685800" y="5381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The gap led to checks of resolution, sources and labels.</a:t>
            </a:r>
          </a:p>
        </p:txBody>
      </p:sp>
    </p:spTree>
    <p:extLst>
      <p:ext uri="{BB962C8B-B14F-4D97-AF65-F5344CB8AC3E}">
        <p14:creationId xmlns:p14="http://schemas.microsoft.com/office/powerpoint/2010/main" val="127758203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4FA131-F500-433E-B0A9-D67E664456CB}"/>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4. Transfer learning in PixelProof</a:t>
            </a:r>
          </a:p>
        </p:txBody>
      </p:sp>
      <p:sp>
        <p:nvSpPr>
          <p:cNvPr id="2" name="">
            <a:extLst xmlns:a="http://schemas.openxmlformats.org/drawingml/2006/main">
              <a:ext uri="{FF2B5EF4-FFF2-40B4-BE49-F238E27FC236}">
                <a16:creationId xmlns:a16="http://schemas.microsoft.com/office/drawing/2014/main" id="{AF5E6F82-3DFC-455F-BCF8-09A3BF318DEF}"/>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9F7D909C-9A7E-4F62-88A1-3617889A0BA9}"/>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4</a:t>
            </a:r>
          </a:p>
        </p:txBody>
      </p:sp>
      <p:sp>
        <p:nvSpPr>
          <p:cNvPr id="4" name="">
            <a:extLst xmlns:a="http://schemas.openxmlformats.org/drawingml/2006/main">
              <a:ext uri="{FF2B5EF4-FFF2-40B4-BE49-F238E27FC236}">
                <a16:creationId xmlns:a16="http://schemas.microsoft.com/office/drawing/2014/main" id="{B77FB511-DC56-4071-9779-604E2C9CC6EB}"/>
              </a:ext>
            </a:extLst>
          </p:cNvPr>
          <p:cNvSpPr>
            <a:spLocks xmlns:a="http://schemas.openxmlformats.org/drawingml/2006/main" noGrp="1"/>
          </p:cNvSpPr>
          <p:nvPr/>
        </p:nvSpPr>
        <p:spPr>
          <a:xfrm xmlns:a="http://schemas.openxmlformats.org/drawingml/2006/main">
            <a:off x="685800" y="15811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625" b="1">
                <a:solidFill>
                  <a:srgbClr val="000000"/>
                </a:solidFill>
                <a:latin typeface="Times New Roman"/>
                <a:ea typeface="Times New Roman"/>
                <a:cs typeface="Times New Roman"/>
              </a:defRPr>
            </a:pPr>
            <a:r>
              <a:rPr sz="2625" b="1">
                <a:solidFill>
                  <a:srgbClr val="000000"/>
                </a:solidFill>
                <a:latin typeface="Times New Roman"/>
                <a:ea typeface="Times New Roman"/>
                <a:cs typeface="Times New Roman"/>
              </a:rPr>
              <a:t>Existing models describe the image</a:t>
            </a:r>
          </a:p>
        </p:txBody>
      </p:sp>
      <p:sp>
        <p:nvSpPr>
          <p:cNvPr id="5" name="">
            <a:extLst xmlns:a="http://schemas.openxmlformats.org/drawingml/2006/main">
              <a:ext uri="{FF2B5EF4-FFF2-40B4-BE49-F238E27FC236}">
                <a16:creationId xmlns:a16="http://schemas.microsoft.com/office/drawing/2014/main" id="{771E9243-05B8-4C17-9648-31F1FEF01CE6}"/>
              </a:ext>
            </a:extLst>
          </p:cNvPr>
          <p:cNvSpPr>
            <a:spLocks xmlns:a="http://schemas.openxmlformats.org/drawingml/2006/main" noGrp="1"/>
          </p:cNvSpPr>
          <p:nvPr/>
        </p:nvSpPr>
        <p:spPr>
          <a:xfrm xmlns:a="http://schemas.openxmlformats.org/drawingml/2006/main">
            <a:off x="685800" y="223837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Frozen DINOv2, CLIP and DEAR components</a:t>
            </a:r>
          </a:p>
        </p:txBody>
      </p:sp>
      <p:sp>
        <p:nvSpPr>
          <p:cNvPr id="6" name="">
            <a:extLst xmlns:a="http://schemas.openxmlformats.org/drawingml/2006/main">
              <a:ext uri="{FF2B5EF4-FFF2-40B4-BE49-F238E27FC236}">
                <a16:creationId xmlns:a16="http://schemas.microsoft.com/office/drawing/2014/main" id="{8DBE6524-6E83-43D1-800A-A69A52E59F3F}"/>
              </a:ext>
            </a:extLst>
          </p:cNvPr>
          <p:cNvSpPr>
            <a:spLocks xmlns:a="http://schemas.openxmlformats.org/drawingml/2006/main" noGrp="1"/>
          </p:cNvSpPr>
          <p:nvPr/>
        </p:nvSpPr>
        <p:spPr>
          <a:xfrm xmlns:a="http://schemas.openxmlformats.org/drawingml/2006/main">
            <a:off x="685800" y="33909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625" b="1">
                <a:solidFill>
                  <a:srgbClr val="000000"/>
                </a:solidFill>
                <a:latin typeface="Times New Roman"/>
                <a:ea typeface="Times New Roman"/>
                <a:cs typeface="Times New Roman"/>
              </a:defRPr>
            </a:pPr>
            <a:r>
              <a:rPr sz="2625" b="1">
                <a:solidFill>
                  <a:srgbClr val="000000"/>
                </a:solidFill>
                <a:latin typeface="Times New Roman"/>
                <a:ea typeface="Times New Roman"/>
                <a:cs typeface="Times New Roman"/>
              </a:rPr>
              <a:t>Our trained components use those descriptions</a:t>
            </a:r>
          </a:p>
        </p:txBody>
      </p:sp>
      <p:sp>
        <p:nvSpPr>
          <p:cNvPr id="7" name="">
            <a:extLst xmlns:a="http://schemas.openxmlformats.org/drawingml/2006/main">
              <a:ext uri="{FF2B5EF4-FFF2-40B4-BE49-F238E27FC236}">
                <a16:creationId xmlns:a16="http://schemas.microsoft.com/office/drawing/2014/main" id="{4B018587-6F07-45AD-B2DB-10AAADA0E47E}"/>
              </a:ext>
            </a:extLst>
          </p:cNvPr>
          <p:cNvSpPr>
            <a:spLocks xmlns:a="http://schemas.openxmlformats.org/drawingml/2006/main" noGrp="1"/>
          </p:cNvSpPr>
          <p:nvPr/>
        </p:nvSpPr>
        <p:spPr>
          <a:xfrm xmlns:a="http://schemas.openxmlformats.org/drawingml/2006/main">
            <a:off x="685800" y="4048125"/>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E92 adjusts the detection score</a:t>
            </a:r>
          </a:p>
        </p:txBody>
      </p:sp>
      <p:sp>
        <p:nvSpPr>
          <p:cNvPr id="8" name="">
            <a:extLst xmlns:a="http://schemas.openxmlformats.org/drawingml/2006/main">
              <a:ext uri="{FF2B5EF4-FFF2-40B4-BE49-F238E27FC236}">
                <a16:creationId xmlns:a16="http://schemas.microsoft.com/office/drawing/2014/main" id="{9B0D38BC-12DA-4155-9ABF-1275E24A2DAF}"/>
              </a:ext>
            </a:extLst>
          </p:cNvPr>
          <p:cNvSpPr>
            <a:spLocks xmlns:a="http://schemas.openxmlformats.org/drawingml/2006/main" noGrp="1"/>
          </p:cNvSpPr>
          <p:nvPr/>
        </p:nvSpPr>
        <p:spPr>
          <a:xfrm xmlns:a="http://schemas.openxmlformats.org/drawingml/2006/main">
            <a:off x="685800" y="5219700"/>
            <a:ext cx="108204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Python and PyTorch for modelling</a:t>
            </a:r>
          </a:p>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FastAPI and React for the local demo</a:t>
            </a:r>
          </a:p>
        </p:txBody>
      </p:sp>
    </p:spTree>
    <p:extLst>
      <p:ext uri="{BB962C8B-B14F-4D97-AF65-F5344CB8AC3E}">
        <p14:creationId xmlns:p14="http://schemas.microsoft.com/office/powerpoint/2010/main" val="201496798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620BDF-0FB9-4B94-B4D5-E80311BEBDCC}"/>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5. Training and development data</a:t>
            </a:r>
          </a:p>
        </p:txBody>
      </p:sp>
      <p:sp>
        <p:nvSpPr>
          <p:cNvPr id="2" name="">
            <a:extLst xmlns:a="http://schemas.openxmlformats.org/drawingml/2006/main">
              <a:ext uri="{FF2B5EF4-FFF2-40B4-BE49-F238E27FC236}">
                <a16:creationId xmlns:a16="http://schemas.microsoft.com/office/drawing/2014/main" id="{AE0F2389-077B-442D-A7C3-8704D8A7357C}"/>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1F3DC100-1FC5-49FC-AC5C-412FBB12F0CD}"/>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5</a:t>
            </a:r>
          </a:p>
        </p:txBody>
      </p:sp>
      <p:sp>
        <p:nvSpPr>
          <p:cNvPr id="4" name="">
            <a:extLst xmlns:a="http://schemas.openxmlformats.org/drawingml/2006/main">
              <a:ext uri="{FF2B5EF4-FFF2-40B4-BE49-F238E27FC236}">
                <a16:creationId xmlns:a16="http://schemas.microsoft.com/office/drawing/2014/main" id="{AB1AAFE3-2AE7-4320-8C76-B24B105BE3F8}"/>
              </a:ext>
            </a:extLst>
          </p:cNvPr>
          <p:cNvSpPr>
            <a:spLocks xmlns:a="http://schemas.openxmlformats.org/drawingml/2006/main" noGrp="1"/>
          </p:cNvSpPr>
          <p:nvPr/>
        </p:nvSpPr>
        <p:spPr>
          <a:xfrm xmlns:a="http://schemas.openxmlformats.org/drawingml/2006/main">
            <a:off x="685800" y="15240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00000"/>
                </a:solidFill>
                <a:latin typeface="Times New Roman"/>
                <a:ea typeface="Times New Roman"/>
                <a:cs typeface="Times New Roman"/>
              </a:defRPr>
            </a:pPr>
            <a:r>
              <a:rPr sz="2325" b="0">
                <a:solidFill>
                  <a:srgbClr val="000000"/>
                </a:solidFill>
                <a:latin typeface="Times New Roman"/>
                <a:ea typeface="Times New Roman"/>
                <a:cs typeface="Times New Roman"/>
              </a:rPr>
              <a:t>Table 2 separates learning from repeated comparison.</a:t>
            </a:r>
          </a:p>
        </p:txBody>
      </p:sp>
      <p:sp>
        <p:nvSpPr>
          <p:cNvPr id="5" name="">
            <a:extLst xmlns:a="http://schemas.openxmlformats.org/drawingml/2006/main">
              <a:ext uri="{FF2B5EF4-FFF2-40B4-BE49-F238E27FC236}">
                <a16:creationId xmlns:a16="http://schemas.microsoft.com/office/drawing/2014/main" id="{E46BE2FF-532B-4FE3-B5B3-28F266A0FBD1}"/>
              </a:ext>
            </a:extLst>
          </p:cNvPr>
          <p:cNvSpPr>
            <a:spLocks xmlns:a="http://schemas.openxmlformats.org/drawingml/2006/main" noGrp="1"/>
          </p:cNvSpPr>
          <p:nvPr/>
        </p:nvSpPr>
        <p:spPr>
          <a:xfrm xmlns:a="http://schemas.openxmlformats.org/drawingml/2006/main">
            <a:off x="685800" y="21431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2. The main E92 data groups.</a:t>
            </a:r>
          </a:p>
        </p:txBody>
      </p:sp>
      <p:graphicFrame>
        <p:nvGraphicFramePr>
          <p:cNvPr id="13" name=""/>
          <p:cNvGraphicFramePr/>
          <p:nvPr/>
        </p:nvGraphicFramePr>
        <p:xfrm>
          <a:off xmlns:a="http://schemas.openxmlformats.org/drawingml/2006/main" x="685800" y="2762250"/>
          <a:ext xmlns:a="http://schemas.openxmlformats.org/drawingml/2006/main" cx="10820400" cy="2000250"/>
        </p:xfrm>
        <a:graphic xmlns:a="http://schemas.openxmlformats.org/drawingml/2006/main">
          <a:graphicData uri="http://schemas.openxmlformats.org/drawingml/2006/table">
            <a:tbl>
              <a:tblPr/>
              <a:tblGrid>
                <a:gridCol w="3190875"/>
                <a:gridCol w="3238500"/>
                <a:gridCol w="4391025"/>
              </a:tblGrid>
              <a:tr h="666750">
                <a:tc>
                  <a:txBody>
                    <a:bodyPr>
                      <a:noAutofit/>
                    </a:bodyPr>
                    <a:lstStyle/>
                    <a:p>
                      <a:pPr algn="l"/>
                      <a:r>
                        <a:rPr sz="2025" b="1">
                          <a:solidFill>
                            <a:srgbClr val="000000"/>
                          </a:solidFill>
                          <a:latin typeface="Times New Roman"/>
                          <a:ea typeface="Times New Roman"/>
                          <a:cs typeface="Times New Roman"/>
                        </a:rPr>
                        <a:t>Purpose</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Images</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Use</a:t>
                      </a:r>
                    </a:p>
                  </a:txBody>
                  <a:tcPr marL="91440" marR="91440" marT="45720" marB="45720">
                    <a:solidFill>
                      <a:srgbClr val="EEEEEE"/>
                    </a:solidFill>
                  </a:tcPr>
                </a:tc>
              </a:tr>
              <a:tr h="666750">
                <a:tc>
                  <a:txBody>
                    <a:bodyPr>
                      <a:noAutofit/>
                    </a:bodyPr>
                    <a:lstStyle/>
                    <a:p>
                      <a:pPr algn="l"/>
                      <a:r>
                        <a:rPr sz="2025" b="0">
                          <a:solidFill>
                            <a:srgbClr val="000000"/>
                          </a:solidFill>
                          <a:latin typeface="Times New Roman"/>
                          <a:ea typeface="Times New Roman"/>
                          <a:cs typeface="Times New Roman"/>
                        </a:rPr>
                        <a:t>Training</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12,269</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Learn the model</a:t>
                      </a:r>
                    </a:p>
                  </a:txBody>
                  <a:tcPr marL="91440" marR="91440" marT="45720" marB="45720">
                    <a:solidFill>
                      <a:srgbClr val="FFFFFF"/>
                    </a:solidFill>
                  </a:tcPr>
                </a:tc>
              </a:tr>
              <a:tr h="666750">
                <a:tc>
                  <a:txBody>
                    <a:bodyPr>
                      <a:noAutofit/>
                    </a:bodyPr>
                    <a:lstStyle/>
                    <a:p>
                      <a:pPr algn="l"/>
                      <a:r>
                        <a:rPr sz="2025" b="0">
                          <a:solidFill>
                            <a:srgbClr val="000000"/>
                          </a:solidFill>
                          <a:latin typeface="Times New Roman"/>
                          <a:ea typeface="Times New Roman"/>
                          <a:cs typeface="Times New Roman"/>
                        </a:rPr>
                        <a:t>Development</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160 real + 160 AI</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Compare candidates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3831599D-00D5-4320-9F1C-D434601A1856}"/>
              </a:ext>
            </a:extLst>
          </p:cNvPr>
          <p:cNvSpPr>
            <a:spLocks xmlns:a="http://schemas.openxmlformats.org/drawingml/2006/main" noGrp="1"/>
          </p:cNvSpPr>
          <p:nvPr/>
        </p:nvSpPr>
        <p:spPr>
          <a:xfrm xmlns:a="http://schemas.openxmlformats.org/drawingml/2006/main">
            <a:off x="685800" y="52197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Four training views per image: 49,076 views</a:t>
            </a:r>
          </a:p>
          <a:p xmlns:a="http://schemas.openxmlformats.org/drawingml/2006/main">
            <a:pPr algn="l">
              <a:defRPr sz="2175" b="0">
                <a:solidFill>
                  <a:srgbClr val="000000"/>
                </a:solidFill>
                <a:latin typeface="Times New Roman"/>
                <a:ea typeface="Times New Roman"/>
                <a:cs typeface="Times New Roman"/>
              </a:defRPr>
            </a:pPr>
            <a:r>
              <a:rPr sz="2175" b="0">
                <a:solidFill>
                  <a:srgbClr val="000000"/>
                </a:solidFill>
                <a:latin typeface="Times New Roman"/>
                <a:ea typeface="Times New Roman"/>
                <a:cs typeface="Times New Roman"/>
              </a:rPr>
              <a:t>Repeated views do not create independent photographs.</a:t>
            </a:r>
          </a:p>
        </p:txBody>
      </p:sp>
    </p:spTree>
    <p:extLst>
      <p:ext uri="{BB962C8B-B14F-4D97-AF65-F5344CB8AC3E}">
        <p14:creationId xmlns:p14="http://schemas.microsoft.com/office/powerpoint/2010/main" val="17543871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3EF87FD-36FB-4F20-A65E-8A9B9D6C9927}"/>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6. Fewer false warnings on real images</a:t>
            </a:r>
          </a:p>
        </p:txBody>
      </p:sp>
      <p:sp>
        <p:nvSpPr>
          <p:cNvPr id="2" name="">
            <a:extLst xmlns:a="http://schemas.openxmlformats.org/drawingml/2006/main">
              <a:ext uri="{FF2B5EF4-FFF2-40B4-BE49-F238E27FC236}">
                <a16:creationId xmlns:a16="http://schemas.microsoft.com/office/drawing/2014/main" id="{6A7EB8A3-9B38-4E43-9272-D09AAFAFA33F}"/>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17A1C1FC-E836-4FB8-84F7-EAA147275D8A}"/>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6</a:t>
            </a:r>
          </a:p>
        </p:txBody>
      </p:sp>
      <p:sp>
        <p:nvSpPr>
          <p:cNvPr id="4" name="">
            <a:extLst xmlns:a="http://schemas.openxmlformats.org/drawingml/2006/main">
              <a:ext uri="{FF2B5EF4-FFF2-40B4-BE49-F238E27FC236}">
                <a16:creationId xmlns:a16="http://schemas.microsoft.com/office/drawing/2014/main" id="{774EF4D1-919F-4523-91DD-20EC4E0EE4F6}"/>
              </a:ext>
            </a:extLst>
          </p:cNvPr>
          <p:cNvSpPr>
            <a:spLocks xmlns:a="http://schemas.openxmlformats.org/drawingml/2006/main" noGrp="1"/>
          </p:cNvSpPr>
          <p:nvPr/>
        </p:nvSpPr>
        <p:spPr>
          <a:xfrm xmlns:a="http://schemas.openxmlformats.org/drawingml/2006/main">
            <a:off x="685800" y="1476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000000"/>
                </a:solidFill>
                <a:latin typeface="Times New Roman"/>
                <a:ea typeface="Times New Roman"/>
                <a:cs typeface="Times New Roman"/>
              </a:defRPr>
            </a:pPr>
            <a:r>
              <a:rPr sz="2100" b="0">
                <a:solidFill>
                  <a:srgbClr val="000000"/>
                </a:solidFill>
                <a:latin typeface="Times New Roman"/>
                <a:ea typeface="Times New Roman"/>
                <a:cs typeface="Times New Roman"/>
              </a:rPr>
              <a:t>Figure 1 compares the same 160 real images in each condition.</a:t>
            </a:r>
          </a:p>
        </p:txBody>
      </p:sp>
      <p:graphicFrame>
        <p:nvGraphicFramePr>
          <p:cNvPr id="12" name="Chart"/>
          <p:cNvGraphicFramePr/>
          <p:nvPr/>
        </p:nvGraphicFramePr>
        <p:xfrm>
          <a:off xmlns:a="http://schemas.openxmlformats.org/drawingml/2006/main" x="1143000" y="2057400"/>
          <a:ext xmlns:a="http://schemas.openxmlformats.org/drawingml/2006/main" cx="9906000" cy="3143250"/>
        </p:xfrm>
        <a:graphic xmlns:a="http://schemas.openxmlformats.org/drawingml/2006/main">
          <a:graphicData uri="http://schemas.openxmlformats.org/drawingml/2006/chart">
            <c:chart xmlns:r="http://schemas.openxmlformats.org/officeDocument/2006/relationships" xmlns:c="http://schemas.openxmlformats.org/drawingml/2006/chart" r:id="Rdf260e3c03544a0d"/>
          </a:graphicData>
        </a:graphic>
      </p:graphicFrame>
      <p:sp>
        <p:nvSpPr>
          <p:cNvPr id="6" name="">
            <a:extLst xmlns:a="http://schemas.openxmlformats.org/drawingml/2006/main">
              <a:ext uri="{FF2B5EF4-FFF2-40B4-BE49-F238E27FC236}">
                <a16:creationId xmlns:a16="http://schemas.microsoft.com/office/drawing/2014/main" id="{B5F8D5EE-220C-42B2-8466-2307F6DC4BD9}"/>
              </a:ext>
            </a:extLst>
          </p:cNvPr>
          <p:cNvSpPr>
            <a:spLocks xmlns:a="http://schemas.openxmlformats.org/drawingml/2006/main" noGrp="1"/>
          </p:cNvSpPr>
          <p:nvPr/>
        </p:nvSpPr>
        <p:spPr>
          <a:xfrm xmlns:a="http://schemas.openxmlformats.org/drawingml/2006/main">
            <a:off x="685800" y="53149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Figure 1. False AI warnings on reused development images.</a:t>
            </a:r>
          </a:p>
        </p:txBody>
      </p:sp>
      <p:sp>
        <p:nvSpPr>
          <p:cNvPr id="7" name="">
            <a:extLst xmlns:a="http://schemas.openxmlformats.org/drawingml/2006/main">
              <a:ext uri="{FF2B5EF4-FFF2-40B4-BE49-F238E27FC236}">
                <a16:creationId xmlns:a16="http://schemas.microsoft.com/office/drawing/2014/main" id="{ADF959E7-0FF3-4C86-A637-7550E008DD6F}"/>
              </a:ext>
            </a:extLst>
          </p:cNvPr>
          <p:cNvSpPr>
            <a:spLocks xmlns:a="http://schemas.openxmlformats.org/drawingml/2006/main" noGrp="1"/>
          </p:cNvSpPr>
          <p:nvPr/>
        </p:nvSpPr>
        <p:spPr>
          <a:xfrm xmlns:a="http://schemas.openxmlformats.org/drawingml/2006/main">
            <a:off x="685800" y="58102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1">
                <a:solidFill>
                  <a:srgbClr val="000000"/>
                </a:solidFill>
                <a:latin typeface="Times New Roman"/>
                <a:ea typeface="Times New Roman"/>
                <a:cs typeface="Times New Roman"/>
              </a:defRPr>
            </a:pPr>
            <a:r>
              <a:rPr sz="2250" b="1">
                <a:solidFill>
                  <a:srgbClr val="000000"/>
                </a:solidFill>
                <a:latin typeface="Times New Roman"/>
                <a:ea typeface="Times New Roman"/>
                <a:cs typeface="Times New Roman"/>
              </a:rPr>
              <a:t>E92 detected 159/160 AI images in each condition.</a:t>
            </a:r>
          </a:p>
        </p:txBody>
      </p:sp>
    </p:spTree>
    <p:extLst>
      <p:ext uri="{BB962C8B-B14F-4D97-AF65-F5344CB8AC3E}">
        <p14:creationId xmlns:p14="http://schemas.microsoft.com/office/powerpoint/2010/main" val="166923415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00E0D4-D35C-4D57-BE50-714DE20AD2E3}"/>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7. Full acceptance remained incomplete</a:t>
            </a:r>
          </a:p>
        </p:txBody>
      </p:sp>
      <p:sp>
        <p:nvSpPr>
          <p:cNvPr id="2" name="">
            <a:extLst xmlns:a="http://schemas.openxmlformats.org/drawingml/2006/main">
              <a:ext uri="{FF2B5EF4-FFF2-40B4-BE49-F238E27FC236}">
                <a16:creationId xmlns:a16="http://schemas.microsoft.com/office/drawing/2014/main" id="{747962A7-7248-4F7B-812D-090E2D992092}"/>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4B8B7B2E-DC77-4327-896C-D2BC0356953B}"/>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7</a:t>
            </a:r>
          </a:p>
        </p:txBody>
      </p:sp>
      <p:sp>
        <p:nvSpPr>
          <p:cNvPr id="4" name="">
            <a:extLst xmlns:a="http://schemas.openxmlformats.org/drawingml/2006/main">
              <a:ext uri="{FF2B5EF4-FFF2-40B4-BE49-F238E27FC236}">
                <a16:creationId xmlns:a16="http://schemas.microsoft.com/office/drawing/2014/main" id="{A98DCC02-8C42-4EF5-A73B-4400C3351C2B}"/>
              </a:ext>
            </a:extLst>
          </p:cNvPr>
          <p:cNvSpPr>
            <a:spLocks xmlns:a="http://schemas.openxmlformats.org/drawingml/2006/main" noGrp="1"/>
          </p:cNvSpPr>
          <p:nvPr/>
        </p:nvSpPr>
        <p:spPr>
          <a:xfrm xmlns:a="http://schemas.openxmlformats.org/drawingml/2006/main">
            <a:off x="685800" y="16764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20/20 numerical development checks passed</a:t>
            </a:r>
          </a:p>
        </p:txBody>
      </p:sp>
      <p:sp>
        <p:nvSpPr>
          <p:cNvPr id="5" name="">
            <a:extLst xmlns:a="http://schemas.openxmlformats.org/drawingml/2006/main">
              <a:ext uri="{FF2B5EF4-FFF2-40B4-BE49-F238E27FC236}">
                <a16:creationId xmlns:a16="http://schemas.microsoft.com/office/drawing/2014/main" id="{32EF0442-9358-49EF-A001-0C7B0743CA32}"/>
              </a:ext>
            </a:extLst>
          </p:cNvPr>
          <p:cNvSpPr>
            <a:spLocks xmlns:a="http://schemas.openxmlformats.org/drawingml/2006/main" noGrp="1"/>
          </p:cNvSpPr>
          <p:nvPr/>
        </p:nvSpPr>
        <p:spPr>
          <a:xfrm xmlns:a="http://schemas.openxmlformats.org/drawingml/2006/main">
            <a:off x="685800" y="28956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One AI image detected by E43 became a new miss.</a:t>
            </a:r>
          </a:p>
        </p:txBody>
      </p:sp>
      <p:sp>
        <p:nvSpPr>
          <p:cNvPr id="6" name="">
            <a:extLst xmlns:a="http://schemas.openxmlformats.org/drawingml/2006/main">
              <a:ext uri="{FF2B5EF4-FFF2-40B4-BE49-F238E27FC236}">
                <a16:creationId xmlns:a16="http://schemas.microsoft.com/office/drawing/2014/main" id="{1603C6C6-2BAA-4082-9506-598D9BB628F3}"/>
              </a:ext>
            </a:extLst>
          </p:cNvPr>
          <p:cNvSpPr>
            <a:spLocks xmlns:a="http://schemas.openxmlformats.org/drawingml/2006/main" noGrp="1"/>
          </p:cNvSpPr>
          <p:nvPr/>
        </p:nvSpPr>
        <p:spPr>
          <a:xfrm xmlns:a="http://schemas.openxmlformats.org/drawingml/2006/main">
            <a:off x="685800" y="4000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625" b="1">
                <a:solidFill>
                  <a:srgbClr val="000000"/>
                </a:solidFill>
                <a:latin typeface="Times New Roman"/>
                <a:ea typeface="Times New Roman"/>
                <a:cs typeface="Times New Roman"/>
              </a:defRPr>
            </a:pPr>
            <a:r>
              <a:rPr sz="2625" b="1">
                <a:solidFill>
                  <a:srgbClr val="000000"/>
                </a:solidFill>
                <a:latin typeface="Times New Roman"/>
                <a:ea typeface="Times New Roman"/>
                <a:cs typeface="Times New Roman"/>
              </a:rPr>
              <a:t>That separate protection rule failed.</a:t>
            </a:r>
          </a:p>
        </p:txBody>
      </p:sp>
      <p:sp>
        <p:nvSpPr>
          <p:cNvPr id="7" name="">
            <a:extLst xmlns:a="http://schemas.openxmlformats.org/drawingml/2006/main">
              <a:ext uri="{FF2B5EF4-FFF2-40B4-BE49-F238E27FC236}">
                <a16:creationId xmlns:a16="http://schemas.microsoft.com/office/drawing/2014/main" id="{404A4BF5-2F13-4A6A-8993-DAB393FC2BBF}"/>
              </a:ext>
            </a:extLst>
          </p:cNvPr>
          <p:cNvSpPr>
            <a:spLocks xmlns:a="http://schemas.openxmlformats.org/drawingml/2006/main" noGrp="1"/>
          </p:cNvSpPr>
          <p:nvPr/>
        </p:nvSpPr>
        <p:spPr>
          <a:xfrm xmlns:a="http://schemas.openxmlformats.org/drawingml/2006/main">
            <a:off x="685800" y="523875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A fresh, independent final test is still needed.</a:t>
            </a:r>
          </a:p>
        </p:txBody>
      </p:sp>
    </p:spTree>
    <p:extLst>
      <p:ext uri="{BB962C8B-B14F-4D97-AF65-F5344CB8AC3E}">
        <p14:creationId xmlns:p14="http://schemas.microsoft.com/office/powerpoint/2010/main" val="1701795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43A69EA-C53D-4E45-A1E0-551B063450C6}"/>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8. The local web demonstration</a:t>
            </a:r>
          </a:p>
        </p:txBody>
      </p:sp>
      <p:sp>
        <p:nvSpPr>
          <p:cNvPr id="2" name="">
            <a:extLst xmlns:a="http://schemas.openxmlformats.org/drawingml/2006/main">
              <a:ext uri="{FF2B5EF4-FFF2-40B4-BE49-F238E27FC236}">
                <a16:creationId xmlns:a16="http://schemas.microsoft.com/office/drawing/2014/main" id="{915F335A-D754-4A90-A486-4C611E451E46}"/>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8E791E69-E6C6-4F2A-BE0C-F69318E6BC64}"/>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8</a:t>
            </a:r>
          </a:p>
        </p:txBody>
      </p:sp>
      <p:sp>
        <p:nvSpPr>
          <p:cNvPr id="4" name="">
            <a:extLst xmlns:a="http://schemas.openxmlformats.org/drawingml/2006/main">
              <a:ext uri="{FF2B5EF4-FFF2-40B4-BE49-F238E27FC236}">
                <a16:creationId xmlns:a16="http://schemas.microsoft.com/office/drawing/2014/main" id="{8D9EBFB3-4724-4297-A8C4-86F166FBC6FB}"/>
              </a:ext>
            </a:extLst>
          </p:cNvPr>
          <p:cNvSpPr>
            <a:spLocks xmlns:a="http://schemas.openxmlformats.org/drawingml/2006/main" noGrp="1"/>
          </p:cNvSpPr>
          <p:nvPr/>
        </p:nvSpPr>
        <p:spPr>
          <a:xfrm xmlns:a="http://schemas.openxmlformats.org/drawingml/2006/main">
            <a:off x="685800" y="15525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An upload receives one of the outcomes in Table 3.</a:t>
            </a:r>
          </a:p>
        </p:txBody>
      </p:sp>
      <p:sp>
        <p:nvSpPr>
          <p:cNvPr id="5" name="">
            <a:extLst xmlns:a="http://schemas.openxmlformats.org/drawingml/2006/main">
              <a:ext uri="{FF2B5EF4-FFF2-40B4-BE49-F238E27FC236}">
                <a16:creationId xmlns:a16="http://schemas.microsoft.com/office/drawing/2014/main" id="{21CA8947-9559-4CC2-9FCB-0B4FE92DB3E3}"/>
              </a:ext>
            </a:extLst>
          </p:cNvPr>
          <p:cNvSpPr>
            <a:spLocks xmlns:a="http://schemas.openxmlformats.org/drawingml/2006/main" noGrp="1"/>
          </p:cNvSpPr>
          <p:nvPr/>
        </p:nvSpPr>
        <p:spPr>
          <a:xfrm xmlns:a="http://schemas.openxmlformats.org/drawingml/2006/main">
            <a:off x="685800" y="21240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3. How the demo communicates evidence.</a:t>
            </a:r>
          </a:p>
        </p:txBody>
      </p:sp>
      <p:graphicFrame>
        <p:nvGraphicFramePr>
          <p:cNvPr id="13" name=""/>
          <p:cNvGraphicFramePr/>
          <p:nvPr/>
        </p:nvGraphicFramePr>
        <p:xfrm>
          <a:off xmlns:a="http://schemas.openxmlformats.org/drawingml/2006/main" x="685800" y="2743200"/>
          <a:ext xmlns:a="http://schemas.openxmlformats.org/drawingml/2006/main" cx="10820400" cy="2333625"/>
        </p:xfrm>
        <a:graphic xmlns:a="http://schemas.openxmlformats.org/drawingml/2006/main">
          <a:graphicData uri="http://schemas.openxmlformats.org/drawingml/2006/table">
            <a:tbl>
              <a:tblPr/>
              <a:tblGrid>
                <a:gridCol w="3524250"/>
                <a:gridCol w="7296150"/>
              </a:tblGrid>
              <a:tr h="583406">
                <a:tc>
                  <a:txBody>
                    <a:bodyPr>
                      <a:noAutofit/>
                    </a:bodyPr>
                    <a:lstStyle/>
                    <a:p>
                      <a:pPr algn="l"/>
                      <a:r>
                        <a:rPr sz="2025" b="1">
                          <a:solidFill>
                            <a:srgbClr val="000000"/>
                          </a:solidFill>
                          <a:latin typeface="Times New Roman"/>
                          <a:ea typeface="Times New Roman"/>
                          <a:cs typeface="Times New Roman"/>
                        </a:rPr>
                        <a:t>Result</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Meaning</a:t>
                      </a:r>
                    </a:p>
                  </a:txBody>
                  <a:tcPr marL="91440" marR="91440" marT="45720" marB="45720">
                    <a:solidFill>
                      <a:srgbClr val="EEEEEE"/>
                    </a:solidFill>
                  </a:tcPr>
                </a:tc>
              </a:tr>
              <a:tr h="583406">
                <a:tc>
                  <a:txBody>
                    <a:bodyPr>
                      <a:noAutofit/>
                    </a:bodyPr>
                    <a:lstStyle/>
                    <a:p>
                      <a:pPr algn="l"/>
                      <a:r>
                        <a:rPr sz="2025" b="0">
                          <a:solidFill>
                            <a:srgbClr val="000000"/>
                          </a:solidFill>
                          <a:latin typeface="Times New Roman"/>
                          <a:ea typeface="Times New Roman"/>
                          <a:cs typeface="Times New Roman"/>
                        </a:rPr>
                        <a:t>AI evidence</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The detector found a warning signal</a:t>
                      </a:r>
                    </a:p>
                  </a:txBody>
                  <a:tcPr marL="91440" marR="91440" marT="45720" marB="45720">
                    <a:solidFill>
                      <a:srgbClr val="FFFFFF"/>
                    </a:solidFill>
                  </a:tcPr>
                </a:tc>
              </a:tr>
              <a:tr h="583406">
                <a:tc>
                  <a:txBody>
                    <a:bodyPr>
                      <a:noAutofit/>
                    </a:bodyPr>
                    <a:lstStyle/>
                    <a:p>
                      <a:pPr algn="l"/>
                      <a:r>
                        <a:rPr sz="2025" b="0">
                          <a:solidFill>
                            <a:srgbClr val="000000"/>
                          </a:solidFill>
                          <a:latin typeface="Times New Roman"/>
                          <a:ea typeface="Times New Roman"/>
                          <a:cs typeface="Times New Roman"/>
                        </a:rPr>
                        <a:t>No clear AI evidence</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The detector found insufficient evidence</a:t>
                      </a:r>
                    </a:p>
                  </a:txBody>
                  <a:tcPr marL="91440" marR="91440" marT="45720" marB="45720">
                    <a:solidFill>
                      <a:srgbClr val="FFFFFF"/>
                    </a:solidFill>
                  </a:tcPr>
                </a:tc>
              </a:tr>
              <a:tr h="583406">
                <a:tc>
                  <a:txBody>
                    <a:bodyPr>
                      <a:noAutofit/>
                    </a:bodyPr>
                    <a:lstStyle/>
                    <a:p>
                      <a:pPr algn="l"/>
                      <a:r>
                        <a:rPr sz="2025" b="0">
                          <a:solidFill>
                            <a:srgbClr val="000000"/>
                          </a:solidFill>
                          <a:latin typeface="Times New Roman"/>
                          <a:ea typeface="Times New Roman"/>
                          <a:cs typeface="Times New Roman"/>
                        </a:rPr>
                        <a:t>Uncertain</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The checks do not support a clear outcome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B827A3F-1121-436C-9390-8053599EC31B}"/>
              </a:ext>
            </a:extLst>
          </p:cNvPr>
          <p:cNvSpPr>
            <a:spLocks xmlns:a="http://schemas.openxmlformats.org/drawingml/2006/main" noGrp="1"/>
          </p:cNvSpPr>
          <p:nvPr/>
        </p:nvSpPr>
        <p:spPr>
          <a:xfrm xmlns:a="http://schemas.openxmlformats.org/drawingml/2006/main">
            <a:off x="685800" y="538162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The score measures detector response.</a:t>
            </a:r>
          </a:p>
          <a:p xmlns:a="http://schemas.openxmlformats.org/drawingml/2006/main">
            <a:pPr algn="l">
              <a:defRPr sz="2250" b="0">
                <a:solidFill>
                  <a:srgbClr val="000000"/>
                </a:solidFill>
                <a:latin typeface="Times New Roman"/>
                <a:ea typeface="Times New Roman"/>
                <a:cs typeface="Times New Roman"/>
              </a:defRPr>
            </a:pPr>
            <a:r>
              <a:rPr sz="2250" b="0">
                <a:solidFill>
                  <a:srgbClr val="000000"/>
                </a:solidFill>
                <a:latin typeface="Times New Roman"/>
                <a:ea typeface="Times New Roman"/>
                <a:cs typeface="Times New Roman"/>
              </a:rPr>
              <a:t>It does not certify the photograph’s authenticity.</a:t>
            </a:r>
          </a:p>
        </p:txBody>
      </p:sp>
    </p:spTree>
    <p:extLst>
      <p:ext uri="{BB962C8B-B14F-4D97-AF65-F5344CB8AC3E}">
        <p14:creationId xmlns:p14="http://schemas.microsoft.com/office/powerpoint/2010/main" val="21080046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B492BC-72B7-42A3-8E30-88284DD5743A}"/>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9. Model2 remains experimental</a:t>
            </a:r>
          </a:p>
        </p:txBody>
      </p:sp>
      <p:sp>
        <p:nvSpPr>
          <p:cNvPr id="2" name="">
            <a:extLst xmlns:a="http://schemas.openxmlformats.org/drawingml/2006/main">
              <a:ext uri="{FF2B5EF4-FFF2-40B4-BE49-F238E27FC236}">
                <a16:creationId xmlns:a16="http://schemas.microsoft.com/office/drawing/2014/main" id="{4796830C-E25B-4B7D-BF67-8E7E8D28CFB5}"/>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79272833-CA79-4025-9EF3-9887D0A70748}"/>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9</a:t>
            </a:r>
          </a:p>
        </p:txBody>
      </p:sp>
      <p:sp>
        <p:nvSpPr>
          <p:cNvPr id="4" name="">
            <a:extLst xmlns:a="http://schemas.openxmlformats.org/drawingml/2006/main">
              <a:ext uri="{FF2B5EF4-FFF2-40B4-BE49-F238E27FC236}">
                <a16:creationId xmlns:a16="http://schemas.microsoft.com/office/drawing/2014/main" id="{BA99CC43-A28C-4584-9833-529105258821}"/>
              </a:ext>
            </a:extLst>
          </p:cNvPr>
          <p:cNvSpPr>
            <a:spLocks xmlns:a="http://schemas.openxmlformats.org/drawingml/2006/main" noGrp="1"/>
          </p:cNvSpPr>
          <p:nvPr/>
        </p:nvSpPr>
        <p:spPr>
          <a:xfrm xmlns:a="http://schemas.openxmlformats.org/drawingml/2006/main">
            <a:off x="685800" y="16478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Task: locate an AI-edited region</a:t>
            </a:r>
          </a:p>
        </p:txBody>
      </p:sp>
      <p:sp>
        <p:nvSpPr>
          <p:cNvPr id="5" name="">
            <a:extLst xmlns:a="http://schemas.openxmlformats.org/drawingml/2006/main">
              <a:ext uri="{FF2B5EF4-FFF2-40B4-BE49-F238E27FC236}">
                <a16:creationId xmlns:a16="http://schemas.microsoft.com/office/drawing/2014/main" id="{C7D39C35-0944-4AA8-9F8A-207F3EB0D08D}"/>
              </a:ext>
            </a:extLst>
          </p:cNvPr>
          <p:cNvSpPr>
            <a:spLocks xmlns:a="http://schemas.openxmlformats.org/drawingml/2006/main" noGrp="1"/>
          </p:cNvSpPr>
          <p:nvPr/>
        </p:nvSpPr>
        <p:spPr>
          <a:xfrm xmlns:a="http://schemas.openxmlformats.org/drawingml/2006/main">
            <a:off x="685800" y="26193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Data: source overlap and unclear edit masks</a:t>
            </a:r>
          </a:p>
        </p:txBody>
      </p:sp>
      <p:sp>
        <p:nvSpPr>
          <p:cNvPr id="6" name="">
            <a:extLst xmlns:a="http://schemas.openxmlformats.org/drawingml/2006/main">
              <a:ext uri="{FF2B5EF4-FFF2-40B4-BE49-F238E27FC236}">
                <a16:creationId xmlns:a16="http://schemas.microsoft.com/office/drawing/2014/main" id="{C3458452-C469-4624-BE7E-44ECD86A98B0}"/>
              </a:ext>
            </a:extLst>
          </p:cNvPr>
          <p:cNvSpPr>
            <a:spLocks xmlns:a="http://schemas.openxmlformats.org/drawingml/2006/main" noGrp="1"/>
          </p:cNvSpPr>
          <p:nvPr/>
        </p:nvSpPr>
        <p:spPr>
          <a:xfrm xmlns:a="http://schemas.openxmlformats.org/drawingml/2006/main">
            <a:off x="685800" y="367665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Local generation also changed background pixels.</a:t>
            </a:r>
          </a:p>
          <a:p xmlns:a="http://schemas.openxmlformats.org/drawingml/2006/main">
            <a:pPr algn="l">
              <a:defRPr sz="2400" b="0">
                <a:solidFill>
                  <a:srgbClr val="000000"/>
                </a:solidFill>
                <a:latin typeface="Times New Roman"/>
                <a:ea typeface="Times New Roman"/>
                <a:cs typeface="Times New Roman"/>
              </a:defRPr>
            </a:pPr>
            <a:r>
              <a:rPr sz="2400" b="0">
                <a:solidFill>
                  <a:srgbClr val="000000"/>
                </a:solidFill>
                <a:latin typeface="Times New Roman"/>
                <a:ea typeface="Times New Roman"/>
                <a:cs typeface="Times New Roman"/>
              </a:rPr>
              <a:t>Controlled pilot: 16 reused images, one editor.</a:t>
            </a:r>
          </a:p>
        </p:txBody>
      </p:sp>
      <p:sp>
        <p:nvSpPr>
          <p:cNvPr id="7" name="">
            <a:extLst xmlns:a="http://schemas.openxmlformats.org/drawingml/2006/main">
              <a:ext uri="{FF2B5EF4-FFF2-40B4-BE49-F238E27FC236}">
                <a16:creationId xmlns:a16="http://schemas.microsoft.com/office/drawing/2014/main" id="{B5381D4A-7408-4038-AF6C-C1CA09F56735}"/>
              </a:ext>
            </a:extLst>
          </p:cNvPr>
          <p:cNvSpPr>
            <a:spLocks xmlns:a="http://schemas.openxmlformats.org/drawingml/2006/main" noGrp="1"/>
          </p:cNvSpPr>
          <p:nvPr/>
        </p:nvSpPr>
        <p:spPr>
          <a:xfrm xmlns:a="http://schemas.openxmlformats.org/drawingml/2006/main">
            <a:off x="685800" y="53149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0000"/>
                </a:solidFill>
                <a:latin typeface="Times New Roman"/>
                <a:ea typeface="Times New Roman"/>
                <a:cs typeface="Times New Roman"/>
              </a:defRPr>
            </a:pPr>
            <a:r>
              <a:rPr sz="2550" b="1">
                <a:solidFill>
                  <a:srgbClr val="000000"/>
                </a:solidFill>
                <a:latin typeface="Times New Roman"/>
                <a:ea typeface="Times New Roman"/>
                <a:cs typeface="Times New Roman"/>
              </a:rPr>
              <a:t>The candidate was rejected.</a:t>
            </a:r>
          </a:p>
        </p:txBody>
      </p:sp>
    </p:spTree>
    <p:extLst>
      <p:ext uri="{BB962C8B-B14F-4D97-AF65-F5344CB8AC3E}">
        <p14:creationId xmlns:p14="http://schemas.microsoft.com/office/powerpoint/2010/main" val="11770947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F5F9CB1-3CD2-410F-A75F-B19AC462FFEF}"/>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10. Outcome and next step</a:t>
            </a:r>
          </a:p>
        </p:txBody>
      </p:sp>
      <p:sp>
        <p:nvSpPr>
          <p:cNvPr id="2" name="">
            <a:extLst xmlns:a="http://schemas.openxmlformats.org/drawingml/2006/main">
              <a:ext uri="{FF2B5EF4-FFF2-40B4-BE49-F238E27FC236}">
                <a16:creationId xmlns:a16="http://schemas.microsoft.com/office/drawing/2014/main" id="{2821365A-C6D6-4EF9-BA98-87AD84307C9B}"/>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PixelProof research prototype</a:t>
            </a:r>
          </a:p>
        </p:txBody>
      </p:sp>
      <p:sp>
        <p:nvSpPr>
          <p:cNvPr id="3" name="">
            <a:extLst xmlns:a="http://schemas.openxmlformats.org/drawingml/2006/main">
              <a:ext uri="{FF2B5EF4-FFF2-40B4-BE49-F238E27FC236}">
                <a16:creationId xmlns:a16="http://schemas.microsoft.com/office/drawing/2014/main" id="{1CB344C8-AE5E-4FA9-9CDA-8E6C3E3DB5B6}"/>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10</a:t>
            </a:r>
          </a:p>
        </p:txBody>
      </p:sp>
      <p:sp>
        <p:nvSpPr>
          <p:cNvPr id="4" name="">
            <a:extLst xmlns:a="http://schemas.openxmlformats.org/drawingml/2006/main">
              <a:ext uri="{FF2B5EF4-FFF2-40B4-BE49-F238E27FC236}">
                <a16:creationId xmlns:a16="http://schemas.microsoft.com/office/drawing/2014/main" id="{575BEE01-8E95-4845-A3AF-755A5456328A}"/>
              </a:ext>
            </a:extLst>
          </p:cNvPr>
          <p:cNvSpPr>
            <a:spLocks xmlns:a="http://schemas.openxmlformats.org/drawingml/2006/main" noGrp="1"/>
          </p:cNvSpPr>
          <p:nvPr/>
        </p:nvSpPr>
        <p:spPr>
          <a:xfrm xmlns:a="http://schemas.openxmlformats.org/drawingml/2006/main">
            <a:off x="685800" y="14954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000000"/>
                </a:solidFill>
                <a:latin typeface="Times New Roman"/>
                <a:ea typeface="Times New Roman"/>
                <a:cs typeface="Times New Roman"/>
              </a:defRPr>
            </a:pPr>
            <a:r>
              <a:rPr sz="2325" b="0">
                <a:solidFill>
                  <a:srgbClr val="000000"/>
                </a:solidFill>
                <a:latin typeface="Times New Roman"/>
                <a:ea typeface="Times New Roman"/>
                <a:cs typeface="Times New Roman"/>
              </a:rPr>
              <a:t>Table 4 summarizes the outcome of the internship.</a:t>
            </a:r>
          </a:p>
        </p:txBody>
      </p:sp>
      <p:sp>
        <p:nvSpPr>
          <p:cNvPr id="5" name="">
            <a:extLst xmlns:a="http://schemas.openxmlformats.org/drawingml/2006/main">
              <a:ext uri="{FF2B5EF4-FFF2-40B4-BE49-F238E27FC236}">
                <a16:creationId xmlns:a16="http://schemas.microsoft.com/office/drawing/2014/main" id="{643B599B-6C85-4DDF-ABFC-15E79C91ACBF}"/>
              </a:ext>
            </a:extLst>
          </p:cNvPr>
          <p:cNvSpPr>
            <a:spLocks xmlns:a="http://schemas.openxmlformats.org/drawingml/2006/main" noGrp="1"/>
          </p:cNvSpPr>
          <p:nvPr/>
        </p:nvSpPr>
        <p:spPr>
          <a:xfrm xmlns:a="http://schemas.openxmlformats.org/drawingml/2006/main">
            <a:off x="685800" y="206692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ctr">
              <a:defRPr sz="1800" b="1">
                <a:solidFill>
                  <a:srgbClr val="000000"/>
                </a:solidFill>
                <a:latin typeface="Times New Roman"/>
                <a:ea typeface="Times New Roman"/>
                <a:cs typeface="Times New Roman"/>
              </a:defRPr>
            </a:pPr>
            <a:r>
              <a:rPr sz="1800" b="1">
                <a:solidFill>
                  <a:srgbClr val="000000"/>
                </a:solidFill>
                <a:latin typeface="Times New Roman"/>
                <a:ea typeface="Times New Roman"/>
                <a:cs typeface="Times New Roman"/>
              </a:rPr>
              <a:t>Table 4. Delivered work and remaining evidence.</a:t>
            </a:r>
          </a:p>
        </p:txBody>
      </p:sp>
      <p:graphicFrame>
        <p:nvGraphicFramePr>
          <p:cNvPr id="13" name=""/>
          <p:cNvGraphicFramePr/>
          <p:nvPr/>
        </p:nvGraphicFramePr>
        <p:xfrm>
          <a:off xmlns:a="http://schemas.openxmlformats.org/drawingml/2006/main" x="685800" y="2686050"/>
          <a:ext xmlns:a="http://schemas.openxmlformats.org/drawingml/2006/main" cx="10820400" cy="2333625"/>
        </p:xfrm>
        <a:graphic xmlns:a="http://schemas.openxmlformats.org/drawingml/2006/main">
          <a:graphicData uri="http://schemas.openxmlformats.org/drawingml/2006/table">
            <a:tbl>
              <a:tblPr/>
              <a:tblGrid>
                <a:gridCol w="5410200"/>
                <a:gridCol w="5410200"/>
              </a:tblGrid>
              <a:tr h="583406">
                <a:tc>
                  <a:txBody>
                    <a:bodyPr>
                      <a:noAutofit/>
                    </a:bodyPr>
                    <a:lstStyle/>
                    <a:p>
                      <a:pPr algn="l"/>
                      <a:r>
                        <a:rPr sz="2025" b="1">
                          <a:solidFill>
                            <a:srgbClr val="000000"/>
                          </a:solidFill>
                          <a:latin typeface="Times New Roman"/>
                          <a:ea typeface="Times New Roman"/>
                          <a:cs typeface="Times New Roman"/>
                        </a:rPr>
                        <a:t>Delivered</a:t>
                      </a:r>
                    </a:p>
                  </a:txBody>
                  <a:tcPr marL="91440" marR="91440" marT="45720" marB="45720">
                    <a:solidFill>
                      <a:srgbClr val="EEEEEE"/>
                    </a:solidFill>
                  </a:tcPr>
                </a:tc>
                <a:tc>
                  <a:txBody>
                    <a:bodyPr>
                      <a:noAutofit/>
                    </a:bodyPr>
                    <a:lstStyle/>
                    <a:p>
                      <a:pPr algn="l"/>
                      <a:r>
                        <a:rPr sz="2025" b="1">
                          <a:solidFill>
                            <a:srgbClr val="000000"/>
                          </a:solidFill>
                          <a:latin typeface="Times New Roman"/>
                          <a:ea typeface="Times New Roman"/>
                          <a:cs typeface="Times New Roman"/>
                        </a:rPr>
                        <a:t>Next step</a:t>
                      </a:r>
                    </a:p>
                  </a:txBody>
                  <a:tcPr marL="91440" marR="91440" marT="45720" marB="45720">
                    <a:solidFill>
                      <a:srgbClr val="EEEEEE"/>
                    </a:solidFill>
                  </a:tcPr>
                </a:tc>
              </a:tr>
              <a:tr h="583406">
                <a:tc>
                  <a:txBody>
                    <a:bodyPr>
                      <a:noAutofit/>
                    </a:bodyPr>
                    <a:lstStyle/>
                    <a:p>
                      <a:pPr algn="l"/>
                      <a:r>
                        <a:rPr sz="2025" b="0">
                          <a:solidFill>
                            <a:srgbClr val="000000"/>
                          </a:solidFill>
                          <a:latin typeface="Times New Roman"/>
                          <a:ea typeface="Times New Roman"/>
                          <a:cs typeface="Times New Roman"/>
                        </a:rPr>
                        <a:t>Working local prototype</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Independent final evaluation</a:t>
                      </a:r>
                    </a:p>
                  </a:txBody>
                  <a:tcPr marL="91440" marR="91440" marT="45720" marB="45720">
                    <a:solidFill>
                      <a:srgbClr val="FFFFFF"/>
                    </a:solidFill>
                  </a:tcPr>
                </a:tc>
              </a:tr>
              <a:tr h="583406">
                <a:tc>
                  <a:txBody>
                    <a:bodyPr>
                      <a:noAutofit/>
                    </a:bodyPr>
                    <a:lstStyle/>
                    <a:p>
                      <a:pPr algn="l"/>
                      <a:r>
                        <a:rPr sz="2025" b="0">
                          <a:solidFill>
                            <a:srgbClr val="000000"/>
                          </a:solidFill>
                          <a:latin typeface="Times New Roman"/>
                          <a:ea typeface="Times New Roman"/>
                          <a:cs typeface="Times New Roman"/>
                        </a:rPr>
                        <a:t>Fewer development false warnings</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More cameras and generators</a:t>
                      </a:r>
                    </a:p>
                  </a:txBody>
                  <a:tcPr marL="91440" marR="91440" marT="45720" marB="45720">
                    <a:solidFill>
                      <a:srgbClr val="FFFFFF"/>
                    </a:solidFill>
                  </a:tcPr>
                </a:tc>
              </a:tr>
              <a:tr h="583406">
                <a:tc>
                  <a:txBody>
                    <a:bodyPr>
                      <a:noAutofit/>
                    </a:bodyPr>
                    <a:lstStyle/>
                    <a:p>
                      <a:pPr algn="l"/>
                      <a:r>
                        <a:rPr sz="2025" b="0">
                          <a:solidFill>
                            <a:srgbClr val="000000"/>
                          </a:solidFill>
                          <a:latin typeface="Times New Roman"/>
                          <a:ea typeface="Times New Roman"/>
                          <a:cs typeface="Times New Roman"/>
                        </a:rPr>
                        <a:t>Recorded experiments and corrections</a:t>
                      </a:r>
                    </a:p>
                  </a:txBody>
                  <a:tcPr marL="91440" marR="91440" marT="45720" marB="45720">
                    <a:solidFill>
                      <a:srgbClr val="FFFFFF"/>
                    </a:solidFill>
                  </a:tcPr>
                </a:tc>
                <a:tc>
                  <a:txBody>
                    <a:bodyPr>
                      <a:noAutofit/>
                    </a:bodyPr>
                    <a:lstStyle/>
                    <a:p>
                      <a:pPr algn="l"/>
                      <a:r>
                        <a:rPr sz="2025" b="0">
                          <a:solidFill>
                            <a:srgbClr val="000000"/>
                          </a:solidFill>
                          <a:latin typeface="Times New Roman"/>
                          <a:ea typeface="Times New Roman"/>
                          <a:cs typeface="Times New Roman"/>
                        </a:rPr>
                        <a:t>Broader Model2 controls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F2BA54A9-58AC-4653-84D3-C796DE3D2329}"/>
              </a:ext>
            </a:extLst>
          </p:cNvPr>
          <p:cNvSpPr>
            <a:spLocks xmlns:a="http://schemas.openxmlformats.org/drawingml/2006/main" noGrp="1"/>
          </p:cNvSpPr>
          <p:nvPr/>
        </p:nvSpPr>
        <p:spPr>
          <a:xfrm xmlns:a="http://schemas.openxmlformats.org/drawingml/2006/main">
            <a:off x="685800" y="5476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000000"/>
                </a:solidFill>
                <a:latin typeface="Times New Roman"/>
                <a:ea typeface="Times New Roman"/>
                <a:cs typeface="Times New Roman"/>
              </a:defRPr>
            </a:pPr>
            <a:r>
              <a:rPr sz="2400" b="1">
                <a:solidFill>
                  <a:srgbClr val="000000"/>
                </a:solidFill>
                <a:latin typeface="Times New Roman"/>
                <a:ea typeface="Times New Roman"/>
                <a:cs typeface="Times New Roman"/>
              </a:rPr>
              <a:t>My main lesson: check what a good score actually proves.</a:t>
            </a:r>
          </a:p>
        </p:txBody>
      </p:sp>
    </p:spTree>
    <p:extLst>
      <p:ext uri="{BB962C8B-B14F-4D97-AF65-F5344CB8AC3E}">
        <p14:creationId xmlns:p14="http://schemas.microsoft.com/office/powerpoint/2010/main" val="8620044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83EF35-F089-468D-B8D2-0099AB34DBE4}"/>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11. References for the method</a:t>
            </a:r>
          </a:p>
        </p:txBody>
      </p:sp>
      <p:sp>
        <p:nvSpPr>
          <p:cNvPr id="2" name="">
            <a:extLst xmlns:a="http://schemas.openxmlformats.org/drawingml/2006/main">
              <a:ext uri="{FF2B5EF4-FFF2-40B4-BE49-F238E27FC236}">
                <a16:creationId xmlns:a16="http://schemas.microsoft.com/office/drawing/2014/main" id="{D0FEBEF4-95B9-446E-B6E1-442ED304024A}"/>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Reference appendix</a:t>
            </a:r>
          </a:p>
        </p:txBody>
      </p:sp>
      <p:sp>
        <p:nvSpPr>
          <p:cNvPr id="3" name="">
            <a:extLst xmlns:a="http://schemas.openxmlformats.org/drawingml/2006/main">
              <a:ext uri="{FF2B5EF4-FFF2-40B4-BE49-F238E27FC236}">
                <a16:creationId xmlns:a16="http://schemas.microsoft.com/office/drawing/2014/main" id="{A2D81C22-765C-4BD4-BD2C-426676008017}"/>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11</a:t>
            </a:r>
          </a:p>
        </p:txBody>
      </p:sp>
      <p:sp>
        <p:nvSpPr>
          <p:cNvPr id="4" name="">
            <a:extLst xmlns:a="http://schemas.openxmlformats.org/drawingml/2006/main">
              <a:ext uri="{FF2B5EF4-FFF2-40B4-BE49-F238E27FC236}">
                <a16:creationId xmlns:a16="http://schemas.microsoft.com/office/drawing/2014/main" id="{A9B185AB-8C0D-4FE3-9531-3C1EEC5F880A}"/>
              </a:ext>
            </a:extLst>
          </p:cNvPr>
          <p:cNvSpPr>
            <a:spLocks xmlns:a="http://schemas.openxmlformats.org/drawingml/2006/main" noGrp="1"/>
          </p:cNvSpPr>
          <p:nvPr/>
        </p:nvSpPr>
        <p:spPr>
          <a:xfrm xmlns:a="http://schemas.openxmlformats.org/drawingml/2006/main">
            <a:off x="685800" y="166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Radford et al. (2021)</a:t>
            </a:r>
          </a:p>
        </p:txBody>
      </p:sp>
      <p:sp>
        <p:nvSpPr>
          <p:cNvPr id="5" name="">
            <a:extLst xmlns:a="http://schemas.openxmlformats.org/drawingml/2006/main">
              <a:ext uri="{FF2B5EF4-FFF2-40B4-BE49-F238E27FC236}">
                <a16:creationId xmlns:a16="http://schemas.microsoft.com/office/drawing/2014/main" id="{513B178E-E54F-4BB7-B720-90DF218B15B6}"/>
              </a:ext>
            </a:extLst>
          </p:cNvPr>
          <p:cNvSpPr>
            <a:spLocks xmlns:a="http://schemas.openxmlformats.org/drawingml/2006/main" noGrp="1"/>
          </p:cNvSpPr>
          <p:nvPr/>
        </p:nvSpPr>
        <p:spPr>
          <a:xfrm xmlns:a="http://schemas.openxmlformats.org/drawingml/2006/main">
            <a:off x="685800" y="20764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Learning transferable visual models from natural language supervision. PMLR 139.</a:t>
            </a:r>
          </a:p>
        </p:txBody>
      </p:sp>
      <p:sp>
        <p:nvSpPr>
          <p:cNvPr id="6" name="">
            <a:extLst xmlns:a="http://schemas.openxmlformats.org/drawingml/2006/main">
              <a:ext uri="{FF2B5EF4-FFF2-40B4-BE49-F238E27FC236}">
                <a16:creationId xmlns:a16="http://schemas.microsoft.com/office/drawing/2014/main" id="{9C196858-6DD1-4DF5-8F37-82CF9215DE38}"/>
              </a:ext>
            </a:extLst>
          </p:cNvPr>
          <p:cNvSpPr>
            <a:spLocks xmlns:a="http://schemas.openxmlformats.org/drawingml/2006/main" noGrp="1"/>
          </p:cNvSpPr>
          <p:nvPr/>
        </p:nvSpPr>
        <p:spPr>
          <a:xfrm xmlns:a="http://schemas.openxmlformats.org/drawingml/2006/main">
            <a:off x="685800" y="27336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Oquab et al. (2024)</a:t>
            </a:r>
          </a:p>
        </p:txBody>
      </p:sp>
      <p:sp>
        <p:nvSpPr>
          <p:cNvPr id="7" name="">
            <a:extLst xmlns:a="http://schemas.openxmlformats.org/drawingml/2006/main">
              <a:ext uri="{FF2B5EF4-FFF2-40B4-BE49-F238E27FC236}">
                <a16:creationId xmlns:a16="http://schemas.microsoft.com/office/drawing/2014/main" id="{571A1B62-15B8-41CB-A4F6-F5FEEA589181}"/>
              </a:ext>
            </a:extLst>
          </p:cNvPr>
          <p:cNvSpPr>
            <a:spLocks xmlns:a="http://schemas.openxmlformats.org/drawingml/2006/main" noGrp="1"/>
          </p:cNvSpPr>
          <p:nvPr/>
        </p:nvSpPr>
        <p:spPr>
          <a:xfrm xmlns:a="http://schemas.openxmlformats.org/drawingml/2006/main">
            <a:off x="685800" y="31432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DINOv2: Learning robust visual features without supervision. TMLR.</a:t>
            </a:r>
          </a:p>
        </p:txBody>
      </p:sp>
      <p:sp>
        <p:nvSpPr>
          <p:cNvPr id="8" name="">
            <a:extLst xmlns:a="http://schemas.openxmlformats.org/drawingml/2006/main">
              <a:ext uri="{FF2B5EF4-FFF2-40B4-BE49-F238E27FC236}">
                <a16:creationId xmlns:a16="http://schemas.microsoft.com/office/drawing/2014/main" id="{C4B064DC-00C2-459C-8AEB-0CD7213889F1}"/>
              </a:ext>
            </a:extLst>
          </p:cNvPr>
          <p:cNvSpPr>
            <a:spLocks xmlns:a="http://schemas.openxmlformats.org/drawingml/2006/main" noGrp="1"/>
          </p:cNvSpPr>
          <p:nvPr/>
        </p:nvSpPr>
        <p:spPr>
          <a:xfrm xmlns:a="http://schemas.openxmlformats.org/drawingml/2006/main">
            <a:off x="685800" y="38004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Kim et al. (2026)</a:t>
            </a:r>
          </a:p>
        </p:txBody>
      </p:sp>
      <p:sp>
        <p:nvSpPr>
          <p:cNvPr id="9" name="">
            <a:extLst xmlns:a="http://schemas.openxmlformats.org/drawingml/2006/main">
              <a:ext uri="{FF2B5EF4-FFF2-40B4-BE49-F238E27FC236}">
                <a16:creationId xmlns:a16="http://schemas.microsoft.com/office/drawing/2014/main" id="{684BF5C1-1881-4814-A4AE-292AF9C90DB2}"/>
              </a:ext>
            </a:extLst>
          </p:cNvPr>
          <p:cNvSpPr>
            <a:spLocks xmlns:a="http://schemas.openxmlformats.org/drawingml/2006/main" noGrp="1"/>
          </p:cNvSpPr>
          <p:nvPr/>
        </p:nvSpPr>
        <p:spPr>
          <a:xfrm xmlns:a="http://schemas.openxmlformats.org/drawingml/2006/main">
            <a:off x="685800" y="42100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Dissect and prune: Enhancing robustness in AI-generated image detection. ICML.</a:t>
            </a:r>
          </a:p>
        </p:txBody>
      </p:sp>
      <p:sp>
        <p:nvSpPr>
          <p:cNvPr id="10" name="">
            <a:extLst xmlns:a="http://schemas.openxmlformats.org/drawingml/2006/main">
              <a:ext uri="{FF2B5EF4-FFF2-40B4-BE49-F238E27FC236}">
                <a16:creationId xmlns:a16="http://schemas.microsoft.com/office/drawing/2014/main" id="{FD273CA2-91A5-4003-ADF2-6F0815DA676F}"/>
              </a:ext>
            </a:extLst>
          </p:cNvPr>
          <p:cNvSpPr>
            <a:spLocks xmlns:a="http://schemas.openxmlformats.org/drawingml/2006/main" noGrp="1"/>
          </p:cNvSpPr>
          <p:nvPr/>
        </p:nvSpPr>
        <p:spPr>
          <a:xfrm xmlns:a="http://schemas.openxmlformats.org/drawingml/2006/main">
            <a:off x="685800" y="48672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Ojha et al. (2023)</a:t>
            </a:r>
          </a:p>
        </p:txBody>
      </p:sp>
      <p:sp>
        <p:nvSpPr>
          <p:cNvPr id="11" name="">
            <a:extLst xmlns:a="http://schemas.openxmlformats.org/drawingml/2006/main">
              <a:ext uri="{FF2B5EF4-FFF2-40B4-BE49-F238E27FC236}">
                <a16:creationId xmlns:a16="http://schemas.microsoft.com/office/drawing/2014/main" id="{5A0630DC-3258-4921-8A9B-F48F17655FB1}"/>
              </a:ext>
            </a:extLst>
          </p:cNvPr>
          <p:cNvSpPr>
            <a:spLocks xmlns:a="http://schemas.openxmlformats.org/drawingml/2006/main" noGrp="1"/>
          </p:cNvSpPr>
          <p:nvPr/>
        </p:nvSpPr>
        <p:spPr>
          <a:xfrm xmlns:a="http://schemas.openxmlformats.org/drawingml/2006/main">
            <a:off x="685800" y="5276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Towards universal fake image detectors that generalize across generative models. CVPR.</a:t>
            </a:r>
          </a:p>
        </p:txBody>
      </p:sp>
    </p:spTree>
    <p:extLst>
      <p:ext uri="{BB962C8B-B14F-4D97-AF65-F5344CB8AC3E}">
        <p14:creationId xmlns:p14="http://schemas.microsoft.com/office/powerpoint/2010/main" val="210988172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6E0F845-826B-4787-9FED-638A2EB33C8B}"/>
              </a:ext>
            </a:extLst>
          </p:cNvPr>
          <p:cNvSpPr>
            <a:spLocks xmlns:a="http://schemas.openxmlformats.org/drawingml/2006/main" noGrp="1"/>
          </p:cNvSpPr>
          <p:nvPr/>
        </p:nvSpPr>
        <p:spPr>
          <a:xfrm xmlns:a="http://schemas.openxmlformats.org/drawingml/2006/main">
            <a:off x="685800" y="40005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150" b="1">
                <a:solidFill>
                  <a:srgbClr val="000000"/>
                </a:solidFill>
                <a:latin typeface="Times New Roman"/>
                <a:ea typeface="Times New Roman"/>
                <a:cs typeface="Times New Roman"/>
              </a:defRPr>
            </a:pPr>
            <a:r>
              <a:rPr sz="3150" b="1">
                <a:solidFill>
                  <a:srgbClr val="000000"/>
                </a:solidFill>
                <a:latin typeface="Times New Roman"/>
                <a:ea typeface="Times New Roman"/>
                <a:cs typeface="Times New Roman"/>
              </a:rPr>
              <a:t>12. References for data and evaluation</a:t>
            </a:r>
          </a:p>
        </p:txBody>
      </p:sp>
      <p:sp>
        <p:nvSpPr>
          <p:cNvPr id="2" name="">
            <a:extLst xmlns:a="http://schemas.openxmlformats.org/drawingml/2006/main">
              <a:ext uri="{FF2B5EF4-FFF2-40B4-BE49-F238E27FC236}">
                <a16:creationId xmlns:a16="http://schemas.microsoft.com/office/drawing/2014/main" id="{325C2629-9C42-4FFD-9BA1-CF2F734F4536}"/>
              </a:ext>
            </a:extLst>
          </p:cNvPr>
          <p:cNvSpPr>
            <a:spLocks xmlns:a="http://schemas.openxmlformats.org/drawingml/2006/main" noGrp="1"/>
          </p:cNvSpPr>
          <p:nvPr/>
        </p:nvSpPr>
        <p:spPr>
          <a:xfrm xmlns:a="http://schemas.openxmlformats.org/drawingml/2006/main">
            <a:off x="685800" y="6305550"/>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Reference appendix</a:t>
            </a:r>
          </a:p>
        </p:txBody>
      </p:sp>
      <p:sp>
        <p:nvSpPr>
          <p:cNvPr id="3" name="">
            <a:extLst xmlns:a="http://schemas.openxmlformats.org/drawingml/2006/main">
              <a:ext uri="{FF2B5EF4-FFF2-40B4-BE49-F238E27FC236}">
                <a16:creationId xmlns:a16="http://schemas.microsoft.com/office/drawing/2014/main" id="{8831E254-4F48-4AFF-B944-5D8F35C58775}"/>
              </a:ext>
            </a:extLst>
          </p:cNvPr>
          <p:cNvSpPr>
            <a:spLocks xmlns:a="http://schemas.openxmlformats.org/drawingml/2006/main" noGrp="1"/>
          </p:cNvSpPr>
          <p:nvPr/>
        </p:nvSpPr>
        <p:spPr>
          <a:xfrm xmlns:a="http://schemas.openxmlformats.org/drawingml/2006/main">
            <a:off x="10953750" y="63055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350" b="0">
                <a:solidFill>
                  <a:srgbClr val="000000"/>
                </a:solidFill>
                <a:latin typeface="Times New Roman"/>
                <a:ea typeface="Times New Roman"/>
                <a:cs typeface="Times New Roman"/>
              </a:defRPr>
            </a:pPr>
            <a:r>
              <a:rPr sz="1350" b="0">
                <a:solidFill>
                  <a:srgbClr val="000000"/>
                </a:solidFill>
                <a:latin typeface="Times New Roman"/>
                <a:ea typeface="Times New Roman"/>
                <a:cs typeface="Times New Roman"/>
              </a:rPr>
              <a:t>12</a:t>
            </a:r>
          </a:p>
        </p:txBody>
      </p:sp>
      <p:sp>
        <p:nvSpPr>
          <p:cNvPr id="4" name="">
            <a:extLst xmlns:a="http://schemas.openxmlformats.org/drawingml/2006/main">
              <a:ext uri="{FF2B5EF4-FFF2-40B4-BE49-F238E27FC236}">
                <a16:creationId xmlns:a16="http://schemas.microsoft.com/office/drawing/2014/main" id="{42008862-3A04-49A6-A0C1-ACE553D5AC63}"/>
              </a:ext>
            </a:extLst>
          </p:cNvPr>
          <p:cNvSpPr>
            <a:spLocks xmlns:a="http://schemas.openxmlformats.org/drawingml/2006/main" noGrp="1"/>
          </p:cNvSpPr>
          <p:nvPr/>
        </p:nvSpPr>
        <p:spPr>
          <a:xfrm xmlns:a="http://schemas.openxmlformats.org/drawingml/2006/main">
            <a:off x="685800" y="16668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Abdelhamed et al. (2018)</a:t>
            </a:r>
          </a:p>
        </p:txBody>
      </p:sp>
      <p:sp>
        <p:nvSpPr>
          <p:cNvPr id="5" name="">
            <a:extLst xmlns:a="http://schemas.openxmlformats.org/drawingml/2006/main">
              <a:ext uri="{FF2B5EF4-FFF2-40B4-BE49-F238E27FC236}">
                <a16:creationId xmlns:a16="http://schemas.microsoft.com/office/drawing/2014/main" id="{9C4F5E6B-960F-4B89-92B5-F3E921E1997C}"/>
              </a:ext>
            </a:extLst>
          </p:cNvPr>
          <p:cNvSpPr>
            <a:spLocks xmlns:a="http://schemas.openxmlformats.org/drawingml/2006/main" noGrp="1"/>
          </p:cNvSpPr>
          <p:nvPr/>
        </p:nvSpPr>
        <p:spPr>
          <a:xfrm xmlns:a="http://schemas.openxmlformats.org/drawingml/2006/main">
            <a:off x="685800" y="20764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A high-quality denoising dataset for smartphone cameras. CVPR.</a:t>
            </a:r>
          </a:p>
        </p:txBody>
      </p:sp>
      <p:sp>
        <p:nvSpPr>
          <p:cNvPr id="6" name="">
            <a:extLst xmlns:a="http://schemas.openxmlformats.org/drawingml/2006/main">
              <a:ext uri="{FF2B5EF4-FFF2-40B4-BE49-F238E27FC236}">
                <a16:creationId xmlns:a16="http://schemas.microsoft.com/office/drawing/2014/main" id="{368C4C50-E97A-4AA0-B2A6-B3D8692D407A}"/>
              </a:ext>
            </a:extLst>
          </p:cNvPr>
          <p:cNvSpPr>
            <a:spLocks xmlns:a="http://schemas.openxmlformats.org/drawingml/2006/main" noGrp="1"/>
          </p:cNvSpPr>
          <p:nvPr/>
        </p:nvSpPr>
        <p:spPr>
          <a:xfrm xmlns:a="http://schemas.openxmlformats.org/drawingml/2006/main">
            <a:off x="685800" y="27336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Guo et al. (2017)</a:t>
            </a:r>
          </a:p>
        </p:txBody>
      </p:sp>
      <p:sp>
        <p:nvSpPr>
          <p:cNvPr id="7" name="">
            <a:extLst xmlns:a="http://schemas.openxmlformats.org/drawingml/2006/main">
              <a:ext uri="{FF2B5EF4-FFF2-40B4-BE49-F238E27FC236}">
                <a16:creationId xmlns:a16="http://schemas.microsoft.com/office/drawing/2014/main" id="{47C14471-462F-4D42-BDEA-9E2CA859C2E2}"/>
              </a:ext>
            </a:extLst>
          </p:cNvPr>
          <p:cNvSpPr>
            <a:spLocks xmlns:a="http://schemas.openxmlformats.org/drawingml/2006/main" noGrp="1"/>
          </p:cNvSpPr>
          <p:nvPr/>
        </p:nvSpPr>
        <p:spPr>
          <a:xfrm xmlns:a="http://schemas.openxmlformats.org/drawingml/2006/main">
            <a:off x="685800" y="31432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On calibration of modern neural networks. PMLR 70.</a:t>
            </a:r>
          </a:p>
        </p:txBody>
      </p:sp>
      <p:sp>
        <p:nvSpPr>
          <p:cNvPr id="8" name="">
            <a:extLst xmlns:a="http://schemas.openxmlformats.org/drawingml/2006/main">
              <a:ext uri="{FF2B5EF4-FFF2-40B4-BE49-F238E27FC236}">
                <a16:creationId xmlns:a16="http://schemas.microsoft.com/office/drawing/2014/main" id="{3484FB69-96CE-43B8-A858-BFA1A2E025EA}"/>
              </a:ext>
            </a:extLst>
          </p:cNvPr>
          <p:cNvSpPr>
            <a:spLocks xmlns:a="http://schemas.openxmlformats.org/drawingml/2006/main" noGrp="1"/>
          </p:cNvSpPr>
          <p:nvPr/>
        </p:nvSpPr>
        <p:spPr>
          <a:xfrm xmlns:a="http://schemas.openxmlformats.org/drawingml/2006/main">
            <a:off x="685800" y="38004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Dwork et al. (2015)</a:t>
            </a:r>
          </a:p>
        </p:txBody>
      </p:sp>
      <p:sp>
        <p:nvSpPr>
          <p:cNvPr id="9" name="">
            <a:extLst xmlns:a="http://schemas.openxmlformats.org/drawingml/2006/main">
              <a:ext uri="{FF2B5EF4-FFF2-40B4-BE49-F238E27FC236}">
                <a16:creationId xmlns:a16="http://schemas.microsoft.com/office/drawing/2014/main" id="{F1AF5A73-D4C5-41A7-8195-2DDE0E216B5B}"/>
              </a:ext>
            </a:extLst>
          </p:cNvPr>
          <p:cNvSpPr>
            <a:spLocks xmlns:a="http://schemas.openxmlformats.org/drawingml/2006/main" noGrp="1"/>
          </p:cNvSpPr>
          <p:nvPr/>
        </p:nvSpPr>
        <p:spPr>
          <a:xfrm xmlns:a="http://schemas.openxmlformats.org/drawingml/2006/main">
            <a:off x="685800" y="42100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Generalization in adaptive data analysis and holdout reuse. NeurIPS 28.</a:t>
            </a:r>
          </a:p>
        </p:txBody>
      </p:sp>
      <p:sp>
        <p:nvSpPr>
          <p:cNvPr id="10" name="">
            <a:extLst xmlns:a="http://schemas.openxmlformats.org/drawingml/2006/main">
              <a:ext uri="{FF2B5EF4-FFF2-40B4-BE49-F238E27FC236}">
                <a16:creationId xmlns:a16="http://schemas.microsoft.com/office/drawing/2014/main" id="{5DB50755-D3B2-41C4-9602-0A4F43ED060F}"/>
              </a:ext>
            </a:extLst>
          </p:cNvPr>
          <p:cNvSpPr>
            <a:spLocks xmlns:a="http://schemas.openxmlformats.org/drawingml/2006/main" noGrp="1"/>
          </p:cNvSpPr>
          <p:nvPr/>
        </p:nvSpPr>
        <p:spPr>
          <a:xfrm xmlns:a="http://schemas.openxmlformats.org/drawingml/2006/main">
            <a:off x="685800" y="48672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0000"/>
                </a:solidFill>
                <a:latin typeface="Times New Roman"/>
                <a:ea typeface="Times New Roman"/>
                <a:cs typeface="Times New Roman"/>
              </a:defRPr>
            </a:pPr>
            <a:r>
              <a:rPr sz="2175" b="1">
                <a:solidFill>
                  <a:srgbClr val="000000"/>
                </a:solidFill>
                <a:latin typeface="Times New Roman"/>
                <a:ea typeface="Times New Roman"/>
                <a:cs typeface="Times New Roman"/>
              </a:rPr>
              <a:t>Keleş (2026)</a:t>
            </a:r>
          </a:p>
        </p:txBody>
      </p:sp>
      <p:sp>
        <p:nvSpPr>
          <p:cNvPr id="11" name="">
            <a:extLst xmlns:a="http://schemas.openxmlformats.org/drawingml/2006/main">
              <a:ext uri="{FF2B5EF4-FFF2-40B4-BE49-F238E27FC236}">
                <a16:creationId xmlns:a16="http://schemas.microsoft.com/office/drawing/2014/main" id="{03031FA4-0A00-4557-B6F8-D2311FA5EB04}"/>
              </a:ext>
            </a:extLst>
          </p:cNvPr>
          <p:cNvSpPr>
            <a:spLocks xmlns:a="http://schemas.openxmlformats.org/drawingml/2006/main" noGrp="1"/>
          </p:cNvSpPr>
          <p:nvPr/>
        </p:nvSpPr>
        <p:spPr>
          <a:xfrm xmlns:a="http://schemas.openxmlformats.org/drawingml/2006/main">
            <a:off x="685800" y="52768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000000"/>
                </a:solidFill>
                <a:latin typeface="Times New Roman"/>
                <a:ea typeface="Times New Roman"/>
                <a:cs typeface="Times New Roman"/>
              </a:defRPr>
            </a:pPr>
            <a:r>
              <a:rPr sz="1950" b="0">
                <a:solidFill>
                  <a:srgbClr val="000000"/>
                </a:solidFill>
                <a:latin typeface="Times New Roman"/>
                <a:ea typeface="Times New Roman"/>
                <a:cs typeface="Times New Roman"/>
              </a:rPr>
              <a:t>PixelProof experiment, history and dataset records. GitHub, commit 497d45c.</a:t>
            </a:r>
          </a:p>
        </p:txBody>
      </p:sp>
    </p:spTree>
    <p:extLst>
      <p:ext uri="{BB962C8B-B14F-4D97-AF65-F5344CB8AC3E}">
        <p14:creationId xmlns:p14="http://schemas.microsoft.com/office/powerpoint/2010/main" val="20422300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2026-09-29T08:57:03.3150000Z</dcterms:created>
  <dcterms:modified xsi:type="dcterms:W3CDTF">2026-09-29T08:57:03.3150000Z</dcterms:modified>
</coreProperties>
</file>